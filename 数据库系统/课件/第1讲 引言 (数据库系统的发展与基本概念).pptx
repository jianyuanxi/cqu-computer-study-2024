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0"/>
  </p:handoutMasterIdLst>
  <p:sldIdLst>
    <p:sldId id="258" r:id="rId3"/>
    <p:sldId id="627" r:id="rId5"/>
    <p:sldId id="669" r:id="rId6"/>
    <p:sldId id="460" r:id="rId7"/>
    <p:sldId id="462" r:id="rId8"/>
    <p:sldId id="461" r:id="rId9"/>
    <p:sldId id="463" r:id="rId10"/>
    <p:sldId id="464" r:id="rId11"/>
    <p:sldId id="465" r:id="rId12"/>
    <p:sldId id="513" r:id="rId13"/>
    <p:sldId id="473" r:id="rId14"/>
    <p:sldId id="472" r:id="rId15"/>
    <p:sldId id="474" r:id="rId16"/>
    <p:sldId id="475" r:id="rId17"/>
    <p:sldId id="478" r:id="rId18"/>
    <p:sldId id="504" r:id="rId19"/>
    <p:sldId id="506" r:id="rId20"/>
    <p:sldId id="646" r:id="rId21"/>
    <p:sldId id="688" r:id="rId22"/>
    <p:sldId id="689" r:id="rId23"/>
    <p:sldId id="690" r:id="rId24"/>
    <p:sldId id="722" r:id="rId25"/>
    <p:sldId id="691" r:id="rId26"/>
    <p:sldId id="694" r:id="rId27"/>
    <p:sldId id="695" r:id="rId28"/>
    <p:sldId id="698" r:id="rId29"/>
    <p:sldId id="723" r:id="rId30"/>
    <p:sldId id="699" r:id="rId31"/>
    <p:sldId id="700" r:id="rId32"/>
    <p:sldId id="701" r:id="rId33"/>
    <p:sldId id="702" r:id="rId34"/>
    <p:sldId id="703" r:id="rId35"/>
    <p:sldId id="704" r:id="rId36"/>
    <p:sldId id="705" r:id="rId37"/>
    <p:sldId id="706" r:id="rId38"/>
    <p:sldId id="707" r:id="rId39"/>
    <p:sldId id="708" r:id="rId40"/>
    <p:sldId id="709" r:id="rId41"/>
    <p:sldId id="724" r:id="rId42"/>
    <p:sldId id="725" r:id="rId43"/>
    <p:sldId id="726" r:id="rId44"/>
    <p:sldId id="727" r:id="rId45"/>
    <p:sldId id="728" r:id="rId46"/>
    <p:sldId id="729" r:id="rId47"/>
    <p:sldId id="713" r:id="rId48"/>
    <p:sldId id="500" r:id="rId49"/>
  </p:sldIdLst>
  <p:sldSz cx="9144000" cy="6858000" type="screen4x3"/>
  <p:notesSz cx="6735445" cy="9799320"/>
  <p:custDataLst>
    <p:tags r:id="rId5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9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  <p:cmAuthor id="2" name="29986" initials="2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7" autoAdjust="0"/>
    <p:restoredTop sz="91425" autoAdjust="0"/>
  </p:normalViewPr>
  <p:slideViewPr>
    <p:cSldViewPr snapToGrid="0" showGuides="1">
      <p:cViewPr varScale="1">
        <p:scale>
          <a:sx n="79" d="100"/>
          <a:sy n="79" d="100"/>
        </p:scale>
        <p:origin x="1723" y="43"/>
      </p:cViewPr>
      <p:guideLst>
        <p:guide orient="horz" pos="2103"/>
        <p:guide pos="29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3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fld id="{495CE880-5131-4DB7-B5B8-3C482365819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fld id="{42A832D8-8B4C-41A0-B444-154C35EBC74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 eaLnBrk="0" hangingPunct="0"/>
            <a:fld id="{2DD9FCF9-878A-4A20-BBDD-232B73660051}" type="slidenum">
              <a:rPr lang="zh-CN" altLang="en-US"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19163" y="735013"/>
            <a:ext cx="4900612" cy="3675062"/>
          </a:xfrm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055491-9D76-47C5-93AD-773E178325C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9EC24A-04BE-4533-AD6D-B87BE182F87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02AAB7-383D-49F9-9820-004C5989A968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CCA840-1B77-4FD1-9E17-9478A74C7555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4F6DC9-923C-403B-9AC7-D87A8302EF3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虽然参加会议的人数不多，会议内容也是以介绍国外的数据库技术和动向为主，但是，这次会议标志着我国数据库的教学研究工作开始起步。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就象BASIC语言对于中国普及计算机知识功不可没一样，dBASE由于其易学易用的特点，为信息系统开发人员所喜欢</a:t>
            </a:r>
            <a:r>
              <a:rPr 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  <a:r>
              <a:rPr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ORACLE 第4版和第5版相继在中国市场推出，原来只有在教科书中学习到的关系数据库的一些功能，第一次可以在一个实际的商品化系统中看到。</a:t>
            </a:r>
            <a:endParaRPr lang="zh-CN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</a:pPr>
            <a:r>
              <a:rPr lang="zh-CN">
                <a:solidFill>
                  <a:srgbClr val="0070C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追赶期</a:t>
            </a:r>
            <a:endParaRPr>
              <a:solidFill>
                <a:srgbClr val="0070C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进入到21世纪，中国加入WTO，市场更加国际化。尽管数据库的市场还是ORACLE一家独霸，但是</a:t>
            </a:r>
            <a:endParaRPr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全球的数据库厂商也纷纷进入中国，其中包括IBM的DB2，Sybase公司的Sybase，微软公司的SQL Server等，也包括开源数据库PostgreSQL和MySQL等。</a:t>
            </a:r>
            <a:endParaRPr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在这样的情况下，尽管反对声没有断过，但是人们又一次掀起了开发国产数据库的热潮。支持者的主要理由是：中国是一个大国，国家的信息安全是一直悬在我们头上的一把利剑；中国的信息化建设成本居高不下，严重影响了信息化的进程。这两条理由，让国家下决心再一次开发国产数据库。</a:t>
            </a:r>
            <a:endParaRPr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信息技术的应用前沿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2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2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fld id="{C500056D-68B3-4796-98FF-787D5E2EBC6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1A2885-4A69-40B3-96B1-46A6104E7E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A8CD3-E860-4C71-8BA9-3E56AFBC4FB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3809D-3954-4681-BA78-AF391364E7E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4FAB3A-90FB-41D9-93B5-246E708AC2A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53790-FDAF-4E2C-94CD-44B2E0767C1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A11B4-5ACB-48C3-AF95-057164107A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EF4D7-0971-46A2-ADA2-EA51365498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F4CE50-46E3-4125-A591-331178556E3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3669BF-D0C0-4BDE-A3E3-3C0A2940889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1FF308-D3DC-42BA-A577-0FF5C751DE0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27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2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4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>
                  <a:gd name="T0" fmla="*/ 0 w 708"/>
                  <a:gd name="T1" fmla="*/ 432 h 459"/>
                  <a:gd name="T2" fmla="*/ 0 w 708"/>
                  <a:gd name="T3" fmla="*/ 453 h 459"/>
                  <a:gd name="T4" fmla="*/ 72 w 708"/>
                  <a:gd name="T5" fmla="*/ 324 h 459"/>
                  <a:gd name="T6" fmla="*/ 198 w 708"/>
                  <a:gd name="T7" fmla="*/ 201 h 459"/>
                  <a:gd name="T8" fmla="*/ 366 w 708"/>
                  <a:gd name="T9" fmla="*/ 102 h 459"/>
                  <a:gd name="T10" fmla="*/ 531 w 708"/>
                  <a:gd name="T11" fmla="*/ 36 h 459"/>
                  <a:gd name="T12" fmla="*/ 609 w 708"/>
                  <a:gd name="T13" fmla="*/ 0 h 459"/>
                  <a:gd name="T14" fmla="*/ 708 w 708"/>
                  <a:gd name="T15" fmla="*/ 3 h 459"/>
                  <a:gd name="T16" fmla="*/ 591 w 708"/>
                  <a:gd name="T17" fmla="*/ 66 h 459"/>
                  <a:gd name="T18" fmla="*/ 417 w 708"/>
                  <a:gd name="T19" fmla="*/ 126 h 459"/>
                  <a:gd name="T20" fmla="*/ 237 w 708"/>
                  <a:gd name="T21" fmla="*/ 231 h 459"/>
                  <a:gd name="T22" fmla="*/ 117 w 708"/>
                  <a:gd name="T23" fmla="*/ 345 h 459"/>
                  <a:gd name="T24" fmla="*/ 51 w 708"/>
                  <a:gd name="T25" fmla="*/ 459 h 459"/>
                  <a:gd name="T26" fmla="*/ 0 w 708"/>
                  <a:gd name="T27" fmla="*/ 453 h 4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6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7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8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9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0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1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2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3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4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5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6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7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8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>
                  <a:gd name="T0" fmla="*/ 0 w 318"/>
                  <a:gd name="T1" fmla="*/ 158 h 158"/>
                  <a:gd name="T2" fmla="*/ 12 w 318"/>
                  <a:gd name="T3" fmla="*/ 137 h 158"/>
                  <a:gd name="T4" fmla="*/ 162 w 318"/>
                  <a:gd name="T5" fmla="*/ 71 h 158"/>
                  <a:gd name="T6" fmla="*/ 249 w 318"/>
                  <a:gd name="T7" fmla="*/ 20 h 158"/>
                  <a:gd name="T8" fmla="*/ 285 w 318"/>
                  <a:gd name="T9" fmla="*/ 2 h 158"/>
                  <a:gd name="T10" fmla="*/ 309 w 318"/>
                  <a:gd name="T11" fmla="*/ 11 h 158"/>
                  <a:gd name="T12" fmla="*/ 303 w 318"/>
                  <a:gd name="T13" fmla="*/ 47 h 158"/>
                  <a:gd name="T14" fmla="*/ 219 w 318"/>
                  <a:gd name="T15" fmla="*/ 89 h 158"/>
                  <a:gd name="T16" fmla="*/ 108 w 318"/>
                  <a:gd name="T17" fmla="*/ 140 h 158"/>
                  <a:gd name="T18" fmla="*/ 57 w 318"/>
                  <a:gd name="T19" fmla="*/ 152 h 158"/>
                  <a:gd name="T20" fmla="*/ 0 w 318"/>
                  <a:gd name="T21" fmla="*/ 158 h 15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9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1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>
                  <a:gd name="T0" fmla="*/ 23 w 537"/>
                  <a:gd name="T1" fmla="*/ 6 h 120"/>
                  <a:gd name="T2" fmla="*/ 188 w 537"/>
                  <a:gd name="T3" fmla="*/ 3 h 120"/>
                  <a:gd name="T4" fmla="*/ 323 w 537"/>
                  <a:gd name="T5" fmla="*/ 27 h 120"/>
                  <a:gd name="T6" fmla="*/ 464 w 537"/>
                  <a:gd name="T7" fmla="*/ 69 h 120"/>
                  <a:gd name="T8" fmla="*/ 521 w 537"/>
                  <a:gd name="T9" fmla="*/ 90 h 120"/>
                  <a:gd name="T10" fmla="*/ 533 w 537"/>
                  <a:gd name="T11" fmla="*/ 105 h 120"/>
                  <a:gd name="T12" fmla="*/ 497 w 537"/>
                  <a:gd name="T13" fmla="*/ 120 h 120"/>
                  <a:gd name="T14" fmla="*/ 452 w 537"/>
                  <a:gd name="T15" fmla="*/ 108 h 120"/>
                  <a:gd name="T16" fmla="*/ 350 w 537"/>
                  <a:gd name="T17" fmla="*/ 72 h 120"/>
                  <a:gd name="T18" fmla="*/ 158 w 537"/>
                  <a:gd name="T19" fmla="*/ 39 h 120"/>
                  <a:gd name="T20" fmla="*/ 50 w 537"/>
                  <a:gd name="T21" fmla="*/ 39 h 120"/>
                  <a:gd name="T22" fmla="*/ 23 w 537"/>
                  <a:gd name="T23" fmla="*/ 6 h 12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2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>
                  <a:gd name="T0" fmla="*/ 800 w 800"/>
                  <a:gd name="T1" fmla="*/ 24 h 143"/>
                  <a:gd name="T2" fmla="*/ 782 w 800"/>
                  <a:gd name="T3" fmla="*/ 15 h 143"/>
                  <a:gd name="T4" fmla="*/ 659 w 800"/>
                  <a:gd name="T5" fmla="*/ 63 h 143"/>
                  <a:gd name="T6" fmla="*/ 500 w 800"/>
                  <a:gd name="T7" fmla="*/ 84 h 143"/>
                  <a:gd name="T8" fmla="*/ 326 w 800"/>
                  <a:gd name="T9" fmla="*/ 69 h 143"/>
                  <a:gd name="T10" fmla="*/ 98 w 800"/>
                  <a:gd name="T11" fmla="*/ 21 h 143"/>
                  <a:gd name="T12" fmla="*/ 11 w 800"/>
                  <a:gd name="T13" fmla="*/ 6 h 143"/>
                  <a:gd name="T14" fmla="*/ 32 w 800"/>
                  <a:gd name="T15" fmla="*/ 60 h 143"/>
                  <a:gd name="T16" fmla="*/ 155 w 800"/>
                  <a:gd name="T17" fmla="*/ 96 h 143"/>
                  <a:gd name="T18" fmla="*/ 410 w 800"/>
                  <a:gd name="T19" fmla="*/ 138 h 143"/>
                  <a:gd name="T20" fmla="*/ 596 w 800"/>
                  <a:gd name="T21" fmla="*/ 129 h 143"/>
                  <a:gd name="T22" fmla="*/ 737 w 800"/>
                  <a:gd name="T23" fmla="*/ 90 h 143"/>
                  <a:gd name="T24" fmla="*/ 788 w 800"/>
                  <a:gd name="T25" fmla="*/ 69 h 143"/>
                  <a:gd name="T26" fmla="*/ 800 w 800"/>
                  <a:gd name="T27" fmla="*/ 24 h 14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3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050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5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6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7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05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5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b="0">
                <a:solidFill>
                  <a:schemeClr val="tx1"/>
                </a:solidFill>
                <a:latin typeface="+mn-lt"/>
                <a:ea typeface="+mn-ea"/>
                <a:cs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0" hangingPunct="0">
              <a:defRPr b="0">
                <a:solidFill>
                  <a:schemeClr val="tx1"/>
                </a:solidFill>
                <a:latin typeface="+mn-lt"/>
                <a:ea typeface="+mn-ea"/>
                <a:cs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CFE7A2F1-E7BA-4DA1-8D45-C908AE637C0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A4DB637-F309-4CB1-AFD7-AA91BABA3565}" type="slidenum">
              <a:rPr lang="zh-CN" altLang="en-US"/>
            </a:fld>
            <a:endParaRPr lang="en-US" altLang="zh-CN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61770" y="2042795"/>
            <a:ext cx="7236460" cy="3384550"/>
          </a:xfrm>
        </p:spPr>
        <p:txBody>
          <a:bodyPr/>
          <a:lstStyle/>
          <a:p>
            <a:pPr algn="l"/>
            <a:br>
              <a:rPr lang="en-US" altLang="zh-CN" sz="12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en-US" altLang="zh-CN" sz="18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en-US" altLang="zh-CN" sz="14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1400" b="1" i="1" noProof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 </a:t>
            </a:r>
            <a:br>
              <a:rPr lang="en-US" altLang="zh-CN" sz="3200" b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            </a:t>
            </a:r>
            <a: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引言 </a:t>
            </a:r>
            <a:b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(</a:t>
            </a:r>
            <a: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数据库系统的发展与基本概念</a:t>
            </a: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)</a:t>
            </a:r>
            <a:br>
              <a:rPr lang="en-US" altLang="zh-CN" sz="3200" b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endParaRPr lang="en-US" altLang="zh-CN" sz="3200" b="1" noProof="1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5122" name="Rectangle 3"/>
          <p:cNvSpPr/>
          <p:nvPr>
            <p:custDataLst>
              <p:tags r:id="rId1"/>
            </p:custDataLst>
          </p:nvPr>
        </p:nvSpPr>
        <p:spPr>
          <a:xfrm>
            <a:off x="5292725" y="476250"/>
            <a:ext cx="3384550" cy="7191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------------------------</a:t>
            </a:r>
            <a:endParaRPr lang="en-US" altLang="zh-CN" sz="2000" dirty="0">
              <a:solidFill>
                <a:srgbClr val="494EAD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/>
          <p:cNvSpPr>
            <a:spLocks noGrp="1" noChangeArrowheads="1"/>
          </p:cNvSpPr>
          <p:nvPr>
            <p:ph type="title"/>
          </p:nvPr>
        </p:nvSpPr>
        <p:spPr>
          <a:xfrm>
            <a:off x="374650" y="0"/>
            <a:ext cx="7772400" cy="907415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四位图灵奖得主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" y="1333500"/>
            <a:ext cx="8886825" cy="524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主要学习目标</a:t>
            </a:r>
            <a:endParaRPr lang="zh-CN" altLang="en-US"/>
          </a:p>
        </p:txBody>
      </p:sp>
      <p:sp>
        <p:nvSpPr>
          <p:cNvPr id="819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zh-CN" b="1" dirty="0"/>
              <a:t>数据管理的发展过程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概念模型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数据模型</a:t>
            </a:r>
            <a:endParaRPr lang="zh-CN" altLang="en-US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数据库基本概念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363538" y="44450"/>
            <a:ext cx="7772400" cy="639763"/>
          </a:xfrm>
        </p:spPr>
        <p:txBody>
          <a:bodyPr/>
          <a:lstStyle/>
          <a:p>
            <a:pPr algn="l"/>
            <a:b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  <a:b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0"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9775" y="1484313"/>
            <a:ext cx="7756525" cy="4238625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en-US" altLang="zh-CN" sz="2800"/>
              <a:t>        </a:t>
            </a:r>
            <a:r>
              <a:rPr kumimoji="0"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</a:t>
            </a:r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技术的</a:t>
            </a:r>
            <a:r>
              <a:rPr kumimoji="0"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重要性</a:t>
            </a:r>
            <a:endParaRPr kumimoji="0" lang="en-US" altLang="zh-CN" sz="28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kumimoji="0" lang="en-US" altLang="zh-CN" sz="2800" i="1"/>
              <a:t> 	   </a:t>
            </a:r>
            <a:r>
              <a:rPr kumimoji="0" lang="zh-CN" altLang="zh-CN" sz="2000" i="1"/>
              <a:t>（也包括任何一种技术或创新）</a:t>
            </a:r>
            <a:endParaRPr kumimoji="0" lang="zh-CN" altLang="zh-CN" sz="2800"/>
          </a:p>
          <a:p>
            <a:pPr marL="0" indent="0">
              <a:buFontTx/>
              <a:buNone/>
            </a:pPr>
            <a:r>
              <a:rPr kumimoji="0" lang="en-US" altLang="zh-CN" sz="2800"/>
              <a:t>		</a:t>
            </a:r>
            <a:r>
              <a:rPr kumimoji="0" lang="en-US" altLang="zh-CN" sz="2400"/>
              <a:t>1</a:t>
            </a:r>
            <a:r>
              <a:rPr kumimoji="0" lang="zh-CN" altLang="zh-CN" sz="2400"/>
              <a:t>）提高效率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2</a:t>
            </a:r>
            <a:r>
              <a:rPr kumimoji="0" lang="zh-CN" altLang="zh-CN" sz="2400"/>
              <a:t>）改变或创新商业模式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3</a:t>
            </a:r>
            <a:r>
              <a:rPr kumimoji="0" lang="zh-CN" altLang="zh-CN" sz="2400"/>
              <a:t>）改变生活方式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4</a:t>
            </a:r>
            <a:r>
              <a:rPr kumimoji="0" lang="zh-CN" altLang="zh-CN" sz="2400"/>
              <a:t>）增加人类自由的维度</a:t>
            </a:r>
            <a:endParaRPr kumimoji="0" lang="zh-CN" altLang="zh-CN" sz="2800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DA6AA8-F14B-43BF-A328-ED1AC2437628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7412" name="矩形 3"/>
          <p:cNvSpPr>
            <a:spLocks noChangeArrowheads="1"/>
          </p:cNvSpPr>
          <p:nvPr/>
        </p:nvSpPr>
        <p:spPr bwMode="auto">
          <a:xfrm>
            <a:off x="323850" y="638175"/>
            <a:ext cx="59293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8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数据库技术如何影响我们的生活</a:t>
            </a:r>
            <a:endParaRPr kumimoji="0" lang="zh-CN" altLang="en-US" sz="2800" dirty="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908050"/>
            <a:ext cx="8278813" cy="558165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案例分析</a:t>
            </a:r>
            <a:endParaRPr kumimoji="0" lang="en-US" altLang="zh-CN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r>
              <a:rPr kumimoji="0" lang="zh-CN" altLang="en-US" sz="2400"/>
              <a:t>以银行发展史为例：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000"/>
              <a:t>固定地点存取（卡片</a:t>
            </a:r>
            <a:r>
              <a:rPr kumimoji="0" lang="en-US" altLang="zh-CN" sz="2000"/>
              <a:t>/</a:t>
            </a:r>
            <a:r>
              <a:rPr kumimoji="0" lang="zh-CN" altLang="en-US" sz="2000"/>
              <a:t>存折，开户与使用）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  </a:t>
            </a:r>
            <a:r>
              <a:rPr kumimoji="0" lang="zh-CN" altLang="en-US" sz="2000"/>
              <a:t>通存通兑</a:t>
            </a: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	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跨行跨国（包括自助银行）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信用卡</a:t>
            </a:r>
            <a:r>
              <a:rPr kumimoji="0" lang="zh-CN" altLang="zh-CN" sz="2000"/>
              <a:t>（增加自由的维度）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微信支付（进一步增加自由的维度）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    </a:t>
            </a:r>
            <a:r>
              <a:rPr kumimoji="0" lang="zh-CN" altLang="en-US" sz="2400">
                <a:solidFill>
                  <a:srgbClr val="FF0000"/>
                </a:solidFill>
              </a:rPr>
              <a:t>？</a:t>
            </a:r>
            <a:endParaRPr kumimoji="0" lang="en-US" altLang="zh-CN" sz="240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</a:rPr>
              <a:t>通过分析支付方式演变史，培养分析问题、批判思维和创新意识等能力</a:t>
            </a:r>
            <a:endParaRPr kumimoji="0" lang="zh-CN" altLang="zh-CN" sz="2400">
              <a:solidFill>
                <a:srgbClr val="0000FF"/>
              </a:solidFill>
            </a:endParaRPr>
          </a:p>
        </p:txBody>
      </p:sp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97A42B-E197-4E93-A3AE-8693F238BF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" name="下箭头 1"/>
          <p:cNvSpPr>
            <a:spLocks noChangeArrowheads="1"/>
          </p:cNvSpPr>
          <p:nvPr/>
        </p:nvSpPr>
        <p:spPr bwMode="auto">
          <a:xfrm>
            <a:off x="1727200" y="2241550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5" name="下箭头 4"/>
          <p:cNvSpPr>
            <a:spLocks noChangeArrowheads="1"/>
          </p:cNvSpPr>
          <p:nvPr/>
        </p:nvSpPr>
        <p:spPr bwMode="auto">
          <a:xfrm>
            <a:off x="1727200" y="2960688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6" name="下箭头 5"/>
          <p:cNvSpPr>
            <a:spLocks noChangeArrowheads="1"/>
          </p:cNvSpPr>
          <p:nvPr/>
        </p:nvSpPr>
        <p:spPr bwMode="auto">
          <a:xfrm>
            <a:off x="1727200" y="3716338"/>
            <a:ext cx="288925" cy="325437"/>
          </a:xfrm>
          <a:prstGeom prst="downArrow">
            <a:avLst>
              <a:gd name="adj1" fmla="val 50000"/>
              <a:gd name="adj2" fmla="val 50061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7" name="下箭头 6"/>
          <p:cNvSpPr>
            <a:spLocks noChangeArrowheads="1"/>
          </p:cNvSpPr>
          <p:nvPr/>
        </p:nvSpPr>
        <p:spPr bwMode="auto">
          <a:xfrm>
            <a:off x="1727200" y="4473575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18439" name="AutoShape 6"/>
          <p:cNvSpPr>
            <a:spLocks noChangeArrowheads="1"/>
          </p:cNvSpPr>
          <p:nvPr/>
        </p:nvSpPr>
        <p:spPr bwMode="auto">
          <a:xfrm>
            <a:off x="5940425" y="2565400"/>
            <a:ext cx="2700338" cy="106680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＊数据库技术的发展如何支付方式的发展？ 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9" name="下箭头 8"/>
          <p:cNvSpPr>
            <a:spLocks noChangeArrowheads="1"/>
          </p:cNvSpPr>
          <p:nvPr/>
        </p:nvSpPr>
        <p:spPr bwMode="auto">
          <a:xfrm>
            <a:off x="1692275" y="5265738"/>
            <a:ext cx="287338" cy="323850"/>
          </a:xfrm>
          <a:prstGeom prst="downArrow">
            <a:avLst>
              <a:gd name="adj1" fmla="val 50000"/>
              <a:gd name="adj2" fmla="val 50092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471488" y="41275"/>
            <a:ext cx="7772400" cy="687388"/>
          </a:xfrm>
        </p:spPr>
        <p:txBody>
          <a:bodyPr/>
          <a:lstStyle/>
          <a:p>
            <a:pPr algn="l"/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238" y="1052513"/>
            <a:ext cx="7772400" cy="50165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kumimoji="0"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（一）主要讨论问题</a:t>
            </a:r>
            <a:endParaRPr kumimoji="0" lang="zh-CN" altLang="zh-CN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zh-CN" altLang="en-US" sz="2400"/>
              <a:t>数据库中存放的是“谁”的数据</a:t>
            </a:r>
            <a:r>
              <a:rPr kumimoji="0" lang="en-US" altLang="zh-CN" sz="2400"/>
              <a:t>?</a:t>
            </a:r>
            <a:endParaRPr kumimoji="0" lang="en-US" altLang="zh-CN" sz="2400"/>
          </a:p>
          <a:p>
            <a:pPr lvl="1"/>
            <a:r>
              <a:rPr kumimoji="0" lang="zh-CN" altLang="en-US" sz="2000"/>
              <a:t>谁</a:t>
            </a:r>
            <a:r>
              <a:rPr kumimoji="0" lang="zh-CN" altLang="zh-CN" sz="2000"/>
              <a:t>:</a:t>
            </a:r>
            <a:r>
              <a:rPr kumimoji="0" lang="zh-CN" altLang="en-US" sz="2000"/>
              <a:t>一个应用系统</a:t>
            </a:r>
            <a:r>
              <a:rPr kumimoji="0" lang="zh-CN" altLang="zh-CN" sz="2000"/>
              <a:t>（</a:t>
            </a:r>
            <a:r>
              <a:rPr kumimoji="0" lang="zh-CN" altLang="en-US" sz="2000"/>
              <a:t>企业</a:t>
            </a:r>
            <a:r>
              <a:rPr kumimoji="0" lang="zh-CN" altLang="zh-CN" sz="2000"/>
              <a:t>）</a:t>
            </a:r>
            <a:r>
              <a:rPr kumimoji="0" lang="zh-CN" altLang="en-US" sz="2000"/>
              <a:t>需要的客观数据</a:t>
            </a:r>
            <a:endParaRPr kumimoji="0" lang="en-US" altLang="zh-CN" sz="2000"/>
          </a:p>
          <a:p>
            <a:pPr lvl="1"/>
            <a:r>
              <a:rPr kumimoji="0" lang="zh-CN" altLang="en-US" sz="2000"/>
              <a:t>涉及到数据对象的结构、范围和使用权限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zh-CN" altLang="en-US" sz="2400"/>
              <a:t>“谁”又是如何描述和表示的？</a:t>
            </a:r>
            <a:r>
              <a:rPr kumimoji="0" lang="zh-CN" altLang="zh-CN"/>
              <a:t> </a:t>
            </a:r>
            <a:endParaRPr kumimoji="0" lang="en-US" altLang="zh-CN"/>
          </a:p>
          <a:p>
            <a:pPr lvl="1"/>
            <a:r>
              <a:rPr kumimoji="0" lang="zh-CN" altLang="en-US" sz="2000">
                <a:solidFill>
                  <a:srgbClr val="0000FF"/>
                </a:solidFill>
              </a:rPr>
              <a:t>客观数据对象的结构即特征如何表示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 lvl="1"/>
            <a:r>
              <a:rPr kumimoji="0" lang="zh-CN" altLang="en-US" sz="2000"/>
              <a:t>客观数据对象的语义约束</a:t>
            </a:r>
            <a:r>
              <a:rPr kumimoji="0" lang="en-US" altLang="zh-CN" sz="2000"/>
              <a:t>(</a:t>
            </a:r>
            <a:r>
              <a:rPr kumimoji="0" lang="zh-CN" altLang="en-US" sz="2000"/>
              <a:t>有效性</a:t>
            </a:r>
            <a:r>
              <a:rPr kumimoji="0" lang="en-US" altLang="zh-CN" sz="2000"/>
              <a:t>)</a:t>
            </a:r>
            <a:r>
              <a:rPr kumimoji="0" lang="zh-CN" altLang="en-US" sz="2000"/>
              <a:t>如何表示</a:t>
            </a:r>
            <a:endParaRPr kumimoji="0" lang="en-US" altLang="zh-CN" sz="2000"/>
          </a:p>
          <a:p>
            <a:pPr lvl="1"/>
            <a:r>
              <a:rPr kumimoji="0" lang="zh-CN" altLang="en-US" sz="2000"/>
              <a:t>客观数据对象的使用权限如何表示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/>
              <a:t>  </a:t>
            </a:r>
            <a:endParaRPr kumimoji="0" lang="en-US" altLang="zh-CN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8143EF-5023-4A41-B08C-41CEECEF01E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9460" name="AutoShape 6"/>
          <p:cNvSpPr>
            <a:spLocks noChangeArrowheads="1"/>
          </p:cNvSpPr>
          <p:nvPr/>
        </p:nvSpPr>
        <p:spPr bwMode="auto">
          <a:xfrm>
            <a:off x="6192838" y="2565400"/>
            <a:ext cx="2447925" cy="106680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</a:t>
            </a:r>
            <a:r>
              <a:rPr kumimoji="0" lang="zh-CN" altLang="zh-CN" sz="1600"/>
              <a:t>数据库中存放的是“谁”的数据？</a:t>
            </a:r>
            <a:r>
              <a:rPr kumimoji="0" lang="zh-CN" altLang="en-US" sz="1600">
                <a:latin typeface="Tahoma" panose="020B0604030504040204" pitchFamily="2" charset="0"/>
              </a:rPr>
              <a:t> 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19461" name="AutoShape 6"/>
          <p:cNvSpPr>
            <a:spLocks noChangeArrowheads="1"/>
          </p:cNvSpPr>
          <p:nvPr/>
        </p:nvSpPr>
        <p:spPr bwMode="auto">
          <a:xfrm>
            <a:off x="6192838" y="4113213"/>
            <a:ext cx="2447925" cy="1068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zh-CN" sz="1600"/>
              <a:t>“谁”又是如何描述和表示的？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659812" cy="4608512"/>
          </a:xfrm>
        </p:spPr>
        <p:txBody>
          <a:bodyPr/>
          <a:lstStyle/>
          <a:p>
            <a:r>
              <a:rPr kumimoji="0" lang="zh-CN" altLang="en-US" sz="2400"/>
              <a:t>客观世界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是由</a:t>
            </a:r>
            <a:r>
              <a:rPr kumimoji="0" lang="zh-CN" altLang="en-US" sz="2000">
                <a:solidFill>
                  <a:srgbClr val="0000FF"/>
                </a:solidFill>
              </a:rPr>
              <a:t>事</a:t>
            </a:r>
            <a:r>
              <a:rPr kumimoji="0" lang="en-US" altLang="zh-CN" sz="2000">
                <a:solidFill>
                  <a:srgbClr val="2A2A39"/>
                </a:solidFill>
              </a:rPr>
              <a:t>(</a:t>
            </a:r>
            <a:r>
              <a:rPr kumimoji="0" lang="zh-CN" altLang="en-US" sz="2000">
                <a:solidFill>
                  <a:srgbClr val="2A2A39"/>
                </a:solidFill>
              </a:rPr>
              <a:t>注册</a:t>
            </a:r>
            <a:r>
              <a:rPr kumimoji="0" lang="en-US" altLang="zh-CN" sz="2000">
                <a:solidFill>
                  <a:srgbClr val="2A2A39"/>
                </a:solidFill>
              </a:rPr>
              <a:t>,</a:t>
            </a:r>
            <a:r>
              <a:rPr kumimoji="0" lang="zh-CN" altLang="en-US" sz="2000">
                <a:solidFill>
                  <a:srgbClr val="2A2A39"/>
                </a:solidFill>
              </a:rPr>
              <a:t>选课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/>
              <a:t>或</a:t>
            </a:r>
            <a:r>
              <a:rPr kumimoji="0" lang="zh-CN" altLang="en-US" sz="2000">
                <a:solidFill>
                  <a:srgbClr val="0000FF"/>
                </a:solidFill>
              </a:rPr>
              <a:t>物</a:t>
            </a:r>
            <a:r>
              <a:rPr kumimoji="0" lang="zh-CN" altLang="en-US" sz="2000">
                <a:solidFill>
                  <a:srgbClr val="2A2A39"/>
                </a:solidFill>
              </a:rPr>
              <a:t>(学生</a:t>
            </a:r>
            <a:r>
              <a:rPr kumimoji="0" lang="en-US" altLang="zh-CN" sz="2000">
                <a:solidFill>
                  <a:srgbClr val="2A2A39"/>
                </a:solidFill>
              </a:rPr>
              <a:t>,</a:t>
            </a:r>
            <a:r>
              <a:rPr kumimoji="0" lang="zh-CN" altLang="en-US" sz="2000">
                <a:solidFill>
                  <a:srgbClr val="2A2A39"/>
                </a:solidFill>
              </a:rPr>
              <a:t>课程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/>
              <a:t>及相互联系构成</a:t>
            </a:r>
            <a:endParaRPr kumimoji="0" lang="zh-CN" altLang="zh-CN" sz="2400"/>
          </a:p>
          <a:p>
            <a:r>
              <a:rPr kumimoji="0" lang="zh-CN" altLang="en-US" sz="2400"/>
              <a:t>描述方法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通常地，最直接和有效的方法是：</a:t>
            </a:r>
            <a:endParaRPr kumimoji="0" lang="en-US" altLang="zh-CN" sz="2000"/>
          </a:p>
          <a:p>
            <a:pPr>
              <a:buFontTx/>
              <a:buNone/>
            </a:pPr>
            <a:r>
              <a:rPr kumimoji="0" lang="en-US" altLang="zh-CN" sz="2000"/>
              <a:t>	</a:t>
            </a:r>
            <a:r>
              <a:rPr kumimoji="0" lang="zh-CN" altLang="en-US" sz="2000"/>
              <a:t>用</a:t>
            </a:r>
            <a:r>
              <a:rPr kumimoji="0" lang="zh-CN" altLang="en-US" sz="2000">
                <a:solidFill>
                  <a:srgbClr val="FF0000"/>
                </a:solidFill>
              </a:rPr>
              <a:t>概念</a:t>
            </a:r>
            <a:r>
              <a:rPr kumimoji="0" lang="zh-CN" altLang="en-US" sz="2000"/>
              <a:t>来描述事或物及相互联系</a:t>
            </a:r>
            <a:endParaRPr kumimoji="0" lang="en-US" altLang="zh-CN" sz="2400"/>
          </a:p>
          <a:p>
            <a:r>
              <a:rPr kumimoji="0" lang="zh-CN" altLang="en-US" sz="2400">
                <a:solidFill>
                  <a:srgbClr val="FF0000"/>
                </a:solidFill>
              </a:rPr>
              <a:t>事物</a:t>
            </a:r>
            <a:r>
              <a:rPr kumimoji="0" lang="zh-CN" altLang="en-US" sz="2400"/>
              <a:t>是所有概念的统称</a:t>
            </a:r>
            <a:endParaRPr kumimoji="0" lang="zh-CN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概念：是思维的逻辑单位</a:t>
            </a:r>
            <a:endParaRPr kumimoji="0" lang="zh-CN" altLang="zh-CN" sz="2400"/>
          </a:p>
          <a:p>
            <a:r>
              <a:rPr kumimoji="0" lang="zh-CN" altLang="en-US" sz="2400"/>
              <a:t>概念包含</a:t>
            </a:r>
            <a:r>
              <a:rPr kumimoji="0" lang="zh-CN" altLang="en-US" sz="2400">
                <a:solidFill>
                  <a:srgbClr val="0000FF"/>
                </a:solidFill>
              </a:rPr>
              <a:t>内涵</a:t>
            </a:r>
            <a:r>
              <a:rPr kumimoji="0" lang="zh-CN" altLang="en-US" sz="2400"/>
              <a:t>和</a:t>
            </a:r>
            <a:r>
              <a:rPr kumimoji="0" lang="zh-CN" altLang="en-US" sz="2400">
                <a:solidFill>
                  <a:srgbClr val="0000FF"/>
                </a:solidFill>
              </a:rPr>
              <a:t>外延</a:t>
            </a:r>
            <a:endParaRPr kumimoji="0" lang="zh-CN" altLang="zh-CN" sz="24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内涵：是概念的性质和</a:t>
            </a:r>
            <a:r>
              <a:rPr kumimoji="0" lang="zh-CN" altLang="en-US" sz="2000">
                <a:solidFill>
                  <a:srgbClr val="0000FF"/>
                </a:solidFill>
              </a:rPr>
              <a:t>特征</a:t>
            </a:r>
            <a:endParaRPr kumimoji="0" lang="zh-CN" altLang="zh-CN" sz="20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外延：是满足上述性质及特征的所有客观个体的</a:t>
            </a:r>
            <a:r>
              <a:rPr kumimoji="0" lang="zh-CN" altLang="en-US" sz="2000">
                <a:solidFill>
                  <a:srgbClr val="0000FF"/>
                </a:solidFill>
              </a:rPr>
              <a:t>集合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000"/>
              <a:t> </a:t>
            </a:r>
            <a:r>
              <a:rPr kumimoji="0" lang="zh-CN" altLang="en-US" sz="2000"/>
              <a:t>（可在百度上查“事物”与“概念”等术语的解释）</a:t>
            </a:r>
            <a:endParaRPr kumimoji="0" lang="zh-CN" altLang="zh-CN" sz="2400"/>
          </a:p>
        </p:txBody>
      </p:sp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0D7AAB-8BC4-4F98-8B12-2C863C075B7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0483" name="矩形 1"/>
          <p:cNvSpPr>
            <a:spLocks noChangeArrowheads="1"/>
          </p:cNvSpPr>
          <p:nvPr/>
        </p:nvSpPr>
        <p:spPr bwMode="auto">
          <a:xfrm>
            <a:off x="1531938" y="806450"/>
            <a:ext cx="530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“谁”的抽象描述方法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4" name="标题 1"/>
          <p:cNvSpPr>
            <a:spLocks noGrp="1"/>
          </p:cNvSpPr>
          <p:nvPr>
            <p:ph type="title"/>
          </p:nvPr>
        </p:nvSpPr>
        <p:spPr>
          <a:xfrm>
            <a:off x="4500563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800100"/>
            <a:ext cx="8569325" cy="5616575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400"/>
              <a:t>如</a:t>
            </a:r>
            <a:r>
              <a:rPr kumimoji="0" lang="zh-CN" altLang="en-US" sz="2400">
                <a:solidFill>
                  <a:srgbClr val="800000"/>
                </a:solidFill>
              </a:rPr>
              <a:t>学校</a:t>
            </a:r>
            <a:r>
              <a:rPr kumimoji="0" lang="zh-CN" altLang="en-US" sz="2400"/>
              <a:t>这样的应用系统，其客观数据对象</a:t>
            </a:r>
            <a:r>
              <a:rPr kumimoji="0" lang="en-US" altLang="zh-CN" sz="2400"/>
              <a:t>(</a:t>
            </a:r>
            <a:r>
              <a:rPr kumimoji="0" lang="zh-CN" altLang="en-US" sz="2400">
                <a:solidFill>
                  <a:srgbClr val="FF0000"/>
                </a:solidFill>
              </a:rPr>
              <a:t>事物</a:t>
            </a:r>
            <a:r>
              <a:rPr kumimoji="0" lang="zh-CN" altLang="en-US" sz="2400"/>
              <a:t>－</a:t>
            </a:r>
            <a:r>
              <a:rPr kumimoji="0" lang="zh-CN" altLang="en-US" sz="2400">
                <a:solidFill>
                  <a:srgbClr val="0000FF"/>
                </a:solidFill>
              </a:rPr>
              <a:t>事</a:t>
            </a:r>
            <a:r>
              <a:rPr kumimoji="0" lang="zh-CN" altLang="en-US" sz="2400"/>
              <a:t>与</a:t>
            </a:r>
            <a:r>
              <a:rPr kumimoji="0" lang="zh-CN" altLang="en-US" sz="2400">
                <a:solidFill>
                  <a:srgbClr val="0000FF"/>
                </a:solidFill>
              </a:rPr>
              <a:t>物</a:t>
            </a:r>
            <a:r>
              <a:rPr kumimoji="0" lang="en-US" altLang="zh-CN" sz="2400"/>
              <a:t>)</a:t>
            </a:r>
            <a:r>
              <a:rPr kumimoji="0" lang="zh-CN" altLang="en-US" sz="2400"/>
              <a:t>及相互联系，可以这样来描述：</a:t>
            </a:r>
            <a:endParaRPr kumimoji="0" lang="en-US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学生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en-US" altLang="zh-CN" sz="2400"/>
              <a:t>(</a:t>
            </a:r>
            <a:r>
              <a:rPr kumimoji="0" lang="zh-CN" altLang="en-US" sz="2400"/>
              <a:t>物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2000"/>
              <a:t>，姓名，性别，籍贯，民族</a:t>
            </a:r>
            <a:r>
              <a:rPr kumimoji="0" lang="zh-CN" altLang="zh-CN" sz="2000"/>
              <a:t>，</a:t>
            </a:r>
            <a:r>
              <a:rPr kumimoji="0" lang="en-US" altLang="zh-CN" sz="2000"/>
              <a:t>…</a:t>
            </a:r>
            <a:r>
              <a:rPr kumimoji="0" lang="zh-CN" altLang="en-US" sz="2000"/>
              <a:t>等</a:t>
            </a:r>
            <a:r>
              <a:rPr kumimoji="0" lang="zh-CN" altLang="en-US" sz="2000" b="1">
                <a:solidFill>
                  <a:srgbClr val="464660"/>
                </a:solidFill>
              </a:rPr>
              <a:t>属性</a:t>
            </a:r>
            <a:r>
              <a:rPr kumimoji="0" lang="zh-CN" altLang="en-US" sz="2000"/>
              <a:t>（</a:t>
            </a:r>
            <a:r>
              <a:rPr kumimoji="0" lang="zh-CN" altLang="en-US" sz="2000">
                <a:solidFill>
                  <a:srgbClr val="0000FF"/>
                </a:solidFill>
              </a:rPr>
              <a:t>内涵</a:t>
            </a:r>
            <a:r>
              <a:rPr kumimoji="0" lang="zh-CN" altLang="en-US" sz="2000"/>
              <a:t>）</a:t>
            </a:r>
            <a:endParaRPr kumimoji="0" lang="zh-CN" altLang="zh-CN" sz="24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属性也可以有许多分类，</a:t>
            </a:r>
            <a:r>
              <a:rPr kumimoji="0" lang="zh-CN" altLang="zh-CN" sz="2000"/>
              <a:t>比如：</a:t>
            </a:r>
            <a:endParaRPr kumimoji="0" lang="zh-CN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   </a:t>
            </a:r>
            <a:r>
              <a:rPr kumimoji="0" lang="zh-CN" altLang="en-US" sz="2000"/>
              <a:t>自然属性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性别，出生日期等</a:t>
            </a:r>
            <a:r>
              <a:rPr kumimoji="0" lang="en-US" altLang="zh-CN" sz="2000"/>
              <a:t>)</a:t>
            </a:r>
            <a:r>
              <a:rPr kumimoji="0" lang="zh-CN" altLang="en-US" sz="2000"/>
              <a:t>和社会属性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党员，国籍等</a:t>
            </a:r>
            <a:r>
              <a:rPr kumimoji="0" lang="en-US" altLang="zh-CN" sz="2000"/>
              <a:t>)</a:t>
            </a:r>
            <a:endParaRPr kumimoji="0" lang="zh-CN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      </a:t>
            </a:r>
            <a:r>
              <a:rPr kumimoji="0" lang="zh-CN" altLang="en-US" sz="2000"/>
              <a:t>客观属性(住址，电话等</a:t>
            </a:r>
            <a:r>
              <a:rPr kumimoji="0" lang="en-US" altLang="zh-CN" sz="2000"/>
              <a:t>)</a:t>
            </a:r>
            <a:r>
              <a:rPr kumimoji="0" lang="zh-CN" altLang="en-US" sz="2000"/>
              <a:t>和</a:t>
            </a:r>
            <a:r>
              <a:rPr kumimoji="0" lang="zh-CN" altLang="zh-CN" sz="2000"/>
              <a:t>主观属性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偶像，喜好，信仰等</a:t>
            </a:r>
            <a:r>
              <a:rPr kumimoji="0" lang="en-US" altLang="zh-CN" sz="2000"/>
              <a:t>)</a:t>
            </a:r>
            <a:endParaRPr kumimoji="0" lang="en-US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张三；李四；王麻子</a:t>
            </a:r>
            <a:r>
              <a:rPr kumimoji="0" lang="en-US" altLang="zh-CN" sz="2000"/>
              <a:t>;</a:t>
            </a:r>
            <a:r>
              <a:rPr kumimoji="0" lang="is-IS" altLang="zh-CN" sz="2000"/>
              <a:t>…</a:t>
            </a:r>
            <a:r>
              <a:rPr kumimoji="0" lang="zh-CN" altLang="en-US" sz="2000"/>
              <a:t>同类型的不同客观个体（</a:t>
            </a:r>
            <a:r>
              <a:rPr kumimoji="0" lang="zh-CN" altLang="en-US" sz="2000">
                <a:solidFill>
                  <a:srgbClr val="0000FF"/>
                </a:solidFill>
              </a:rPr>
              <a:t>外延</a:t>
            </a:r>
            <a:r>
              <a:rPr kumimoji="0" lang="zh-CN" altLang="en-US" sz="2000"/>
              <a:t>）</a:t>
            </a:r>
            <a:endParaRPr kumimoji="0" lang="zh-CN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课程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zh-CN" altLang="en-US" sz="2400"/>
              <a:t>（物）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2000"/>
              <a:t>，课程名，学分，学时数</a:t>
            </a:r>
            <a:r>
              <a:rPr kumimoji="0" lang="zh-CN" altLang="zh-CN" sz="2000"/>
              <a:t>，</a:t>
            </a:r>
            <a:r>
              <a:rPr kumimoji="0" lang="en-US" altLang="zh-CN" sz="2000"/>
              <a:t>…</a:t>
            </a:r>
            <a:r>
              <a:rPr kumimoji="0" lang="zh-CN" altLang="en-US" sz="2000"/>
              <a:t>（内涵）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en-US" altLang="zh-CN" sz="2000"/>
              <a:t>C</a:t>
            </a:r>
            <a:r>
              <a:rPr kumimoji="0" lang="zh-CN" altLang="en-US" sz="2000"/>
              <a:t>语言，高等数学，大学物理，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（外延）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选课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zh-CN" altLang="en-US" sz="2400"/>
              <a:t>（事）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简单有效的方式：</a:t>
            </a:r>
            <a:endParaRPr kumimoji="0" lang="en-US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选课注册表：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2000"/>
              <a:t>，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2000"/>
              <a:t>，选课日期，课程成绩，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（内涵）</a:t>
            </a:r>
            <a:endParaRPr kumimoji="0" lang="en-US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注册表上的各个行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（外延）</a:t>
            </a:r>
            <a:endParaRPr kumimoji="0" lang="is-IS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zh-CN" altLang="zh-CN" sz="2400"/>
              <a:t> </a:t>
            </a:r>
            <a:r>
              <a:rPr kumimoji="0" lang="zh-CN" altLang="en-US" sz="2400"/>
              <a:t> </a:t>
            </a:r>
            <a:r>
              <a:rPr kumimoji="0" lang="zh-CN" altLang="en-US" sz="2000"/>
              <a:t>其它可能的描述方式：学生课程之间有某种特殊联系</a:t>
            </a:r>
            <a:endParaRPr kumimoji="0" lang="zh-CN" altLang="zh-CN" sz="2400"/>
          </a:p>
          <a:p>
            <a:pPr marL="0" indent="0">
              <a:lnSpc>
                <a:spcPts val="2200"/>
              </a:lnSpc>
            </a:pPr>
            <a:endParaRPr kumimoji="0" lang="zh-CN" altLang="en-US" sz="2400"/>
          </a:p>
        </p:txBody>
      </p:sp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415005-9EC8-4C18-A3FE-16A4322E318F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1507" name="矩形 3"/>
          <p:cNvSpPr>
            <a:spLocks noChangeArrowheads="1"/>
          </p:cNvSpPr>
          <p:nvPr/>
        </p:nvSpPr>
        <p:spPr bwMode="auto">
          <a:xfrm>
            <a:off x="395288" y="122238"/>
            <a:ext cx="5256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“谁”的描述方法直观例示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8" name="AutoShape 6"/>
          <p:cNvSpPr>
            <a:spLocks noChangeArrowheads="1"/>
          </p:cNvSpPr>
          <p:nvPr/>
        </p:nvSpPr>
        <p:spPr bwMode="auto">
          <a:xfrm>
            <a:off x="6300788" y="3933825"/>
            <a:ext cx="2339975" cy="779463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＊这些事和物该如何表示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1509" name="标题 1"/>
          <p:cNvSpPr>
            <a:spLocks noGrp="1"/>
          </p:cNvSpPr>
          <p:nvPr>
            <p:ph type="title"/>
          </p:nvPr>
        </p:nvSpPr>
        <p:spPr>
          <a:xfrm>
            <a:off x="4679950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6A4107-50C3-4235-9873-5D0CF955786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6" name="标题 1"/>
          <p:cNvSpPr>
            <a:spLocks noGrp="1"/>
          </p:cNvSpPr>
          <p:nvPr>
            <p:ph idx="1"/>
          </p:nvPr>
        </p:nvSpPr>
        <p:spPr>
          <a:xfrm>
            <a:off x="471488" y="1401763"/>
            <a:ext cx="7772400" cy="5195887"/>
          </a:xfrm>
        </p:spPr>
        <p:txBody>
          <a:bodyPr/>
          <a:lstStyle/>
          <a:p>
            <a:r>
              <a:rPr kumimoji="0" lang="zh-CN" altLang="en-US" sz="2400"/>
              <a:t>在</a:t>
            </a:r>
            <a:r>
              <a:rPr kumimoji="0" lang="en-US" altLang="zh-CN" sz="2400"/>
              <a:t>(</a:t>
            </a:r>
            <a:r>
              <a:rPr kumimoji="0" lang="zh-CN" altLang="en-US" sz="2400"/>
              <a:t>关系</a:t>
            </a:r>
            <a:r>
              <a:rPr kumimoji="0" lang="en-US" altLang="zh-CN" sz="2400"/>
              <a:t>)</a:t>
            </a:r>
            <a:r>
              <a:rPr kumimoji="0" lang="zh-CN" altLang="en-US" sz="2400"/>
              <a:t>数据库中用二维表来描述概念：</a:t>
            </a:r>
            <a:endParaRPr kumimoji="0" lang="zh-CN" altLang="zh-CN" sz="2400"/>
          </a:p>
          <a:p>
            <a:pPr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000"/>
              <a:t>内涵：列</a:t>
            </a:r>
            <a:r>
              <a:rPr kumimoji="0" lang="en-US" altLang="zh-CN" sz="2000"/>
              <a:t>(</a:t>
            </a:r>
            <a:r>
              <a:rPr kumimoji="0" lang="zh-CN" altLang="en-US" sz="2000"/>
              <a:t>列即属性</a:t>
            </a:r>
            <a:r>
              <a:rPr kumimoji="0" lang="zh-CN" altLang="zh-CN" sz="2000"/>
              <a:t>，</a:t>
            </a:r>
            <a:r>
              <a:rPr kumimoji="0" lang="zh-CN" altLang="en-US" sz="2000"/>
              <a:t>多寡取决应用需要</a:t>
            </a:r>
            <a:r>
              <a:rPr kumimoji="0" lang="en-US" altLang="zh-CN" sz="2000"/>
              <a:t>)</a:t>
            </a:r>
            <a:endParaRPr kumimoji="0" lang="zh-CN" altLang="zh-CN" sz="2000"/>
          </a:p>
          <a:p>
            <a:pPr>
              <a:buFontTx/>
              <a:buNone/>
            </a:pPr>
            <a:r>
              <a:rPr kumimoji="0" lang="en-US" altLang="zh-CN" sz="2000"/>
              <a:t>    </a:t>
            </a:r>
            <a:r>
              <a:rPr kumimoji="0" lang="zh-CN" altLang="en-US" sz="2000"/>
              <a:t>外延：行</a:t>
            </a:r>
            <a:r>
              <a:rPr kumimoji="0" lang="en-US" altLang="zh-CN" sz="2000"/>
              <a:t>(</a:t>
            </a:r>
            <a:r>
              <a:rPr kumimoji="0" lang="zh-CN" altLang="en-US" sz="2000"/>
              <a:t>满足上述内涵特征的所有个体的集合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buFontTx/>
              <a:buNone/>
            </a:pPr>
            <a:endParaRPr kumimoji="0" lang="en-US" altLang="zh-CN" sz="2400"/>
          </a:p>
          <a:p>
            <a:pPr>
              <a:buFontTx/>
              <a:buNone/>
            </a:pPr>
            <a:endParaRPr kumimoji="0" lang="en-US" altLang="zh-CN" sz="2400"/>
          </a:p>
          <a:p>
            <a:pPr>
              <a:buFontTx/>
              <a:buNone/>
            </a:pPr>
            <a:endParaRPr kumimoji="0" lang="zh-CN" altLang="zh-CN" sz="2400"/>
          </a:p>
          <a:p>
            <a:r>
              <a:rPr kumimoji="0" lang="zh-CN" altLang="en-US" sz="2400"/>
              <a:t>思考：概念之间是如何相互区别和联系，以及个体之间又是如何相互区别的？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（这正是下一步</a:t>
            </a:r>
            <a:r>
              <a:rPr kumimoji="0" lang="zh-CN" altLang="en-US" sz="2000">
                <a:solidFill>
                  <a:srgbClr val="0000FF"/>
                </a:solidFill>
              </a:rPr>
              <a:t>主码</a:t>
            </a:r>
            <a:r>
              <a:rPr kumimoji="0" lang="zh-CN" altLang="en-US" sz="2000"/>
              <a:t>、</a:t>
            </a:r>
            <a:r>
              <a:rPr kumimoji="0" lang="zh-CN" altLang="en-US" sz="2000">
                <a:solidFill>
                  <a:srgbClr val="0000FF"/>
                </a:solidFill>
              </a:rPr>
              <a:t>外码</a:t>
            </a:r>
            <a:r>
              <a:rPr kumimoji="0" lang="zh-CN" altLang="en-US" sz="2000"/>
              <a:t>概念的由来）</a:t>
            </a:r>
            <a:endParaRPr kumimoji="0" lang="zh-CN" altLang="zh-CN" sz="2400"/>
          </a:p>
          <a:p>
            <a:r>
              <a:rPr kumimoji="0" lang="zh-CN" altLang="en-US" sz="2400"/>
              <a:t>数据库与客观世界的关系</a:t>
            </a:r>
            <a:endParaRPr kumimoji="0" lang="en-US" altLang="zh-CN" sz="2400"/>
          </a:p>
          <a:p>
            <a:pPr marL="450850" lvl="1" indent="0">
              <a:buFontTx/>
              <a:buNone/>
            </a:pPr>
            <a:r>
              <a:rPr kumimoji="0" lang="zh-CN" altLang="en-US" sz="2000"/>
              <a:t>数据库是数据化的客观世界</a:t>
            </a:r>
            <a:endParaRPr kumimoji="0" lang="zh-CN" altLang="zh-CN" sz="2000"/>
          </a:p>
          <a:p>
            <a:pPr marL="450850" lvl="1" indent="0">
              <a:buFontTx/>
              <a:buNone/>
            </a:pPr>
            <a:r>
              <a:rPr kumimoji="0" lang="zh-CN" altLang="en-US" sz="2000"/>
              <a:t>数据库设计是对客观世界的数据化</a:t>
            </a:r>
            <a:endParaRPr kumimoji="0" lang="zh-CN" altLang="zh-CN" sz="2000"/>
          </a:p>
          <a:p>
            <a:endParaRPr kumimoji="0" lang="zh-CN" altLang="en-US" sz="2400"/>
          </a:p>
        </p:txBody>
      </p:sp>
      <p:graphicFrame>
        <p:nvGraphicFramePr>
          <p:cNvPr id="4" name="Group 90"/>
          <p:cNvGraphicFramePr>
            <a:graphicFrameLocks noGrp="1"/>
          </p:cNvGraphicFramePr>
          <p:nvPr/>
        </p:nvGraphicFramePr>
        <p:xfrm>
          <a:off x="971550" y="2852738"/>
          <a:ext cx="6769100" cy="971550"/>
        </p:xfrm>
        <a:graphic>
          <a:graphicData uri="http://schemas.openxmlformats.org/drawingml/2006/table">
            <a:tbl>
              <a:tblPr/>
              <a:tblGrid>
                <a:gridCol w="1030288"/>
                <a:gridCol w="889000"/>
                <a:gridCol w="1947862"/>
                <a:gridCol w="1130300"/>
                <a:gridCol w="1771650"/>
              </a:tblGrid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身份证号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护照号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医保卡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201202199009090371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G10221466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S231456756655656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201202199091212370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G34431244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S675697031277755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57" name="矩形 4"/>
          <p:cNvSpPr>
            <a:spLocks noChangeArrowheads="1"/>
          </p:cNvSpPr>
          <p:nvPr/>
        </p:nvSpPr>
        <p:spPr bwMode="auto">
          <a:xfrm>
            <a:off x="1619250" y="879475"/>
            <a:ext cx="530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二维表与事物描述方法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58" name="标题 1"/>
          <p:cNvSpPr>
            <a:spLocks noGrp="1"/>
          </p:cNvSpPr>
          <p:nvPr>
            <p:ph type="title"/>
          </p:nvPr>
        </p:nvSpPr>
        <p:spPr>
          <a:xfrm>
            <a:off x="4500563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59" name="AutoShape 6"/>
          <p:cNvSpPr>
            <a:spLocks noChangeArrowheads="1"/>
          </p:cNvSpPr>
          <p:nvPr/>
        </p:nvSpPr>
        <p:spPr bwMode="auto">
          <a:xfrm>
            <a:off x="6408738" y="1592263"/>
            <a:ext cx="2339975" cy="78105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＊二维表是如何描述事物的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6372225" y="4484688"/>
            <a:ext cx="2413000" cy="10318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＊二维表又是如何联系和区分事物的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040313" y="5589588"/>
            <a:ext cx="40957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</a:t>
            </a:r>
            <a:r>
              <a:rPr kumimoji="0" lang="en-US" altLang="zh-CN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1600" b="0">
                <a:ea typeface="黑体" panose="02010609060101010101" pitchFamily="49" charset="-122"/>
              </a:rPr>
              <a:t>，姓名，性别，籍贯，民族</a:t>
            </a:r>
            <a:endParaRPr kumimoji="0" lang="en-US" altLang="zh-CN" sz="1600" b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：课程号</a:t>
            </a:r>
            <a:r>
              <a:rPr kumimoji="0" lang="zh-CN" altLang="en-US" sz="1600">
                <a:ea typeface="黑体" panose="02010609060101010101" pitchFamily="49" charset="-122"/>
              </a:rPr>
              <a:t>，</a:t>
            </a:r>
            <a:r>
              <a:rPr kumimoji="0" lang="zh-CN" altLang="en-US" sz="1600" b="0">
                <a:ea typeface="黑体" panose="02010609060101010101" pitchFamily="49" charset="-122"/>
              </a:rPr>
              <a:t>课程名，学分，学时数</a:t>
            </a:r>
            <a:endParaRPr kumimoji="0" lang="en-US" altLang="zh-CN" sz="1600" b="0"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ea typeface="黑体" panose="02010609060101010101" pitchFamily="49" charset="-122"/>
              </a:rPr>
              <a:t>选课</a:t>
            </a:r>
            <a:r>
              <a:rPr kumimoji="0" lang="zh-CN" altLang="en-US" sz="1600">
                <a:ea typeface="黑体" panose="02010609060101010101" pitchFamily="49" charset="-122"/>
              </a:rPr>
              <a:t>：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1600">
                <a:ea typeface="黑体" panose="02010609060101010101" pitchFamily="49" charset="-122"/>
              </a:rPr>
              <a:t>，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1600">
                <a:ea typeface="黑体" panose="02010609060101010101" pitchFamily="49" charset="-122"/>
              </a:rPr>
              <a:t>，选课日期，课程成绩</a:t>
            </a:r>
            <a:endParaRPr kumimoji="0" lang="zh-CN" altLang="en-US" sz="1600" b="0">
              <a:latin typeface="Tahoma" panose="020B0604030504040204" pitchFamily="2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 </a:t>
            </a:r>
            <a:r>
              <a:rPr lang="zh-CN" altLang="zh-CN" b="1" dirty="0"/>
              <a:t>数据管理的发展过程</a:t>
            </a:r>
            <a:endParaRPr lang="zh-CN" altLang="en-US" dirty="0"/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zh-CN"/>
              <a:t>1)</a:t>
            </a:r>
            <a:r>
              <a:rPr lang="zh-CN" altLang="zh-CN"/>
              <a:t>手工阶段</a:t>
            </a:r>
            <a:r>
              <a:rPr lang="en-US" altLang="zh-CN" b="1"/>
              <a:t>(</a:t>
            </a:r>
            <a:r>
              <a:rPr lang="zh-CN" altLang="en-US" b="1"/>
              <a:t>早期</a:t>
            </a:r>
            <a:r>
              <a:rPr lang="en-US" altLang="zh-CN" b="1"/>
              <a:t>—</a:t>
            </a:r>
            <a:r>
              <a:rPr lang="zh-CN" altLang="en-US" b="1"/>
              <a:t>至今并存</a:t>
            </a:r>
            <a:r>
              <a:rPr lang="en-US" altLang="zh-CN" b="1"/>
              <a:t>)</a:t>
            </a:r>
            <a:r>
              <a:rPr lang="zh-CN" altLang="zh-CN"/>
              <a:t> 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2)</a:t>
            </a:r>
            <a:r>
              <a:rPr lang="zh-CN" altLang="zh-CN"/>
              <a:t>程序阶段 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3)</a:t>
            </a:r>
            <a:r>
              <a:rPr lang="zh-CN" altLang="zh-CN"/>
              <a:t>文件阶段</a:t>
            </a:r>
            <a:r>
              <a:rPr lang="en-US" altLang="zh-CN" b="1"/>
              <a:t>(50</a:t>
            </a:r>
            <a:r>
              <a:rPr lang="zh-CN" altLang="en-US" b="1"/>
              <a:t>年代末</a:t>
            </a:r>
            <a:r>
              <a:rPr lang="en-US" altLang="zh-CN" b="1"/>
              <a:t>--60</a:t>
            </a:r>
            <a:r>
              <a:rPr lang="zh-CN" altLang="en-US" b="1"/>
              <a:t>年代中</a:t>
            </a:r>
            <a:r>
              <a:rPr lang="en-US" altLang="zh-CN" b="1"/>
              <a:t>)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4)</a:t>
            </a:r>
            <a:r>
              <a:rPr lang="zh-CN" altLang="zh-CN"/>
              <a:t>数据库阶段</a:t>
            </a:r>
            <a:r>
              <a:rPr lang="en-US" altLang="zh-CN" b="1"/>
              <a:t>(60</a:t>
            </a:r>
            <a:r>
              <a:rPr lang="zh-CN" altLang="en-US" b="1"/>
              <a:t>年代末</a:t>
            </a:r>
            <a:r>
              <a:rPr lang="en-US" altLang="zh-CN" b="1"/>
              <a:t>--</a:t>
            </a:r>
            <a:r>
              <a:rPr lang="zh-CN" altLang="en-US" b="1"/>
              <a:t>现在</a:t>
            </a:r>
            <a:r>
              <a:rPr lang="en-US" altLang="zh-CN" b="1"/>
              <a:t>)</a:t>
            </a:r>
            <a:endParaRPr lang="en-US" altLang="zh-CN" b="1"/>
          </a:p>
          <a:p>
            <a:pPr marL="0" indent="0"/>
            <a:endParaRPr lang="zh-CN" altLang="zh-CN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94D1EB-8E30-4DB2-AF1F-AB2F8E7E857F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手工阶段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916113"/>
            <a:ext cx="8280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/>
              <a:t>最早期的银行业务管理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（银行主要业务的手工管理过程）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1</a:t>
            </a:r>
            <a:r>
              <a:rPr kumimoji="0" lang="zh-CN" altLang="en-US" sz="2400"/>
              <a:t>）开户 或 销户 或 挂失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（每个人保留一张存折）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2</a:t>
            </a:r>
            <a:r>
              <a:rPr kumimoji="0" lang="zh-CN" altLang="en-US" sz="2400"/>
              <a:t>）存取款 或 转账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（每次变动在存折记录一行）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3</a:t>
            </a:r>
            <a:r>
              <a:rPr kumimoji="0" lang="zh-CN" altLang="en-US" sz="2400"/>
              <a:t>）账户余额查询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(查看自己的存折，未带在身边或遗失时到银行去寻问)＃</a:t>
            </a:r>
            <a:endParaRPr kumimoji="0" lang="en-US" altLang="zh-CN" sz="240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AC6074-7D0A-4318-9BB2-6FF1A56D244C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4580" name="标题 1"/>
          <p:cNvSpPr txBox="1"/>
          <p:nvPr/>
        </p:nvSpPr>
        <p:spPr bwMode="auto">
          <a:xfrm>
            <a:off x="436563" y="4445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1" name="AutoShape 6"/>
          <p:cNvSpPr>
            <a:spLocks noChangeArrowheads="1"/>
          </p:cNvSpPr>
          <p:nvPr/>
        </p:nvSpPr>
        <p:spPr bwMode="auto">
          <a:xfrm>
            <a:off x="6227763" y="1893888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＊最早期的银行是如何管理用户的存款的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7772400" cy="687388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程序阶段</a:t>
            </a:r>
            <a:r>
              <a:rPr kumimoji="0"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485900"/>
            <a:ext cx="8964613" cy="4391025"/>
          </a:xfrm>
        </p:spPr>
        <p:txBody>
          <a:bodyPr/>
          <a:lstStyle/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早期的应程序处理和管理数据</a:t>
            </a:r>
            <a:endParaRPr kumimoji="0" lang="en-US" altLang="zh-CN" sz="2400"/>
          </a:p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该阶段的基本特点：</a:t>
            </a:r>
            <a:r>
              <a:rPr kumimoji="0" lang="en-US" altLang="zh-CN" sz="2400"/>
              <a:t>(</a:t>
            </a:r>
            <a:r>
              <a:rPr kumimoji="0" lang="zh-CN" altLang="en-US" sz="2400"/>
              <a:t>主要任务是完成自动计算)</a:t>
            </a:r>
            <a:endParaRPr kumimoji="0" lang="zh-CN" altLang="en-US" sz="2800"/>
          </a:p>
          <a:p>
            <a:pPr marL="819150" lvl="1" algn="just" eaLnBrk="1" hangingPunct="1">
              <a:lnSpc>
                <a:spcPts val="3365"/>
              </a:lnSpc>
            </a:pPr>
            <a:r>
              <a:rPr kumimoji="0" lang="zh-CN" altLang="en-US" sz="2400"/>
              <a:t>数据的管理者：应用程序，数据不保存。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数据面向的对象：某一应用程序   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数据的共享程度：无共享、冗余度极大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数据的独立性：不独立，完全依赖于程序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数据的结构化：无结构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数据控制能力：应用程序自己控制＃</a:t>
            </a:r>
            <a:endParaRPr kumimoji="0" lang="zh-CN" altLang="en-US" sz="2400"/>
          </a:p>
          <a:p>
            <a:pPr marL="0" indent="0">
              <a:lnSpc>
                <a:spcPts val="3365"/>
              </a:lnSpc>
            </a:pPr>
            <a:endParaRPr kumimoji="0" lang="zh-CN" altLang="en-US" sz="280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8FDD1-B075-4D7A-A802-73873ACF044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5604" name="AutoShape 6"/>
          <p:cNvSpPr>
            <a:spLocks noChangeArrowheads="1"/>
          </p:cNvSpPr>
          <p:nvPr/>
        </p:nvSpPr>
        <p:spPr bwMode="auto">
          <a:xfrm>
            <a:off x="6335713" y="3033713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＊程序阶段应用系统如何处理数据？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5605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>
          <a:xfrm>
            <a:off x="685800" y="657225"/>
            <a:ext cx="7772400" cy="938213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文件阶段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487488"/>
            <a:ext cx="8821737" cy="4592637"/>
          </a:xfrm>
        </p:spPr>
        <p:txBody>
          <a:bodyPr/>
          <a:lstStyle/>
          <a:p>
            <a:pPr marL="0" indent="0">
              <a:lnSpc>
                <a:spcPts val="3640"/>
              </a:lnSpc>
              <a:buFontTx/>
              <a:buNone/>
            </a:pPr>
            <a:r>
              <a:rPr kumimoji="0" lang="en-US" altLang="zh-CN" sz="2400" b="1"/>
              <a:t>(50</a:t>
            </a:r>
            <a:r>
              <a:rPr kumimoji="0" lang="zh-CN" altLang="en-US" sz="2400" b="1"/>
              <a:t>年代末</a:t>
            </a:r>
            <a:r>
              <a:rPr kumimoji="0" lang="en-US" altLang="zh-CN" sz="2400" b="1"/>
              <a:t>--60</a:t>
            </a:r>
            <a:r>
              <a:rPr kumimoji="0" lang="zh-CN" altLang="en-US" sz="2400" b="1"/>
              <a:t>年代中期</a:t>
            </a:r>
            <a:r>
              <a:rPr kumimoji="0" lang="en-US" altLang="zh-CN" sz="2400" b="1"/>
              <a:t>)</a:t>
            </a:r>
            <a:endParaRPr kumimoji="0" lang="en-US" altLang="zh-CN" sz="2400"/>
          </a:p>
          <a:p>
            <a:pPr marL="0" indent="0">
              <a:lnSpc>
                <a:spcPts val="3640"/>
              </a:lnSpc>
              <a:buFontTx/>
              <a:buNone/>
            </a:pPr>
            <a:r>
              <a:rPr kumimoji="0" lang="zh-CN" altLang="en-US" sz="2400"/>
              <a:t>基于文件系统的数据管理程序的数据管理的特点</a:t>
            </a:r>
            <a:r>
              <a:rPr kumimoji="0" lang="en-US" altLang="zh-CN" sz="2400"/>
              <a:t>:</a:t>
            </a:r>
            <a:endParaRPr kumimoji="0" lang="en-US" altLang="zh-CN"/>
          </a:p>
          <a:p>
            <a:pPr lvl="1" algn="just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 i="1">
                <a:latin typeface="Times New Roman" panose="02020603050405020304" pitchFamily="18" charset="0"/>
              </a:rPr>
              <a:t>数据的</a:t>
            </a:r>
            <a:r>
              <a:rPr kumimoji="0" lang="zh-CN" altLang="en-US" sz="2400">
                <a:latin typeface="Times New Roman" panose="02020603050405020304" pitchFamily="18" charset="0"/>
              </a:rPr>
              <a:t>管理者：文件系统，数据文件可长期保存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数据面向的对象：某一</a:t>
            </a:r>
            <a:r>
              <a:rPr kumimoji="0" lang="en-US" altLang="zh-CN" sz="2400">
                <a:latin typeface="Times New Roman" panose="02020603050405020304" pitchFamily="18" charset="0"/>
              </a:rPr>
              <a:t>(</a:t>
            </a:r>
            <a:r>
              <a:rPr kumimoji="0" lang="zh-CN" altLang="en-US" sz="2400">
                <a:latin typeface="Times New Roman" panose="02020603050405020304" pitchFamily="18" charset="0"/>
              </a:rPr>
              <a:t>或极少数几个</a:t>
            </a:r>
            <a:r>
              <a:rPr kumimoji="0" lang="en-US" altLang="zh-CN" sz="2400">
                <a:latin typeface="Times New Roman" panose="02020603050405020304" pitchFamily="18" charset="0"/>
              </a:rPr>
              <a:t>)</a:t>
            </a:r>
            <a:r>
              <a:rPr kumimoji="0" lang="zh-CN" altLang="en-US" sz="2400">
                <a:latin typeface="Times New Roman" panose="02020603050405020304" pitchFamily="18" charset="0"/>
              </a:rPr>
              <a:t>应用程序   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数据的共享程度：共享性差、冗余度大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数据的结构化：记录内有结构</a:t>
            </a:r>
            <a:r>
              <a:rPr kumimoji="0" lang="en-US" altLang="zh-CN" sz="2400">
                <a:latin typeface="Times New Roman" panose="02020603050405020304" pitchFamily="18" charset="0"/>
              </a:rPr>
              <a:t>,</a:t>
            </a:r>
            <a:r>
              <a:rPr kumimoji="0" lang="zh-CN" altLang="en-US" sz="2400">
                <a:latin typeface="Times New Roman" panose="02020603050405020304" pitchFamily="18" charset="0"/>
              </a:rPr>
              <a:t>整体无结构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数据的独立性：独立性差，数据的存储方式以及逻辑结构改变必须大幅度修改应用程序，（牵一发而动全身）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数据控制能力：应用程序自己控制＃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ts val="3640"/>
              </a:lnSpc>
            </a:pPr>
            <a:endParaRPr kumimoji="0" lang="zh-CN" altLang="en-US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D0ABD5-3319-4BE5-91A2-248E71DEEAE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6628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9" name="AutoShape 6"/>
          <p:cNvSpPr>
            <a:spLocks noChangeArrowheads="1"/>
          </p:cNvSpPr>
          <p:nvPr/>
        </p:nvSpPr>
        <p:spPr bwMode="auto">
          <a:xfrm>
            <a:off x="6409055" y="981075"/>
            <a:ext cx="2520950" cy="110363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</a:t>
            </a:r>
            <a:r>
              <a:rPr kumimoji="0" lang="en-US" altLang="zh-CN" sz="1600"/>
              <a:t>EXCEL</a:t>
            </a:r>
            <a:r>
              <a:rPr kumimoji="0" lang="zh-CN" altLang="en-US" sz="1600"/>
              <a:t>与数据库管理系统的</a:t>
            </a:r>
            <a:r>
              <a:rPr kumimoji="0" lang="zh-CN" altLang="en-US" sz="1600"/>
              <a:t>区别？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xfrm>
            <a:off x="685800" y="584200"/>
            <a:ext cx="7772400" cy="1143000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数据库阶段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595438"/>
            <a:ext cx="7918450" cy="4627562"/>
          </a:xfrm>
        </p:spPr>
        <p:txBody>
          <a:bodyPr/>
          <a:lstStyle/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en-US" altLang="zh-CN" sz="2400" b="1"/>
              <a:t>(60</a:t>
            </a:r>
            <a:r>
              <a:rPr kumimoji="0" lang="zh-CN" altLang="en-US" sz="2400" b="1"/>
              <a:t>年代末期</a:t>
            </a:r>
            <a:r>
              <a:rPr kumimoji="0" lang="en-US" altLang="zh-CN" sz="2400" b="1"/>
              <a:t>--</a:t>
            </a:r>
            <a:r>
              <a:rPr kumimoji="0" lang="zh-CN" altLang="en-US" sz="2400" b="1"/>
              <a:t>现在</a:t>
            </a:r>
            <a:r>
              <a:rPr kumimoji="0" lang="en-US" altLang="zh-CN" sz="2400" b="1"/>
              <a:t>)</a:t>
            </a:r>
            <a:endParaRPr kumimoji="0" lang="en-US" altLang="zh-CN" sz="2400"/>
          </a:p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数据库管理阶段的基本特点：</a:t>
            </a:r>
            <a:endParaRPr kumimoji="0" lang="zh-CN" altLang="en-US" sz="28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数据的管理者：</a:t>
            </a:r>
            <a:r>
              <a:rPr kumimoji="0" lang="en-US" altLang="zh-CN" sz="2400">
                <a:solidFill>
                  <a:srgbClr val="FF0000"/>
                </a:solidFill>
              </a:rPr>
              <a:t>DBMS</a:t>
            </a:r>
            <a:r>
              <a:rPr kumimoji="0" lang="en-US" altLang="zh-CN" sz="2400"/>
              <a:t>(</a:t>
            </a:r>
            <a:r>
              <a:rPr kumimoji="0" lang="zh-CN" altLang="en-US" sz="2400"/>
              <a:t>与应用独立的专门管理软件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数据面向的对象：现实世界(添加和删除方便易行</a:t>
            </a:r>
            <a:r>
              <a:rPr kumimoji="0" lang="en-US" altLang="zh-CN" sz="2400"/>
              <a:t>)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数据的共享程度：共享性高	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数据的独立性：高度的物理独立性和一定的逻辑独立性(随着不同发展时期，独立性程度在不断改进</a:t>
            </a:r>
            <a:r>
              <a:rPr kumimoji="0" lang="en-US" altLang="zh-CN" sz="2400"/>
              <a:t>)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数据的结构化：整体结构化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数据控制能力：由</a:t>
            </a:r>
            <a:r>
              <a:rPr kumimoji="0" lang="en-US" altLang="zh-CN" sz="2400"/>
              <a:t>DBMS</a:t>
            </a:r>
            <a:r>
              <a:rPr kumimoji="0" lang="zh-CN" altLang="en-US" sz="2400"/>
              <a:t>统一管理和控制＃</a:t>
            </a:r>
            <a:endParaRPr kumimoji="0" lang="zh-CN" altLang="en-US" sz="2400"/>
          </a:p>
          <a:p>
            <a:pPr marL="0" indent="0">
              <a:lnSpc>
                <a:spcPts val="3365"/>
              </a:lnSpc>
            </a:pPr>
            <a:endParaRPr kumimoji="0" lang="zh-CN" altLang="en-US" sz="280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551C33-AB31-4AB5-AD06-23306C8C7182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7652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3" name="AutoShape 6"/>
          <p:cNvSpPr>
            <a:spLocks noChangeArrowheads="1"/>
          </p:cNvSpPr>
          <p:nvPr/>
        </p:nvSpPr>
        <p:spPr bwMode="auto">
          <a:xfrm>
            <a:off x="6335713" y="1376363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＊数据库阶段应用系统如何处理数据？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>
          <a:xfrm>
            <a:off x="503238" y="800100"/>
            <a:ext cx="7772400" cy="935038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什么是数据模型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665288"/>
            <a:ext cx="7772400" cy="4592637"/>
          </a:xfrm>
        </p:spPr>
        <p:txBody>
          <a:bodyPr/>
          <a:lstStyle/>
          <a:p>
            <a:pPr eaLnBrk="1" hangingPunct="1">
              <a:lnSpc>
                <a:spcPts val="3065"/>
              </a:lnSpc>
            </a:pPr>
            <a:r>
              <a:rPr kumimoji="0" lang="zh-CN" altLang="en-US" sz="2400"/>
              <a:t>数据模型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</a:pPr>
            <a:r>
              <a:rPr kumimoji="0" lang="zh-CN" altLang="en-US" sz="2400"/>
              <a:t>是一种用来</a:t>
            </a:r>
            <a:r>
              <a:rPr kumimoji="0" lang="zh-CN" altLang="en-US" sz="2400" b="1">
                <a:solidFill>
                  <a:schemeClr val="tx2"/>
                </a:solidFill>
              </a:rPr>
              <a:t>抽象、表示</a:t>
            </a:r>
            <a:r>
              <a:rPr kumimoji="0" lang="zh-CN" altLang="en-US" sz="2400" b="1"/>
              <a:t>和</a:t>
            </a:r>
            <a:r>
              <a:rPr kumimoji="0" lang="zh-CN" altLang="en-US" sz="2400" b="1">
                <a:solidFill>
                  <a:schemeClr val="tx2"/>
                </a:solidFill>
              </a:rPr>
              <a:t>处理</a:t>
            </a:r>
            <a:r>
              <a:rPr kumimoji="0" lang="zh-CN" altLang="en-US" sz="2400"/>
              <a:t>客观世界数据对象结构的描述方式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</a:pPr>
            <a:r>
              <a:rPr kumimoji="0" lang="zh-CN" altLang="en-US" sz="2400"/>
              <a:t>是对客观世界的模拟</a:t>
            </a:r>
            <a:r>
              <a:rPr kumimoji="0" lang="en-US" altLang="zh-CN" sz="2400"/>
              <a:t>(</a:t>
            </a:r>
            <a:r>
              <a:rPr kumimoji="0" lang="zh-CN" altLang="en-US" sz="2400"/>
              <a:t>一种主观建模）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  <a:buFontTx/>
              <a:buNone/>
            </a:pPr>
            <a:endParaRPr kumimoji="0" lang="zh-CN" altLang="en-US" sz="2400"/>
          </a:p>
          <a:p>
            <a:pPr algn="just" eaLnBrk="1" hangingPunct="1">
              <a:lnSpc>
                <a:spcPts val="3065"/>
              </a:lnSpc>
            </a:pPr>
            <a:r>
              <a:rPr kumimoji="0" lang="zh-CN" altLang="en-US" sz="2400"/>
              <a:t>数据模型应满足如下要求</a:t>
            </a:r>
            <a:endParaRPr kumimoji="0" lang="zh-CN" altLang="en-US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形式化</a:t>
            </a:r>
            <a:r>
              <a:rPr kumimoji="0" lang="en-US" altLang="zh-CN" sz="2400"/>
              <a:t>(</a:t>
            </a:r>
            <a:r>
              <a:rPr kumimoji="0" lang="zh-CN" altLang="en-US" sz="2400"/>
              <a:t>书面表示</a:t>
            </a:r>
            <a:r>
              <a:rPr kumimoji="0" lang="en-US" altLang="zh-CN" sz="2400"/>
              <a:t>/</a:t>
            </a:r>
            <a:r>
              <a:rPr kumimoji="0" lang="zh-CN" altLang="en-US" sz="2400"/>
              <a:t>书面语言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/>
              <a:t>能够尽可能</a:t>
            </a:r>
            <a:r>
              <a:rPr kumimoji="0" lang="zh-CN" altLang="en-US" sz="2400">
                <a:solidFill>
                  <a:srgbClr val="0000FF"/>
                </a:solidFill>
              </a:rPr>
              <a:t>真实</a:t>
            </a:r>
            <a:r>
              <a:rPr kumimoji="0" lang="zh-CN" altLang="en-US" sz="2400"/>
              <a:t>的反映客观世界</a:t>
            </a:r>
            <a:endParaRPr kumimoji="0" lang="zh-CN" altLang="en-US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容易</a:t>
            </a:r>
            <a:r>
              <a:rPr kumimoji="0" lang="zh-CN" altLang="en-US" sz="2400"/>
              <a:t>人所理解</a:t>
            </a:r>
            <a:endParaRPr kumimoji="0" lang="en-US" altLang="zh-CN" sz="2400"/>
          </a:p>
          <a:p>
            <a:pPr lvl="1" algn="just" eaLnBrk="1" hangingPunct="1">
              <a:lnSpc>
                <a:spcPts val="3065"/>
              </a:lnSpc>
            </a:pPr>
            <a:r>
              <a:rPr lang="zh-CN" altLang="en-US" sz="2400">
                <a:solidFill>
                  <a:srgbClr val="0000FF"/>
                </a:solidFill>
              </a:rPr>
              <a:t>便于</a:t>
            </a:r>
            <a:r>
              <a:rPr lang="zh-CN" altLang="en-US" sz="2400"/>
              <a:t>在计算机上实现</a:t>
            </a:r>
            <a:r>
              <a:rPr kumimoji="0" lang="zh-CN" altLang="en-US" sz="2400"/>
              <a:t>＃</a:t>
            </a:r>
            <a:endParaRPr kumimoji="0" lang="zh-CN" altLang="en-US"/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B9ACED-EEE3-4A84-B7CB-2CD80471C5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8676" name="标题 1"/>
          <p:cNvSpPr txBox="1"/>
          <p:nvPr/>
        </p:nvSpPr>
        <p:spPr bwMode="auto">
          <a:xfrm>
            <a:off x="544513" y="77788"/>
            <a:ext cx="777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7" name="AutoShape 6"/>
          <p:cNvSpPr>
            <a:spLocks noChangeArrowheads="1"/>
          </p:cNvSpPr>
          <p:nvPr/>
        </p:nvSpPr>
        <p:spPr bwMode="auto">
          <a:xfrm>
            <a:off x="6696075" y="1268413"/>
            <a:ext cx="2016125" cy="8159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＊什么是数据模型？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6769100" y="3802063"/>
            <a:ext cx="2016125" cy="10318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＊数据模型应满足什么要求？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800" y="1701800"/>
            <a:ext cx="8459788" cy="4498975"/>
          </a:xfrm>
        </p:spPr>
        <p:txBody>
          <a:bodyPr/>
          <a:lstStyle/>
          <a:p>
            <a:pPr marL="0" indent="0" eaLnBrk="1" hangingPunct="1">
              <a:lnSpc>
                <a:spcPts val="3040"/>
              </a:lnSpc>
              <a:buFontTx/>
              <a:buNone/>
            </a:pPr>
            <a:r>
              <a:rPr kumimoji="0" lang="zh-CN" altLang="en-US" sz="2400"/>
              <a:t>模型根据描述用途的不同，可分成两个层次</a:t>
            </a:r>
            <a:endParaRPr kumimoji="0" lang="zh-CN" altLang="en-US" sz="2400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(1) </a:t>
            </a:r>
            <a:r>
              <a:rPr kumimoji="0" lang="zh-CN" altLang="en-US" sz="2400" b="1">
                <a:solidFill>
                  <a:srgbClr val="0000FF"/>
                </a:solidFill>
              </a:rPr>
              <a:t>概念模型</a:t>
            </a:r>
            <a:r>
              <a:rPr kumimoji="0" lang="zh-CN" altLang="en-US" sz="2400" b="1">
                <a:solidFill>
                  <a:srgbClr val="2A2A39"/>
                </a:solidFill>
              </a:rPr>
              <a:t>：（</a:t>
            </a:r>
            <a:r>
              <a:rPr kumimoji="0" lang="zh-CN" altLang="en-US" sz="2400" b="1"/>
              <a:t>也称信息模型）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是按用户的观点来对数据和信息建模；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几乎不涉及计算机专业技术知识。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（</a:t>
            </a:r>
            <a:r>
              <a:rPr kumimoji="0" lang="zh-CN" altLang="en-US" sz="2400" b="1">
                <a:solidFill>
                  <a:srgbClr val="FF0000"/>
                </a:solidFill>
              </a:rPr>
              <a:t>面向客观世</a:t>
            </a:r>
            <a:r>
              <a:rPr kumimoji="0" lang="zh-CN" altLang="en-US" sz="2400" b="1"/>
              <a:t>界建模）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(2)</a:t>
            </a:r>
            <a:r>
              <a:rPr kumimoji="0" lang="en-US" altLang="zh-CN" sz="2400" b="1">
                <a:solidFill>
                  <a:srgbClr val="0000FF"/>
                </a:solidFill>
              </a:rPr>
              <a:t> </a:t>
            </a:r>
            <a:r>
              <a:rPr kumimoji="0" lang="zh-CN" altLang="en-US" sz="2400" b="1">
                <a:solidFill>
                  <a:srgbClr val="0000FF"/>
                </a:solidFill>
              </a:rPr>
              <a:t>数据模型</a:t>
            </a:r>
            <a:r>
              <a:rPr kumimoji="0" lang="zh-CN" altLang="en-US" sz="2400" b="1">
                <a:solidFill>
                  <a:srgbClr val="2A2A39"/>
                </a:solidFill>
              </a:rPr>
              <a:t>：（逻辑）</a:t>
            </a:r>
            <a:endParaRPr kumimoji="0" lang="en-US" altLang="zh-CN" sz="2400" b="1">
              <a:solidFill>
                <a:srgbClr val="2A2A39"/>
              </a:solidFill>
            </a:endParaRPr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>
                <a:solidFill>
                  <a:srgbClr val="2A2A39"/>
                </a:solidFill>
              </a:rPr>
              <a:t>    </a:t>
            </a:r>
            <a:r>
              <a:rPr kumimoji="0" lang="zh-CN" altLang="en-US" sz="2400" b="1"/>
              <a:t>主要包括网状模型、层次模型、关系模型、对象模型等；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是按计算机系统的观点对数据建模</a:t>
            </a:r>
            <a:r>
              <a:rPr kumimoji="0" lang="zh-CN" altLang="en-US" sz="2400"/>
              <a:t>。 </a:t>
            </a:r>
            <a:endParaRPr kumimoji="0" lang="en-US" altLang="zh-CN" sz="2400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/>
              <a:t>    </a:t>
            </a:r>
            <a:r>
              <a:rPr kumimoji="0" lang="zh-CN" altLang="en-US" sz="2400" b="1"/>
              <a:t>（</a:t>
            </a:r>
            <a:r>
              <a:rPr kumimoji="0" lang="zh-CN" altLang="en-US" sz="2400" b="1">
                <a:solidFill>
                  <a:srgbClr val="FF0000"/>
                </a:solidFill>
              </a:rPr>
              <a:t>面向计算机实现</a:t>
            </a:r>
            <a:r>
              <a:rPr kumimoji="0" lang="zh-CN" altLang="en-US" sz="2400" b="1"/>
              <a:t>建模）</a:t>
            </a:r>
            <a:endParaRPr kumimoji="0" lang="zh-CN" altLang="en-US"/>
          </a:p>
          <a:p>
            <a:pPr marL="0" indent="0" eaLnBrk="1" hangingPunct="1">
              <a:lnSpc>
                <a:spcPts val="3040"/>
              </a:lnSpc>
            </a:pPr>
            <a:endParaRPr kumimoji="0" lang="en-US" altLang="zh-CN" sz="2800"/>
          </a:p>
          <a:p>
            <a:pPr marL="0" indent="0">
              <a:lnSpc>
                <a:spcPts val="3040"/>
              </a:lnSpc>
            </a:pPr>
            <a:r>
              <a:rPr kumimoji="0" lang="en-US" altLang="zh-CN"/>
              <a:t> </a:t>
            </a:r>
            <a:endParaRPr kumimoji="0" lang="zh-CN" altLang="en-US"/>
          </a:p>
        </p:txBody>
      </p:sp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037EA6-0B2B-43A9-A31C-0D783B5C8469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9699" name="矩形 1"/>
          <p:cNvSpPr>
            <a:spLocks noChangeArrowheads="1"/>
          </p:cNvSpPr>
          <p:nvPr/>
        </p:nvSpPr>
        <p:spPr bwMode="auto">
          <a:xfrm>
            <a:off x="2808288" y="996950"/>
            <a:ext cx="3348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两类模型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0" name="AutoShape 6"/>
          <p:cNvSpPr>
            <a:spLocks noChangeArrowheads="1"/>
          </p:cNvSpPr>
          <p:nvPr/>
        </p:nvSpPr>
        <p:spPr bwMode="auto">
          <a:xfrm>
            <a:off x="6156325" y="3046413"/>
            <a:ext cx="2447925" cy="814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＊指哪两个类型</a:t>
            </a:r>
            <a:r>
              <a:rPr kumimoji="0" lang="en-US" altLang="zh-CN" sz="1600"/>
              <a:t>(</a:t>
            </a:r>
            <a:r>
              <a:rPr kumimoji="0" lang="zh-CN" altLang="en-US" sz="1600"/>
              <a:t>层次</a:t>
            </a:r>
            <a:r>
              <a:rPr kumimoji="0" lang="en-US" altLang="zh-CN" sz="1600"/>
              <a:t>)</a:t>
            </a:r>
            <a:r>
              <a:rPr kumimoji="0" lang="zh-CN" altLang="en-US" sz="1600"/>
              <a:t>，原因？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9701" name="标题 1"/>
          <p:cNvSpPr txBox="1"/>
          <p:nvPr/>
        </p:nvSpPr>
        <p:spPr bwMode="auto">
          <a:xfrm>
            <a:off x="5903913" y="44450"/>
            <a:ext cx="306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900" y="1592263"/>
            <a:ext cx="8242300" cy="4608512"/>
          </a:xfrm>
        </p:spPr>
        <p:txBody>
          <a:bodyPr/>
          <a:lstStyle/>
          <a:p>
            <a:pPr eaLnBrk="1" hangingPunct="1">
              <a:lnSpc>
                <a:spcPts val="3065"/>
              </a:lnSpc>
            </a:pPr>
            <a:r>
              <a:rPr kumimoji="0" lang="zh-CN" altLang="en-US" sz="2400" dirty="0"/>
              <a:t>客观对象的抽象过程</a:t>
            </a:r>
            <a:r>
              <a:rPr kumimoji="0" lang="en-US" altLang="zh-CN" sz="2400" dirty="0"/>
              <a:t>--</a:t>
            </a:r>
            <a:r>
              <a:rPr kumimoji="0" lang="zh-CN" altLang="en-US" sz="2400" dirty="0">
                <a:solidFill>
                  <a:srgbClr val="FF0000"/>
                </a:solidFill>
              </a:rPr>
              <a:t>两步抽象</a:t>
            </a:r>
            <a:r>
              <a:rPr kumimoji="0" lang="zh-CN" altLang="en-US" sz="2400" dirty="0"/>
              <a:t>：</a:t>
            </a:r>
            <a:endParaRPr kumimoji="0" lang="zh-CN" altLang="en-US" sz="28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现实世界中的客观对象</a:t>
            </a:r>
            <a:r>
              <a:rPr kumimoji="0" lang="zh-CN" altLang="en-US" sz="2400" dirty="0">
                <a:solidFill>
                  <a:srgbClr val="0000FF"/>
                </a:solidFill>
              </a:rPr>
              <a:t>抽象为</a:t>
            </a:r>
            <a:r>
              <a:rPr kumimoji="0" lang="zh-CN" altLang="en-US" sz="2400" dirty="0"/>
              <a:t>概念模型；</a:t>
            </a:r>
            <a:endParaRPr kumimoji="0" lang="zh-CN" altLang="en-US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把概念模型</a:t>
            </a:r>
            <a:r>
              <a:rPr kumimoji="0" lang="zh-CN" altLang="en-US" sz="2400" dirty="0">
                <a:solidFill>
                  <a:srgbClr val="0000FF"/>
                </a:solidFill>
              </a:rPr>
              <a:t>转换为</a:t>
            </a:r>
            <a:r>
              <a:rPr kumimoji="0" lang="zh-CN" altLang="en-US" sz="2400" dirty="0"/>
              <a:t>某一</a:t>
            </a:r>
            <a:r>
              <a:rPr kumimoji="0" lang="en-US" altLang="zh-CN" sz="2400" dirty="0"/>
              <a:t>DBMS</a:t>
            </a:r>
            <a:r>
              <a:rPr kumimoji="0" lang="zh-CN" altLang="en-US" sz="2400" dirty="0"/>
              <a:t>支持的数据模型。</a:t>
            </a:r>
            <a:endParaRPr kumimoji="0" lang="zh-CN" altLang="en-US" sz="2400" dirty="0"/>
          </a:p>
          <a:p>
            <a:pPr algn="just" eaLnBrk="1" hangingPunct="1">
              <a:lnSpc>
                <a:spcPts val="3065"/>
              </a:lnSpc>
            </a:pPr>
            <a:r>
              <a:rPr kumimoji="0" lang="zh-CN" altLang="en-US" sz="2800" dirty="0"/>
              <a:t> </a:t>
            </a:r>
            <a:r>
              <a:rPr kumimoji="0" lang="zh-CN" altLang="en-US" sz="2400" dirty="0"/>
              <a:t>概念模型的重要作用：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是现实世界到机器世界的一个中间层次;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可将业务模型与计算机实现工作隔离开；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复杂性减少，便于分工，成功性增大。</a:t>
            </a:r>
            <a:endParaRPr kumimoji="0" lang="zh-CN" altLang="en-US" sz="2400" dirty="0"/>
          </a:p>
        </p:txBody>
      </p:sp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DFB56-C4D9-4B2E-AF6B-9D80E4B7056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0723" name="矩形 1"/>
          <p:cNvSpPr>
            <a:spLocks noChangeArrowheads="1"/>
          </p:cNvSpPr>
          <p:nvPr/>
        </p:nvSpPr>
        <p:spPr bwMode="auto">
          <a:xfrm>
            <a:off x="1619250" y="908050"/>
            <a:ext cx="5221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数据库建模的两大阶段</a:t>
            </a:r>
            <a:endParaRPr kumimoji="0" lang="zh-CN" altLang="en-US" sz="2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 8"/>
          <p:cNvGrpSpPr/>
          <p:nvPr/>
        </p:nvGrpSpPr>
        <p:grpSpPr bwMode="auto">
          <a:xfrm>
            <a:off x="395288" y="5049838"/>
            <a:ext cx="3987800" cy="1320800"/>
            <a:chOff x="395288" y="5049838"/>
            <a:chExt cx="3987800" cy="1321037"/>
          </a:xfrm>
        </p:grpSpPr>
        <p:sp>
          <p:nvSpPr>
            <p:cNvPr id="30734" name="云形标注 1"/>
            <p:cNvSpPr>
              <a:spLocks noChangeArrowheads="1"/>
            </p:cNvSpPr>
            <p:nvPr/>
          </p:nvSpPr>
          <p:spPr bwMode="auto">
            <a:xfrm>
              <a:off x="395288" y="5049838"/>
              <a:ext cx="2232025" cy="719266"/>
            </a:xfrm>
            <a:prstGeom prst="cloudCallout">
              <a:avLst>
                <a:gd name="adj1" fmla="val -12079"/>
                <a:gd name="adj2" fmla="val 37597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客观世界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sp>
          <p:nvSpPr>
            <p:cNvPr id="30735" name="流程图: 过程 5"/>
            <p:cNvSpPr>
              <a:spLocks noChangeArrowheads="1"/>
            </p:cNvSpPr>
            <p:nvPr/>
          </p:nvSpPr>
          <p:spPr bwMode="auto">
            <a:xfrm>
              <a:off x="2943225" y="5102234"/>
              <a:ext cx="1439863" cy="612885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  概念模型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cxnSp>
          <p:nvCxnSpPr>
            <p:cNvPr id="30736" name="直接箭头连接符 7"/>
            <p:cNvCxnSpPr>
              <a:cxnSpLocks noChangeShapeType="1"/>
              <a:stCxn id="30734" idx="2"/>
              <a:endCxn id="30735" idx="1"/>
            </p:cNvCxnSpPr>
            <p:nvPr/>
          </p:nvCxnSpPr>
          <p:spPr bwMode="auto">
            <a:xfrm flipV="1">
              <a:off x="2625725" y="5408677"/>
              <a:ext cx="3175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7" name="矩形 6"/>
            <p:cNvSpPr>
              <a:spLocks noChangeArrowheads="1"/>
            </p:cNvSpPr>
            <p:nvPr/>
          </p:nvSpPr>
          <p:spPr bwMode="auto">
            <a:xfrm>
              <a:off x="1655763" y="5724646"/>
              <a:ext cx="2146300" cy="646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00FF"/>
                  </a:solidFill>
                </a:rPr>
                <a:t>抽象为</a:t>
              </a:r>
              <a:r>
                <a:rPr kumimoji="0" lang="en-US" altLang="zh-CN" sz="1800">
                  <a:solidFill>
                    <a:srgbClr val="3F3F56"/>
                  </a:solidFill>
                  <a:latin typeface="Tahoma" panose="020B0604030504040204" pitchFamily="2" charset="0"/>
                </a:rPr>
                <a:t>(</a:t>
              </a:r>
              <a:r>
                <a:rPr kumimoji="0" lang="zh-CN" altLang="en-US" sz="1800">
                  <a:solidFill>
                    <a:srgbClr val="3F3F56"/>
                  </a:solidFill>
                  <a:latin typeface="Tahoma" panose="020B0604030504040204" pitchFamily="2" charset="0"/>
                </a:rPr>
                <a:t>擅长客户沟</a:t>
              </a:r>
              <a:endParaRPr kumimoji="0" lang="en-US" altLang="zh-CN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3F3F56"/>
                  </a:solidFill>
                  <a:latin typeface="Tahoma" panose="020B0604030504040204" pitchFamily="2" charset="0"/>
                </a:rPr>
                <a:t>通的系统分析人员</a:t>
              </a:r>
              <a:r>
                <a:rPr kumimoji="0" lang="zh-CN" altLang="zh-CN" sz="1800">
                  <a:solidFill>
                    <a:srgbClr val="3F3F56"/>
                  </a:solidFill>
                  <a:latin typeface="Tahoma" panose="020B0604030504040204" pitchFamily="2" charset="0"/>
                </a:rPr>
                <a:t>)</a:t>
              </a:r>
              <a:endParaRPr kumimoji="0" lang="zh-CN" altLang="en-US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</p:txBody>
        </p:sp>
      </p:grpSp>
      <p:grpSp>
        <p:nvGrpSpPr>
          <p:cNvPr id="10" name="组 9"/>
          <p:cNvGrpSpPr/>
          <p:nvPr/>
        </p:nvGrpSpPr>
        <p:grpSpPr bwMode="auto">
          <a:xfrm>
            <a:off x="4233863" y="5049838"/>
            <a:ext cx="4514850" cy="1330325"/>
            <a:chOff x="4233830" y="5049838"/>
            <a:chExt cx="4514634" cy="1329749"/>
          </a:xfrm>
        </p:grpSpPr>
        <p:sp>
          <p:nvSpPr>
            <p:cNvPr id="30729" name="流程图: 过程 3"/>
            <p:cNvSpPr>
              <a:spLocks noChangeArrowheads="1"/>
            </p:cNvSpPr>
            <p:nvPr/>
          </p:nvSpPr>
          <p:spPr bwMode="auto">
            <a:xfrm>
              <a:off x="4716407" y="5084748"/>
              <a:ext cx="1439793" cy="61251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数据模型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sp>
          <p:nvSpPr>
            <p:cNvPr id="30730" name="云形标注 6"/>
            <p:cNvSpPr>
              <a:spLocks noChangeArrowheads="1"/>
            </p:cNvSpPr>
            <p:nvPr/>
          </p:nvSpPr>
          <p:spPr bwMode="auto">
            <a:xfrm>
              <a:off x="6516546" y="5049838"/>
              <a:ext cx="2231918" cy="718826"/>
            </a:xfrm>
            <a:prstGeom prst="cloudCallout">
              <a:avLst>
                <a:gd name="adj1" fmla="val -14269"/>
                <a:gd name="adj2" fmla="val 35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机器世界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cxnSp>
          <p:nvCxnSpPr>
            <p:cNvPr id="30731" name="直接箭头连接符 10"/>
            <p:cNvCxnSpPr>
              <a:cxnSpLocks noChangeShapeType="1"/>
              <a:stCxn id="30735" idx="3"/>
            </p:cNvCxnSpPr>
            <p:nvPr/>
          </p:nvCxnSpPr>
          <p:spPr bwMode="auto">
            <a:xfrm>
              <a:off x="4383048" y="5408458"/>
              <a:ext cx="33335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2" name="直接箭头连接符 12"/>
            <p:cNvCxnSpPr>
              <a:cxnSpLocks noChangeShapeType="1"/>
            </p:cNvCxnSpPr>
            <p:nvPr/>
          </p:nvCxnSpPr>
          <p:spPr bwMode="auto">
            <a:xfrm>
              <a:off x="6156200" y="5391002"/>
              <a:ext cx="3587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3" name="矩形 7"/>
            <p:cNvSpPr>
              <a:spLocks noChangeArrowheads="1"/>
            </p:cNvSpPr>
            <p:nvPr/>
          </p:nvSpPr>
          <p:spPr bwMode="auto">
            <a:xfrm>
              <a:off x="4233830" y="5733754"/>
              <a:ext cx="2390661" cy="645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00FF"/>
                  </a:solidFill>
                </a:rPr>
                <a:t>转换为</a:t>
              </a:r>
              <a:r>
                <a:rPr kumimoji="0" lang="en-US" altLang="zh-CN" sz="1800">
                  <a:solidFill>
                    <a:srgbClr val="3F3F56"/>
                  </a:solidFill>
                </a:rPr>
                <a:t>(</a:t>
              </a:r>
              <a:r>
                <a:rPr kumimoji="0" lang="zh-CN" altLang="en-US" sz="1800">
                  <a:solidFill>
                    <a:srgbClr val="3F3F56"/>
                  </a:solidFill>
                </a:rPr>
                <a:t>擅长数据库技</a:t>
              </a:r>
              <a:endParaRPr kumimoji="0" lang="en-US" altLang="zh-CN" sz="1800">
                <a:solidFill>
                  <a:srgbClr val="3F3F56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3F3F56"/>
                  </a:solidFill>
                </a:rPr>
                <a:t>术开发的计算机人员</a:t>
              </a:r>
              <a:r>
                <a:rPr kumimoji="0" lang="en-US" altLang="zh-CN" sz="1800">
                  <a:solidFill>
                    <a:srgbClr val="3F3F56"/>
                  </a:solidFill>
                </a:rPr>
                <a:t>)</a:t>
              </a:r>
              <a:endParaRPr kumimoji="0" lang="zh-CN" altLang="en-US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</p:txBody>
        </p:sp>
      </p:grpSp>
      <p:sp>
        <p:nvSpPr>
          <p:cNvPr id="30726" name="AutoShape 6"/>
          <p:cNvSpPr>
            <a:spLocks noChangeArrowheads="1"/>
          </p:cNvSpPr>
          <p:nvPr/>
        </p:nvSpPr>
        <p:spPr bwMode="auto">
          <a:xfrm>
            <a:off x="6192838" y="1449388"/>
            <a:ext cx="2447925" cy="814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＊指哪两个抽象建模阶段？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30727" name="AutoShape 6"/>
          <p:cNvSpPr>
            <a:spLocks noChangeArrowheads="1"/>
          </p:cNvSpPr>
          <p:nvPr/>
        </p:nvSpPr>
        <p:spPr bwMode="auto">
          <a:xfrm>
            <a:off x="6335713" y="3392488"/>
            <a:ext cx="2447925" cy="8159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＊为何要分开为两个阶段？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30728" name="标题 1"/>
          <p:cNvSpPr txBox="1"/>
          <p:nvPr/>
        </p:nvSpPr>
        <p:spPr bwMode="auto">
          <a:xfrm>
            <a:off x="5903913" y="44450"/>
            <a:ext cx="306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内容占位符 3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63" y="815975"/>
            <a:ext cx="5132387" cy="4137026"/>
          </a:xfrm>
        </p:spPr>
      </p:pic>
      <p:pic>
        <p:nvPicPr>
          <p:cNvPr id="10243" name="Picture 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1095375"/>
            <a:ext cx="38227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7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2" y="3890185"/>
            <a:ext cx="30194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文本框 5"/>
          <p:cNvSpPr txBox="1">
            <a:spLocks noChangeArrowheads="1"/>
          </p:cNvSpPr>
          <p:nvPr/>
        </p:nvSpPr>
        <p:spPr bwMode="auto">
          <a:xfrm>
            <a:off x="61913" y="241300"/>
            <a:ext cx="45037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数据库设计主要有哪些环节？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内容占位符 2"/>
          <p:cNvSpPr>
            <a:spLocks noGrp="1"/>
          </p:cNvSpPr>
          <p:nvPr>
            <p:ph idx="1"/>
          </p:nvPr>
        </p:nvSpPr>
        <p:spPr>
          <a:xfrm>
            <a:off x="693738" y="1196975"/>
            <a:ext cx="77724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</a:t>
            </a:r>
            <a:r>
              <a:rPr lang="en-US" altLang="zh-CN" dirty="0"/>
              <a:t>(Data)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</a:t>
            </a:r>
            <a:r>
              <a:rPr lang="en-US" altLang="zh-CN" dirty="0"/>
              <a:t>(Database)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数据库管理系统</a:t>
            </a:r>
            <a:r>
              <a:rPr lang="en-US" altLang="zh-CN" dirty="0"/>
              <a:t>(DBMS)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数据库系统</a:t>
            </a:r>
            <a:r>
              <a:rPr lang="en-US" altLang="zh-CN" dirty="0"/>
              <a:t>(DBS)</a:t>
            </a:r>
            <a:endParaRPr lang="en-US" altLang="zh-CN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34092-D73F-40D3-BF38-5C883EA09482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1747" name="标题 1"/>
          <p:cNvSpPr txBox="1"/>
          <p:nvPr/>
        </p:nvSpPr>
        <p:spPr bwMode="auto">
          <a:xfrm>
            <a:off x="544513" y="77788"/>
            <a:ext cx="777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kumimoji="0"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数据库系统概述</a:t>
            </a:r>
            <a:endParaRPr kumimoji="0" lang="zh-CN" altLang="en-US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380"/>
            <a:ext cx="7772400" cy="652145"/>
          </a:xfrm>
        </p:spPr>
        <p:txBody>
          <a:bodyPr/>
          <a:lstStyle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405" y="771525"/>
            <a:ext cx="8561705" cy="53244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在现实生活，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数据是可识别的抽象符号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，即描述事物的符号记录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在计算机中，数据是所有能被计算机处理的符号的总称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在数据库中，数据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是数据库中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存储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的基本对象 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数据的种类</a:t>
            </a: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: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数字，例如 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3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文本，例如张三、李四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时间，例如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2022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年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月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日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向量，例如图片或文本的表征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图片，例如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logo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音频，例如电视语音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…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/>
        </p:nvSpPr>
        <p:spPr>
          <a:xfrm>
            <a:off x="721360" y="1304290"/>
            <a:ext cx="13383260" cy="50050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162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kumimoji="1" sz="32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1pPr>
            <a:lvl2pPr marL="685800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2pPr>
            <a:lvl3pPr marL="105537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3pPr>
            <a:lvl4pPr marL="147701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89928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32092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0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47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11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结构化数据：关系数据（表）</a:t>
            </a: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半结构化数据</a:t>
            </a: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键值对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Key-Value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XML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JSON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图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向量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非结构化数据</a:t>
            </a:r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b="0" i="0" u="none" strike="noStrike" dirty="0">
                <a:solidFill>
                  <a:srgbClr val="24292F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文本文档、电子邮件、图像、音频、视频</a:t>
            </a:r>
            <a:endParaRPr kumimoji="1"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380"/>
            <a:ext cx="7772400" cy="652145"/>
          </a:xfrm>
        </p:spPr>
        <p:txBody>
          <a:bodyPr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" y="1554480"/>
            <a:ext cx="9015730" cy="3917315"/>
          </a:xfrm>
          <a:prstGeom prst="rect">
            <a:avLst/>
          </a:prstGeom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440" y="119380"/>
            <a:ext cx="7985760" cy="652145"/>
          </a:xfrm>
        </p:spPr>
        <p:txBody>
          <a:bodyPr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75260" y="84074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关系数据</a:t>
            </a:r>
            <a:endParaRPr kumimoji="1" lang="zh-CN" altLang="en-US" sz="2400" dirty="0">
              <a:solidFill>
                <a:srgbClr val="002060"/>
              </a:solidFill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6845" y="81915"/>
            <a:ext cx="7772400" cy="1143000"/>
          </a:xfrm>
        </p:spPr>
        <p:txBody>
          <a:bodyPr/>
          <a:lstStyle/>
          <a:p>
            <a:pPr algn="l" eaLnBrk="1" hangingPunct="1"/>
            <a:r>
              <a:rPr lang="en-US" altLang="zh-CN" sz="3600" b="1" dirty="0">
                <a:sym typeface="+mn-ea"/>
              </a:rPr>
              <a:t>4</a:t>
            </a:r>
            <a:r>
              <a:rPr lang="en-US" altLang="zh-CN" sz="3600" dirty="0"/>
              <a:t>.2 </a:t>
            </a:r>
            <a:r>
              <a:rPr lang="zh-CN" altLang="en-US" sz="3600" dirty="0"/>
              <a:t>数据库</a:t>
            </a:r>
            <a:endParaRPr lang="en-US" altLang="zh-CN" sz="36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1030" y="146177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什么是数据库？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相互有关联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数据集合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长期储存在计算机中的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有组织的、可管理和可共享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数据集合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数据库的基本特征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数据按一定的数据模型组织、描述和储存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支持数据的增删改查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支持并发查询处理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通用性和复制性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/>
            <a:endParaRPr kumimoji="0" lang="en-US" altLang="zh-CN" sz="2400"/>
          </a:p>
          <a:p>
            <a:pPr marL="450850" lvl="1" indent="0" algn="just" eaLnBrk="1" hangingPunct="1"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xfrm>
            <a:off x="685800" y="95250"/>
            <a:ext cx="7772400" cy="1143000"/>
          </a:xfrm>
        </p:spPr>
        <p:txBody>
          <a:bodyPr/>
          <a:lstStyle/>
          <a:p>
            <a:r>
              <a:rPr lang="zh-CN" altLang="en-US" b="1"/>
              <a:t>数据库的特征（续）</a:t>
            </a:r>
            <a:endParaRPr lang="zh-CN" altLang="en-US" b="1"/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/>
              <a:t>相对于文件</a:t>
            </a:r>
            <a:endParaRPr lang="zh-CN" altLang="en-US" b="1"/>
          </a:p>
          <a:p>
            <a:pPr lvl="1"/>
            <a:r>
              <a:rPr lang="zh-CN" altLang="en-US" b="1"/>
              <a:t>强制约束</a:t>
            </a:r>
            <a:endParaRPr lang="zh-CN" altLang="en-US" b="1"/>
          </a:p>
          <a:p>
            <a:pPr lvl="1"/>
            <a:r>
              <a:rPr lang="zh-CN" altLang="en-US" b="1"/>
              <a:t>可扩展（大数据）</a:t>
            </a:r>
            <a:endParaRPr lang="zh-CN" altLang="en-US" b="1"/>
          </a:p>
          <a:p>
            <a:pPr lvl="1"/>
            <a:r>
              <a:rPr lang="zh-CN" altLang="en-US" b="1"/>
              <a:t>查询便利</a:t>
            </a:r>
            <a:endParaRPr lang="zh-CN" altLang="en-US" b="1"/>
          </a:p>
          <a:p>
            <a:pPr lvl="1"/>
            <a:r>
              <a:rPr lang="zh-CN" altLang="en-US" b="1"/>
              <a:t>结构无关</a:t>
            </a:r>
            <a:endParaRPr lang="zh-CN" altLang="en-US" b="1"/>
          </a:p>
          <a:p>
            <a:pPr lvl="1"/>
            <a:r>
              <a:rPr lang="zh-CN" altLang="en-US" b="1"/>
              <a:t>安全（视图）</a:t>
            </a:r>
            <a:endParaRPr lang="zh-CN" altLang="en-US" b="1"/>
          </a:p>
          <a:p>
            <a:pPr lvl="1"/>
            <a:r>
              <a:rPr lang="zh-CN" altLang="en-US" b="1"/>
              <a:t>并发</a:t>
            </a:r>
            <a:endParaRPr lang="zh-CN" altLang="en-US" b="1"/>
          </a:p>
          <a:p>
            <a:pPr lvl="1"/>
            <a:r>
              <a:rPr lang="zh-CN" altLang="en-US" b="1"/>
              <a:t>崩溃恢复</a:t>
            </a:r>
            <a:endParaRPr lang="zh-CN" altLang="en-US" b="1"/>
          </a:p>
          <a:p>
            <a:pPr lvl="1"/>
            <a:endParaRPr lang="zh-CN" altLang="en-US"/>
          </a:p>
        </p:txBody>
      </p:sp>
      <p:sp>
        <p:nvSpPr>
          <p:cNvPr id="41987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03C1FC-8412-4720-BCBA-2693AB0BEE32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1244600"/>
            <a:ext cx="47720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" y="0"/>
            <a:ext cx="7772400" cy="78549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.3</a:t>
            </a:r>
            <a:r>
              <a:rPr lang="zh-CN" altLang="en-US" sz="3200" b="1" dirty="0"/>
              <a:t> 数据库管理系统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430" y="785495"/>
            <a:ext cx="8268970" cy="56114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什么是数据库管理系统？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定义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：用户（应用程序）与操作系统之间的</a:t>
            </a:r>
            <a:r>
              <a:rPr lang="zh-CN" altLang="en-US" sz="2400" b="1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数据库管理软件</a:t>
            </a:r>
            <a:endParaRPr lang="en-US" altLang="zh-CN" sz="24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定义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：一个管理数据的大型复杂基础软件系统</a:t>
            </a:r>
            <a:endParaRPr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数据库管理系统的用途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优雅查询和数据抽象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高效组织和存储数据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正确一致的并发更新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低时延高吞吐的查询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并行高效的有序执行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可用性和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高可靠保证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安全可信的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统一控制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方便易用的用户接口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/>
            <a:endParaRPr kumimoji="0" lang="zh-CN" altLang="en-US" sz="24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81978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.4 </a:t>
            </a:r>
            <a:r>
              <a:rPr lang="zh-CN" altLang="en-US" sz="3200" b="1" dirty="0"/>
              <a:t>数据库系统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585" y="1005205"/>
            <a:ext cx="8222615" cy="52431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数据库系统是指由数据库管理系统和相关工具组成的软件系统，用于管理和操作大量数据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一般包括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数据库管理系统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开发工具、应用系统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数据库管理员和终端用户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什么是数据库管理系统？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管理数据库的软件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>
              <a:lnSpc>
                <a:spcPct val="9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4730" y="840105"/>
            <a:ext cx="7459345" cy="5583555"/>
          </a:xfrm>
          <a:prstGeom prst="rect">
            <a:avLst/>
          </a:prstGeom>
        </p:spPr>
      </p:pic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819785"/>
          </a:xfrm>
        </p:spPr>
        <p:txBody>
          <a:bodyPr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.4 </a:t>
            </a:r>
            <a:r>
              <a:rPr lang="zh-CN" altLang="en-US" sz="3200" b="1" dirty="0"/>
              <a:t>数据库系统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4430" y="5174615"/>
            <a:ext cx="4149725" cy="71437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4430" y="2614930"/>
            <a:ext cx="4149725" cy="2448560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7115" y="840740"/>
            <a:ext cx="7341870" cy="517588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2DF605-331A-4C04-85F8-D7548B0DF05A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66675"/>
            <a:ext cx="7772400" cy="657225"/>
          </a:xfrm>
        </p:spPr>
        <p:txBody>
          <a:bodyPr/>
          <a:lstStyle/>
          <a:p>
            <a:pPr algn="l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五 数据库技术在应用开发中的作用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8" y="847725"/>
            <a:ext cx="8791575" cy="553402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000" b="1"/>
              <a:t>案例：</a:t>
            </a:r>
            <a:r>
              <a:rPr lang="zh-CN" altLang="en-US" sz="1800"/>
              <a:t>大学教务管理系统，电子商务网站</a:t>
            </a:r>
            <a:r>
              <a:rPr lang="en-US" altLang="zh-CN" sz="1800"/>
              <a:t>(</a:t>
            </a:r>
            <a:r>
              <a:rPr lang="zh-CN" altLang="en-US" sz="1800"/>
              <a:t>亚马逊</a:t>
            </a:r>
            <a:r>
              <a:rPr lang="en-US" altLang="zh-CN" sz="1800"/>
              <a:t>),</a:t>
            </a:r>
            <a:r>
              <a:rPr lang="en-US" altLang="zh-CN" sz="1800">
                <a:latin typeface="Tahoma" panose="020B0604030504040204" pitchFamily="2" charset="0"/>
              </a:rPr>
              <a:t>……</a:t>
            </a:r>
            <a:endParaRPr lang="en-US" altLang="zh-CN" sz="1800"/>
          </a:p>
          <a:p>
            <a:pPr>
              <a:lnSpc>
                <a:spcPct val="105000"/>
              </a:lnSpc>
            </a:pPr>
            <a:r>
              <a:rPr lang="zh-CN" altLang="en-US" sz="2000" b="1"/>
              <a:t>应用开发需要解决的主要问题：</a:t>
            </a:r>
            <a:endParaRPr lang="zh-CN" altLang="en-US" sz="2000" b="1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数据如何存放？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数据如何访问？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数据如何适应应用需求变化？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如何保证数据正确性？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如何限制非法访问？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如何保证并发访问同一数据的有效性（定机票）？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如何防范故障（停电）？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如何提高查询效率？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如何提高应用吞吐量（奥运会）？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各种应用功能的开发？（程序设计语言）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如何提高开发效率？</a:t>
            </a:r>
            <a:endParaRPr lang="en-US" altLang="zh-CN" sz="1800"/>
          </a:p>
          <a:p>
            <a:pPr>
              <a:lnSpc>
                <a:spcPct val="105000"/>
              </a:lnSpc>
            </a:pPr>
            <a:r>
              <a:rPr lang="zh-CN" altLang="en-US" sz="2400" b="1">
                <a:solidFill>
                  <a:srgbClr val="3366FF"/>
                </a:solidFill>
              </a:rPr>
              <a:t>数据库技术的重要性</a:t>
            </a:r>
            <a:endParaRPr lang="zh-CN" altLang="en-US" sz="2400" b="1">
              <a:solidFill>
                <a:srgbClr val="3366FF"/>
              </a:solidFill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zh-CN" altLang="en-US" sz="1800">
                <a:solidFill>
                  <a:srgbClr val="3366FF"/>
                </a:solidFill>
              </a:rPr>
              <a:t>	对于大量应用系统</a:t>
            </a:r>
            <a:r>
              <a:rPr lang="en-US" altLang="zh-CN" sz="1800">
                <a:solidFill>
                  <a:srgbClr val="3366FF"/>
                </a:solidFill>
              </a:rPr>
              <a:t>[</a:t>
            </a:r>
            <a:r>
              <a:rPr lang="zh-CN" altLang="en-US" sz="1800">
                <a:solidFill>
                  <a:srgbClr val="3366FF"/>
                </a:solidFill>
              </a:rPr>
              <a:t>教学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银行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保险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航空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en-US" altLang="zh-CN" sz="1800">
                <a:solidFill>
                  <a:srgbClr val="3366FF"/>
                </a:solidFill>
                <a:latin typeface="Tahoma" panose="020B0604030504040204" pitchFamily="2" charset="0"/>
              </a:rPr>
              <a:t>……</a:t>
            </a:r>
            <a:r>
              <a:rPr lang="en-US" altLang="zh-CN" sz="1800">
                <a:solidFill>
                  <a:srgbClr val="3366FF"/>
                </a:solidFill>
              </a:rPr>
              <a:t>]</a:t>
            </a:r>
            <a:r>
              <a:rPr lang="zh-CN" altLang="en-US" sz="1800">
                <a:solidFill>
                  <a:srgbClr val="3366FF"/>
                </a:solidFill>
              </a:rPr>
              <a:t>的开发，上述技术都是必不可少！ </a:t>
            </a:r>
            <a:endParaRPr lang="zh-CN" altLang="en-US" sz="1800">
              <a:solidFill>
                <a:srgbClr val="3366FF"/>
              </a:solidFill>
            </a:endParaRPr>
          </a:p>
        </p:txBody>
      </p:sp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6129338" y="2417763"/>
            <a:ext cx="2740025" cy="787400"/>
          </a:xfrm>
          <a:prstGeom prst="cloudCallout">
            <a:avLst>
              <a:gd name="adj1" fmla="val 49306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数据库技术对应用开发有多重要？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2413000" y="1484313"/>
            <a:ext cx="6731000" cy="3914775"/>
            <a:chOff x="2412268" y="1484784"/>
            <a:chExt cx="6731732" cy="3913725"/>
          </a:xfrm>
        </p:grpSpPr>
        <p:sp>
          <p:nvSpPr>
            <p:cNvPr id="2" name="矩形 1"/>
            <p:cNvSpPr/>
            <p:nvPr/>
          </p:nvSpPr>
          <p:spPr>
            <a:xfrm>
              <a:off x="2412268" y="1484784"/>
              <a:ext cx="5263135" cy="154422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（建立数据模型，逻辑结构设计，物理结构设计）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（数据库语言</a:t>
              </a: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SQL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（三层模式结构）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（完整性约束）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2809186" y="2892518"/>
              <a:ext cx="4570910" cy="1544224"/>
            </a:xfrm>
            <a:prstGeom prst="rect">
              <a:avLst/>
            </a:prstGeom>
          </p:spPr>
          <p:txBody>
            <a:bodyPr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（授权管理）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              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（事务管理）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（数据备份与恢复）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（查询优化，索引）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208" name="矩形 3"/>
            <p:cNvSpPr>
              <a:spLocks noChangeArrowheads="1"/>
            </p:cNvSpPr>
            <p:nvPr/>
          </p:nvSpPr>
          <p:spPr bwMode="auto">
            <a:xfrm>
              <a:off x="2879044" y="4220900"/>
              <a:ext cx="6264956" cy="117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olidFill>
                    <a:srgbClr val="3366FF"/>
                  </a:solidFill>
                </a:rPr>
                <a:t>            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（分布式数据库，并行数据库）</a:t>
              </a:r>
              <a:endParaRPr kumimoji="0" lang="en-US" altLang="zh-CN" sz="1800" b="0">
                <a:solidFill>
                  <a:srgbClr val="3366FF"/>
                </a:solidFill>
              </a:endParaRPr>
            </a:p>
            <a:p>
              <a:pPr marL="0" lvl="1"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zh-CN" altLang="en-US" sz="1800" b="0">
                  <a:solidFill>
                    <a:srgbClr val="3366FF"/>
                  </a:solidFill>
                </a:rPr>
                <a:t>                  （数据库产品提供的应用包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银行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is-IS" altLang="zh-CN" sz="1800" b="0">
                  <a:solidFill>
                    <a:srgbClr val="3366FF"/>
                  </a:solidFill>
                </a:rPr>
                <a:t>…</a:t>
              </a:r>
              <a:r>
                <a:rPr kumimoji="0" lang="zh-CN" altLang="zh-CN" sz="1800" b="0">
                  <a:solidFill>
                    <a:srgbClr val="3366FF"/>
                  </a:solidFill>
                </a:rPr>
                <a:t>）</a:t>
              </a:r>
              <a:endParaRPr kumimoji="0" lang="en-US" altLang="zh-CN" sz="1800" b="0">
                <a:solidFill>
                  <a:srgbClr val="3366FF"/>
                </a:solidFill>
              </a:endParaRPr>
            </a:p>
            <a:p>
              <a:pPr marL="0" lvl="1"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olidFill>
                    <a:srgbClr val="3366FF"/>
                  </a:solidFill>
                </a:rPr>
                <a:t>(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采用数据库技术开发的测试少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,SQL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编程技术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报表工具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…)</a:t>
              </a:r>
              <a:endParaRPr kumimoji="0" lang="zh-CN" altLang="en-US" sz="1400">
                <a:latin typeface="Tahoma" panose="020B06040305040402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2368C9-8799-44F6-B498-300C9C90ACE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8" y="966788"/>
            <a:ext cx="8604250" cy="5451475"/>
          </a:xfrm>
        </p:spPr>
        <p:txBody>
          <a:bodyPr/>
          <a:lstStyle/>
          <a:p>
            <a:pPr lvl="1">
              <a:lnSpc>
                <a:spcPct val="105000"/>
              </a:lnSpc>
            </a:pPr>
            <a:r>
              <a:rPr lang="en-US" altLang="zh-CN" sz="2000" b="1"/>
              <a:t>Step1: </a:t>
            </a:r>
            <a:r>
              <a:rPr lang="zh-CN" altLang="en-US" sz="2000" b="1"/>
              <a:t>需求分析	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/>
              <a:t>功能需求 	       （功能需求说明书） </a:t>
            </a:r>
            <a:r>
              <a:rPr lang="en-US" altLang="zh-CN" sz="1800"/>
              <a:t> </a:t>
            </a:r>
            <a:endParaRPr lang="en-US" altLang="zh-CN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2A2A39"/>
                </a:solidFill>
                <a:ea typeface="黑体" panose="02010609060101010101" pitchFamily="49" charset="-122"/>
              </a:rPr>
              <a:t>数据需求</a:t>
            </a:r>
            <a:r>
              <a:rPr lang="en-US" altLang="zh-CN" sz="1800" baseline="30000">
                <a:solidFill>
                  <a:srgbClr val="2A2A39"/>
                </a:solidFill>
              </a:rPr>
              <a:t> </a:t>
            </a:r>
            <a:r>
              <a:rPr lang="en-US" altLang="zh-CN" sz="1800" baseline="30000"/>
              <a:t>	          </a:t>
            </a:r>
            <a:r>
              <a:rPr lang="zh-CN" altLang="en-US" sz="1800"/>
              <a:t>（数据需求说明书）</a:t>
            </a:r>
            <a:endParaRPr lang="zh-CN" altLang="en-US" sz="1800"/>
          </a:p>
          <a:p>
            <a:pPr lvl="1">
              <a:lnSpc>
                <a:spcPct val="105000"/>
              </a:lnSpc>
              <a:buFontTx/>
              <a:buNone/>
            </a:pPr>
            <a:r>
              <a:rPr lang="en-US" altLang="zh-CN" sz="1800"/>
              <a:t> </a:t>
            </a:r>
            <a:r>
              <a:rPr lang="zh-CN" altLang="en-US" sz="1800"/>
              <a:t>（编写</a:t>
            </a:r>
            <a:r>
              <a:rPr lang="zh-CN" altLang="en-US" sz="1800">
                <a:solidFill>
                  <a:srgbClr val="008000"/>
                </a:solidFill>
              </a:rPr>
              <a:t>数据流程图</a:t>
            </a:r>
            <a:r>
              <a:rPr lang="zh-CN" altLang="en-US" sz="1800"/>
              <a:t>＋</a:t>
            </a:r>
            <a:r>
              <a:rPr lang="zh-CN" altLang="en-US" sz="1800">
                <a:solidFill>
                  <a:srgbClr val="008000"/>
                </a:solidFill>
              </a:rPr>
              <a:t>含数据字典</a:t>
            </a:r>
            <a:r>
              <a:rPr lang="en-US" altLang="zh-CN" sz="1800"/>
              <a:t>]</a:t>
            </a:r>
            <a:r>
              <a:rPr lang="zh-CN" altLang="en-US" sz="1800"/>
              <a:t>；</a:t>
            </a: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endParaRPr lang="en-US" altLang="zh-CN" sz="1800">
              <a:solidFill>
                <a:srgbClr val="FF0000"/>
              </a:solidFill>
            </a:endParaRPr>
          </a:p>
          <a:p>
            <a:pPr lvl="1">
              <a:lnSpc>
                <a:spcPct val="105000"/>
              </a:lnSpc>
              <a:buFontTx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	采用</a:t>
            </a:r>
            <a:r>
              <a:rPr lang="zh-CN" altLang="en-US" sz="1800"/>
              <a:t>统一建模语言</a:t>
            </a:r>
            <a:r>
              <a:rPr lang="en-US" altLang="zh-CN" sz="1800"/>
              <a:t>UML</a:t>
            </a:r>
            <a:r>
              <a:rPr lang="zh-CN" altLang="en-US" sz="1800"/>
              <a:t>：</a:t>
            </a:r>
            <a:r>
              <a:rPr lang="zh-CN" altLang="en-US" sz="1800">
                <a:solidFill>
                  <a:srgbClr val="008000"/>
                </a:solidFill>
              </a:rPr>
              <a:t>用例图</a:t>
            </a:r>
            <a:r>
              <a:rPr lang="en-US" altLang="zh-CN" sz="1800"/>
              <a:t>+</a:t>
            </a:r>
            <a:r>
              <a:rPr lang="zh-CN" altLang="en-US" sz="1800">
                <a:solidFill>
                  <a:srgbClr val="008000"/>
                </a:solidFill>
              </a:rPr>
              <a:t>时序图</a:t>
            </a:r>
            <a:r>
              <a:rPr lang="en-US" altLang="zh-CN" sz="1800"/>
              <a:t>+</a:t>
            </a:r>
            <a:r>
              <a:rPr lang="zh-CN" altLang="en-US" sz="1800">
                <a:solidFill>
                  <a:srgbClr val="008000"/>
                </a:solidFill>
              </a:rPr>
              <a:t>类图</a:t>
            </a:r>
            <a:r>
              <a:rPr lang="zh-CN" altLang="en-US" sz="1800"/>
              <a:t>等）</a:t>
            </a:r>
            <a:endParaRPr lang="en-US" altLang="zh-CN" sz="1800" baseline="300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Step2: </a:t>
            </a:r>
            <a:r>
              <a:rPr lang="zh-CN" altLang="en-US" sz="2000" b="1"/>
              <a:t>系统设计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/>
              <a:t>系统功能设计</a:t>
            </a:r>
            <a:r>
              <a:rPr lang="en-US" altLang="zh-CN" sz="1800"/>
              <a:t>(</a:t>
            </a:r>
            <a:r>
              <a:rPr lang="zh-CN" altLang="en-US" sz="1800"/>
              <a:t>总统设计，详细设计，界面设计</a:t>
            </a:r>
            <a:r>
              <a:rPr lang="en-US" altLang="zh-CN" sz="1800"/>
              <a:t>,</a:t>
            </a:r>
            <a:r>
              <a:rPr lang="is-IS" altLang="zh-CN" sz="1800"/>
              <a:t>…</a:t>
            </a:r>
            <a:r>
              <a:rPr lang="en-US" altLang="zh-CN" sz="1800"/>
              <a:t>)</a:t>
            </a:r>
            <a:endParaRPr lang="en-US" altLang="zh-CN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2A2A39"/>
                </a:solidFill>
                <a:ea typeface="黑体" panose="02010609060101010101" pitchFamily="49" charset="-122"/>
              </a:rPr>
              <a:t>数据结构设计</a:t>
            </a:r>
            <a:r>
              <a:rPr lang="en-US" altLang="zh-CN" sz="1800">
                <a:solidFill>
                  <a:srgbClr val="2A2A39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 b="1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 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 b="1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 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>
                <a:solidFill>
                  <a:srgbClr val="2A2A39"/>
                </a:solidFill>
                <a:ea typeface="黑体" panose="02010609060101010101" pitchFamily="49" charset="-122"/>
              </a:rPr>
              <a:t>)</a:t>
            </a:r>
            <a:endParaRPr lang="zh-CN" altLang="en-US" sz="16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Step3: </a:t>
            </a:r>
            <a:r>
              <a:rPr lang="zh-CN" altLang="en-US" sz="2000" b="1"/>
              <a:t>系统实现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数据库实现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zh-CN" altLang="en-US" sz="1800"/>
              <a:t>（实际建立数据结构）</a:t>
            </a:r>
            <a:endParaRPr lang="en-US" altLang="zh-CN" sz="1800">
              <a:solidFill>
                <a:srgbClr val="0066FF"/>
              </a:solidFill>
            </a:endParaRPr>
          </a:p>
          <a:p>
            <a:pPr lvl="2">
              <a:lnSpc>
                <a:spcPct val="105000"/>
              </a:lnSpc>
            </a:pPr>
            <a:r>
              <a:rPr lang="zh-CN" altLang="en-US" sz="1800"/>
              <a:t>应用功能实现</a:t>
            </a:r>
            <a:r>
              <a:rPr lang="en-US" altLang="zh-CN" sz="1800"/>
              <a:t>[</a:t>
            </a:r>
            <a:r>
              <a:rPr lang="zh-CN" altLang="en-US" sz="1800"/>
              <a:t>程序代码,程序检测</a:t>
            </a:r>
            <a:r>
              <a:rPr lang="en-US" altLang="zh-CN" sz="1800"/>
              <a:t>]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Step4: </a:t>
            </a:r>
            <a:r>
              <a:rPr lang="zh-CN" altLang="en-US" sz="2000" b="1"/>
              <a:t>系统运行与维护</a:t>
            </a:r>
            <a:endParaRPr lang="en-US" altLang="zh-CN" sz="2000" b="1"/>
          </a:p>
          <a:p>
            <a:pPr lvl="2">
              <a:lnSpc>
                <a:spcPct val="105000"/>
              </a:lnSpc>
            </a:pPr>
            <a:r>
              <a:rPr lang="zh-CN" altLang="en-US" sz="1800"/>
              <a:t>运行系统与维护</a:t>
            </a:r>
            <a:r>
              <a:rPr lang="zh-CN" altLang="en-US" sz="1800" b="1"/>
              <a:t>	       </a:t>
            </a:r>
            <a:endParaRPr lang="zh-CN" altLang="en-US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0066FF"/>
                </a:solidFill>
                <a:ea typeface="黑体" panose="02010609060101010101" pitchFamily="49" charset="-122"/>
              </a:rPr>
              <a:t>数据运行与维护</a:t>
            </a:r>
            <a:r>
              <a:rPr lang="zh-CN" altLang="en-US" sz="1800"/>
              <a:t>         	</a:t>
            </a:r>
            <a:endParaRPr lang="zh-CN" altLang="en-US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0066FF"/>
                </a:solidFill>
                <a:ea typeface="黑体" panose="02010609060101010101" pitchFamily="49" charset="-122"/>
              </a:rPr>
              <a:t>数据分析</a:t>
            </a:r>
            <a:r>
              <a:rPr lang="en-US" altLang="zh-CN" sz="1800" baseline="30000">
                <a:solidFill>
                  <a:srgbClr val="0066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（标注＊的部分为数据库开发主要环节）</a:t>
            </a:r>
            <a:endParaRPr lang="zh-CN" altLang="en-US" sz="20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7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8" name="AutoShape 15"/>
          <p:cNvSpPr>
            <a:spLocks noChangeArrowheads="1"/>
          </p:cNvSpPr>
          <p:nvPr/>
        </p:nvSpPr>
        <p:spPr bwMode="auto">
          <a:xfrm>
            <a:off x="6300788" y="1489075"/>
            <a:ext cx="2330450" cy="1147763"/>
          </a:xfrm>
          <a:prstGeom prst="cloudCallout">
            <a:avLst>
              <a:gd name="adj1" fmla="val 49028"/>
              <a:gd name="adj2" fmla="val 8447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 dirty="0">
                <a:latin typeface="Tahoma" panose="020B0604030504040204" pitchFamily="2" charset="0"/>
              </a:rPr>
              <a:t>数据库系统的开发包含哪些主要环节？</a:t>
            </a:r>
            <a:endParaRPr kumimoji="0" lang="zh-CN" altLang="en-US" sz="1600" dirty="0">
              <a:latin typeface="Tahoma" panose="020B0604030504040204" pitchFamily="2" charset="0"/>
            </a:endParaRPr>
          </a:p>
        </p:txBody>
      </p:sp>
      <p:sp>
        <p:nvSpPr>
          <p:cNvPr id="122898" name="AutoShape 18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86775" y="6448425"/>
            <a:ext cx="238125" cy="190500"/>
          </a:xfrm>
          <a:prstGeom prst="actionButtonForwardNex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52230" name="AutoShape 15"/>
          <p:cNvSpPr>
            <a:spLocks noChangeArrowheads="1"/>
          </p:cNvSpPr>
          <p:nvPr/>
        </p:nvSpPr>
        <p:spPr bwMode="auto">
          <a:xfrm>
            <a:off x="5867400" y="4329113"/>
            <a:ext cx="2773363" cy="787400"/>
          </a:xfrm>
          <a:prstGeom prst="cloudCallout">
            <a:avLst>
              <a:gd name="adj1" fmla="val 49028"/>
              <a:gd name="adj2" fmla="val 8447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数据库的开发又包含哪些环节？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4FF9E0-0FFF-4BCF-8BC4-F52D124CEDB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2062163"/>
            <a:ext cx="611188" cy="2627312"/>
          </a:xfrm>
        </p:spPr>
        <p:txBody>
          <a:bodyPr vert="eaVert"/>
          <a:lstStyle/>
          <a:p>
            <a:r>
              <a:rPr lang="zh-CN" altLang="en-US" sz="2400" b="1"/>
              <a:t>数据流程图</a:t>
            </a:r>
            <a:r>
              <a:rPr lang="en-US" altLang="zh-CN" sz="2400" b="1"/>
              <a:t>(</a:t>
            </a:r>
            <a:r>
              <a:rPr lang="zh-CN" altLang="en-US" sz="2400" b="1"/>
              <a:t>样例</a:t>
            </a:r>
            <a:r>
              <a:rPr lang="en-US" altLang="zh-CN" sz="2400" b="1"/>
              <a:t>)</a:t>
            </a:r>
            <a:endParaRPr lang="en-US" altLang="zh-CN" sz="2400" b="1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188913"/>
            <a:ext cx="4425950" cy="3603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600" b="1"/>
              <a:t>[2]《</a:t>
            </a:r>
            <a:r>
              <a:rPr lang="zh-CN" altLang="en-US" sz="1600" b="1"/>
              <a:t>数据系统原理教程</a:t>
            </a:r>
            <a:r>
              <a:rPr lang="en-US" altLang="zh-CN" sz="1600" b="1"/>
              <a:t>》</a:t>
            </a:r>
            <a:r>
              <a:rPr lang="zh-CN" altLang="en-US" sz="1600" b="1"/>
              <a:t>王珊</a:t>
            </a:r>
            <a:r>
              <a:rPr lang="en-US" altLang="zh-CN" sz="1600" b="1"/>
              <a:t>-</a:t>
            </a:r>
            <a:r>
              <a:rPr lang="zh-CN" altLang="en-US" sz="1600" b="1"/>
              <a:t>清华大学</a:t>
            </a:r>
            <a:r>
              <a:rPr lang="en-US" altLang="zh-CN" sz="1600" b="1"/>
              <a:t>,P185</a:t>
            </a:r>
            <a:endParaRPr lang="en-US" altLang="zh-CN" sz="1600" b="1"/>
          </a:p>
        </p:txBody>
      </p:sp>
      <p:sp>
        <p:nvSpPr>
          <p:cNvPr id="137222" name="AutoShape 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96313" y="6481763"/>
            <a:ext cx="323850" cy="215900"/>
          </a:xfrm>
          <a:prstGeom prst="actionButtonBackPrevious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grpSp>
        <p:nvGrpSpPr>
          <p:cNvPr id="53253" name="Group 10"/>
          <p:cNvGrpSpPr/>
          <p:nvPr/>
        </p:nvGrpSpPr>
        <p:grpSpPr bwMode="auto">
          <a:xfrm>
            <a:off x="935038" y="800100"/>
            <a:ext cx="7993062" cy="5653088"/>
            <a:chOff x="589" y="504"/>
            <a:chExt cx="5035" cy="3561"/>
          </a:xfrm>
        </p:grpSpPr>
        <p:grpSp>
          <p:nvGrpSpPr>
            <p:cNvPr id="53255" name="Group 9"/>
            <p:cNvGrpSpPr/>
            <p:nvPr/>
          </p:nvGrpSpPr>
          <p:grpSpPr bwMode="auto">
            <a:xfrm>
              <a:off x="589" y="504"/>
              <a:ext cx="5035" cy="3561"/>
              <a:chOff x="589" y="504"/>
              <a:chExt cx="5035" cy="3561"/>
            </a:xfrm>
          </p:grpSpPr>
          <p:pic>
            <p:nvPicPr>
              <p:cNvPr id="53257" name="Picture 5" descr="流程图样例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" y="504"/>
                <a:ext cx="5035" cy="3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258" name="Rectangle 8"/>
              <p:cNvSpPr>
                <a:spLocks noChangeArrowheads="1"/>
              </p:cNvSpPr>
              <p:nvPr/>
            </p:nvSpPr>
            <p:spPr bwMode="auto">
              <a:xfrm>
                <a:off x="2971" y="3907"/>
                <a:ext cx="703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>
                    <a:latin typeface="Tahoma" panose="020B0604030504040204" pitchFamily="2" charset="0"/>
                  </a:rPr>
                  <a:t>(</a:t>
                </a:r>
                <a:r>
                  <a:rPr kumimoji="0" lang="zh-CN" altLang="en-US" sz="1000">
                    <a:latin typeface="Tahoma" panose="020B0604030504040204" pitchFamily="2" charset="0"/>
                  </a:rPr>
                  <a:t>第二层数据流图</a:t>
                </a:r>
                <a:r>
                  <a:rPr kumimoji="0" lang="en-US" altLang="zh-CN" sz="1000">
                    <a:latin typeface="Tahoma" panose="020B0604030504040204" pitchFamily="2" charset="0"/>
                  </a:rPr>
                  <a:t>)</a:t>
                </a:r>
                <a:endParaRPr kumimoji="0" lang="en-US" altLang="zh-CN" sz="1000">
                  <a:latin typeface="Tahoma" panose="020B0604030504040204" pitchFamily="2" charset="0"/>
                </a:endParaRPr>
              </a:p>
            </p:txBody>
          </p:sp>
        </p:grpSp>
        <p:sp>
          <p:nvSpPr>
            <p:cNvPr id="53256" name="Line 7"/>
            <p:cNvSpPr>
              <a:spLocks noChangeShapeType="1"/>
            </p:cNvSpPr>
            <p:nvPr/>
          </p:nvSpPr>
          <p:spPr bwMode="auto">
            <a:xfrm>
              <a:off x="1905" y="2160"/>
              <a:ext cx="0" cy="227"/>
            </a:xfrm>
            <a:prstGeom prst="line">
              <a:avLst/>
            </a:prstGeom>
            <a:noFill/>
            <a:ln w="76200" cmpd="tri">
              <a:solidFill>
                <a:srgbClr val="1306C0"/>
              </a:solidFill>
              <a:rou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</p:grpSp>
      <p:sp>
        <p:nvSpPr>
          <p:cNvPr id="53254" name="Rectangle 11"/>
          <p:cNvSpPr>
            <a:spLocks noChangeArrowheads="1"/>
          </p:cNvSpPr>
          <p:nvPr/>
        </p:nvSpPr>
        <p:spPr bwMode="auto">
          <a:xfrm>
            <a:off x="238125" y="5913438"/>
            <a:ext cx="3479800" cy="550862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00FF"/>
                </a:solidFill>
                <a:latin typeface="Tahoma" panose="020B0604030504040204" pitchFamily="2" charset="0"/>
              </a:rPr>
              <a:t>解释关键概念及作用：</a:t>
            </a:r>
            <a:endParaRPr kumimoji="0" lang="zh-CN" altLang="en-US" sz="1200">
              <a:solidFill>
                <a:srgbClr val="0000FF"/>
              </a:solidFill>
              <a:latin typeface="Tahoma" panose="020B0604030504040204" pitchFamily="2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00FF"/>
                </a:solidFill>
                <a:latin typeface="Tahoma" panose="020B0604030504040204" pitchFamily="2" charset="0"/>
              </a:rPr>
              <a:t>数据流，保存文件，加工，外部对象</a:t>
            </a:r>
            <a:endParaRPr kumimoji="0" lang="zh-CN" altLang="en-US" sz="1200">
              <a:solidFill>
                <a:srgbClr val="0000FF"/>
              </a:solidFill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A737C0-8DB5-46C1-A873-AF8710F4D45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414463"/>
            <a:ext cx="7451725" cy="51482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000"/>
              <a:t>数据结构设计的主要任务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zh-CN" altLang="en-US" sz="1800"/>
              <a:t>分析数据对象特征和使用需求</a:t>
            </a:r>
            <a:endParaRPr lang="zh-CN" altLang="en-US" sz="1800"/>
          </a:p>
          <a:p>
            <a:pPr lvl="1">
              <a:lnSpc>
                <a:spcPct val="90000"/>
              </a:lnSpc>
            </a:pPr>
            <a:r>
              <a:rPr lang="zh-CN" altLang="en-US" sz="1800"/>
              <a:t>建立数据模型（对象内部结构和外部关联）</a:t>
            </a:r>
            <a:endParaRPr lang="zh-CN" altLang="en-US" sz="1800"/>
          </a:p>
          <a:p>
            <a:pPr lvl="2">
              <a:lnSpc>
                <a:spcPct val="90000"/>
              </a:lnSpc>
            </a:pPr>
            <a:r>
              <a:rPr lang="zh-CN" altLang="en-US" sz="16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概念设计</a:t>
            </a:r>
            <a:r>
              <a:rPr lang="zh-CN" altLang="en-US" sz="1600"/>
              <a:t>（建立客观世界的抽象结构）</a:t>
            </a:r>
            <a:endParaRPr lang="zh-CN" altLang="en-US" sz="1600"/>
          </a:p>
          <a:p>
            <a:pPr lvl="2">
              <a:lnSpc>
                <a:spcPct val="90000"/>
              </a:lnSpc>
            </a:pPr>
            <a:r>
              <a:rPr lang="zh-CN" altLang="en-US" sz="16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逻辑设计</a:t>
            </a:r>
            <a:r>
              <a:rPr lang="zh-CN" altLang="en-US" sz="1600"/>
              <a:t>（建立便于计算机实现的逻辑结构</a:t>
            </a:r>
            <a:r>
              <a:rPr lang="en-US" altLang="zh-CN" sz="1600"/>
              <a:t>-</a:t>
            </a:r>
            <a:r>
              <a:rPr lang="zh-CN" altLang="en-US" sz="1600"/>
              <a:t>与</a:t>
            </a:r>
            <a:r>
              <a:rPr lang="en-US" altLang="zh-CN" sz="1600"/>
              <a:t>DBMS</a:t>
            </a:r>
            <a:r>
              <a:rPr lang="zh-CN" altLang="en-US" sz="1600"/>
              <a:t>密切相关）</a:t>
            </a:r>
            <a:endParaRPr lang="zh-CN" altLang="en-US" sz="1600"/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sz="1800" b="1"/>
              <a:t>		  </a:t>
            </a:r>
            <a:r>
              <a:rPr lang="zh-CN" altLang="en-US" sz="1600" b="1">
                <a:solidFill>
                  <a:srgbClr val="FF0000"/>
                </a:solidFill>
              </a:rPr>
              <a:t>还应包括：</a:t>
            </a:r>
            <a:endParaRPr lang="zh-CN" altLang="en-US" sz="1600" b="1">
              <a:solidFill>
                <a:srgbClr val="FF0000"/>
              </a:solidFill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数据结构优化设计</a:t>
            </a:r>
            <a:r>
              <a:rPr lang="zh-CN" altLang="en-US" sz="1600"/>
              <a:t>（建立</a:t>
            </a:r>
            <a:r>
              <a:rPr lang="zh-CN" altLang="en-US" sz="1600">
                <a:solidFill>
                  <a:srgbClr val="0066FF"/>
                </a:solidFill>
              </a:rPr>
              <a:t>良好的结构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数据完整性设计</a:t>
            </a:r>
            <a:r>
              <a:rPr lang="zh-CN" altLang="en-US" sz="1600"/>
              <a:t>（建立</a:t>
            </a:r>
            <a:r>
              <a:rPr lang="zh-CN" altLang="en-US" sz="1600">
                <a:solidFill>
                  <a:srgbClr val="0066FF"/>
                </a:solidFill>
              </a:rPr>
              <a:t>完整性约束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数据安全设计</a:t>
            </a:r>
            <a:r>
              <a:rPr lang="zh-CN" altLang="en-US" sz="1600"/>
              <a:t>（用户</a:t>
            </a:r>
            <a:r>
              <a:rPr lang="zh-CN" altLang="en-US" sz="1600">
                <a:solidFill>
                  <a:srgbClr val="0066FF"/>
                </a:solidFill>
              </a:rPr>
              <a:t>访问授权</a:t>
            </a:r>
            <a:r>
              <a:rPr lang="zh-CN" altLang="en-US" sz="1600"/>
              <a:t>）</a:t>
            </a:r>
            <a:endParaRPr lang="zh-CN" altLang="en-US" sz="1600"/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相关数据库技术</a:t>
            </a:r>
            <a:endParaRPr lang="zh-CN" altLang="en-US" sz="20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>
                <a:solidFill>
                  <a:srgbClr val="0000FF"/>
                </a:solidFill>
              </a:rPr>
              <a:t>E-R</a:t>
            </a:r>
            <a:r>
              <a:rPr lang="zh-CN" altLang="en-US" sz="1800">
                <a:solidFill>
                  <a:srgbClr val="0000FF"/>
                </a:solidFill>
              </a:rPr>
              <a:t>模型（</a:t>
            </a:r>
            <a:r>
              <a:rPr lang="en-US" altLang="zh-CN" sz="1800">
                <a:solidFill>
                  <a:srgbClr val="0000FF"/>
                </a:solidFill>
              </a:rPr>
              <a:t>7</a:t>
            </a:r>
            <a:r>
              <a:rPr lang="zh-CN" altLang="en-US" sz="1800">
                <a:solidFill>
                  <a:srgbClr val="0000FF"/>
                </a:solidFill>
              </a:rPr>
              <a:t>章），</a:t>
            </a:r>
            <a:r>
              <a:rPr lang="en-US" altLang="zh-CN" sz="1800">
                <a:solidFill>
                  <a:srgbClr val="0000FF"/>
                </a:solidFill>
              </a:rPr>
              <a:t>UML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6</a:t>
            </a:r>
            <a:r>
              <a:rPr lang="zh-CN" altLang="en-US" sz="1800">
                <a:solidFill>
                  <a:srgbClr val="0000FF"/>
                </a:solidFill>
              </a:rPr>
              <a:t>章）    </a:t>
            </a:r>
            <a:r>
              <a:rPr lang="en-US" altLang="zh-CN" sz="1800">
                <a:solidFill>
                  <a:srgbClr val="800000"/>
                </a:solidFill>
              </a:rPr>
              <a:t>---</a:t>
            </a:r>
            <a:r>
              <a:rPr lang="zh-CN" altLang="en-US" sz="1800">
                <a:solidFill>
                  <a:srgbClr val="800000"/>
                </a:solidFill>
              </a:rPr>
              <a:t>面向客观世界描述！</a:t>
            </a:r>
            <a:endParaRPr lang="zh-CN" altLang="en-US" sz="1800">
              <a:solidFill>
                <a:srgbClr val="8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关系模型（ </a:t>
            </a:r>
            <a:r>
              <a:rPr lang="en-US" altLang="zh-CN" sz="1800">
                <a:solidFill>
                  <a:srgbClr val="0000FF"/>
                </a:solidFill>
              </a:rPr>
              <a:t>2</a:t>
            </a:r>
            <a:r>
              <a:rPr lang="zh-CN" altLang="en-US" sz="1800">
                <a:solidFill>
                  <a:srgbClr val="0000FF"/>
                </a:solidFill>
              </a:rPr>
              <a:t>章，</a:t>
            </a:r>
            <a:r>
              <a:rPr lang="en-US" altLang="zh-CN" sz="1800">
                <a:solidFill>
                  <a:srgbClr val="0000FF"/>
                </a:solidFill>
              </a:rPr>
              <a:t>7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视图</a:t>
            </a:r>
            <a:r>
              <a:rPr lang="en-US" altLang="zh-CN" sz="1800">
                <a:solidFill>
                  <a:srgbClr val="0000FF"/>
                </a:solidFill>
              </a:rPr>
              <a:t>+</a:t>
            </a:r>
            <a:r>
              <a:rPr lang="zh-CN" altLang="en-US" sz="1800">
                <a:solidFill>
                  <a:srgbClr val="0000FF"/>
                </a:solidFill>
              </a:rPr>
              <a:t>完整性约束</a:t>
            </a:r>
            <a:r>
              <a:rPr lang="en-US" altLang="zh-CN" sz="1800">
                <a:solidFill>
                  <a:srgbClr val="0000FF"/>
                </a:solidFill>
              </a:rPr>
              <a:t>+</a:t>
            </a:r>
            <a:r>
              <a:rPr lang="zh-CN" altLang="en-US" sz="1800">
                <a:solidFill>
                  <a:srgbClr val="0000FF"/>
                </a:solidFill>
              </a:rPr>
              <a:t>授权（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关系数据库设计与优化（</a:t>
            </a:r>
            <a:r>
              <a:rPr lang="en-US" altLang="zh-CN" sz="1800">
                <a:solidFill>
                  <a:srgbClr val="0000FF"/>
                </a:solidFill>
              </a:rPr>
              <a:t>8</a:t>
            </a:r>
            <a:r>
              <a:rPr lang="zh-CN" altLang="en-US" sz="1800">
                <a:solidFill>
                  <a:srgbClr val="0000FF"/>
                </a:solidFill>
              </a:rPr>
              <a:t>章）  </a:t>
            </a:r>
            <a:r>
              <a:rPr lang="en-US" altLang="zh-CN" sz="1800">
                <a:solidFill>
                  <a:srgbClr val="0000FF"/>
                </a:solidFill>
              </a:rPr>
              <a:t> </a:t>
            </a:r>
            <a:r>
              <a:rPr lang="en-US" altLang="zh-CN" sz="1800">
                <a:solidFill>
                  <a:srgbClr val="800000"/>
                </a:solidFill>
              </a:rPr>
              <a:t>---</a:t>
            </a:r>
            <a:r>
              <a:rPr lang="zh-CN" altLang="en-US" sz="1800">
                <a:solidFill>
                  <a:srgbClr val="800000"/>
                </a:solidFill>
              </a:rPr>
              <a:t>面向计算机实现！</a:t>
            </a:r>
            <a:endParaRPr lang="zh-CN" altLang="en-US" sz="1800">
              <a:solidFill>
                <a:srgbClr val="8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对象数据模型（</a:t>
            </a:r>
            <a:r>
              <a:rPr lang="en-US" altLang="zh-CN" sz="1800">
                <a:solidFill>
                  <a:srgbClr val="0000FF"/>
                </a:solidFill>
              </a:rPr>
              <a:t>22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1800">
                <a:solidFill>
                  <a:srgbClr val="0000FF"/>
                </a:solidFill>
              </a:rPr>
              <a:t>XML</a:t>
            </a:r>
            <a:r>
              <a:rPr lang="zh-CN" altLang="en-US" sz="1800">
                <a:solidFill>
                  <a:srgbClr val="0000FF"/>
                </a:solidFill>
              </a:rPr>
              <a:t>数据模型（</a:t>
            </a:r>
            <a:r>
              <a:rPr lang="en-US" altLang="zh-CN" sz="1800">
                <a:solidFill>
                  <a:srgbClr val="0000FF"/>
                </a:solidFill>
              </a:rPr>
              <a:t>23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4937" name="AutoShape 9"/>
          <p:cNvSpPr/>
          <p:nvPr/>
        </p:nvSpPr>
        <p:spPr bwMode="auto">
          <a:xfrm>
            <a:off x="5256213" y="4730750"/>
            <a:ext cx="242887" cy="1349375"/>
          </a:xfrm>
          <a:prstGeom prst="rightBrace">
            <a:avLst>
              <a:gd name="adj1" fmla="val 177084"/>
              <a:gd name="adj2" fmla="val 50000"/>
            </a:avLst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solidFill>
                <a:schemeClr val="tx2"/>
              </a:solidFill>
              <a:latin typeface="Tahoma" panose="020B0604030504040204" pitchFamily="2" charset="0"/>
            </a:endParaRPr>
          </a:p>
        </p:txBody>
      </p:sp>
      <p:sp>
        <p:nvSpPr>
          <p:cNvPr id="54276" name="AutoShape 10"/>
          <p:cNvSpPr>
            <a:spLocks noChangeArrowheads="1"/>
          </p:cNvSpPr>
          <p:nvPr/>
        </p:nvSpPr>
        <p:spPr bwMode="auto">
          <a:xfrm>
            <a:off x="6119813" y="1165225"/>
            <a:ext cx="2493962" cy="787400"/>
          </a:xfrm>
          <a:prstGeom prst="cloudCallout">
            <a:avLst>
              <a:gd name="adj1" fmla="val 49347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数据结构设计完成什么任务？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124942" name="Group 14"/>
          <p:cNvGrpSpPr/>
          <p:nvPr/>
        </p:nvGrpSpPr>
        <p:grpSpPr bwMode="auto">
          <a:xfrm>
            <a:off x="34925" y="2457450"/>
            <a:ext cx="2212975" cy="723900"/>
            <a:chOff x="126" y="1560"/>
            <a:chExt cx="1308" cy="456"/>
          </a:xfrm>
        </p:grpSpPr>
        <p:sp>
          <p:nvSpPr>
            <p:cNvPr id="54279" name="AutoShape 12"/>
            <p:cNvSpPr>
              <a:spLocks noChangeArrowheads="1"/>
            </p:cNvSpPr>
            <p:nvPr/>
          </p:nvSpPr>
          <p:spPr bwMode="auto">
            <a:xfrm>
              <a:off x="126" y="1560"/>
              <a:ext cx="1038" cy="45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66FF"/>
                  </a:solidFill>
                </a:rPr>
                <a:t>层次模型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网状模型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endParaRPr kumimoji="0" lang="en-US" altLang="zh-CN" sz="1400" b="0">
                <a:solidFill>
                  <a:srgbClr val="0066FF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66FF"/>
                  </a:solidFill>
                </a:rPr>
                <a:t>关系模型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对象模型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endParaRPr kumimoji="0" lang="en-US" altLang="zh-CN" sz="1400" b="0">
                <a:solidFill>
                  <a:srgbClr val="0066FF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400" b="0">
                  <a:solidFill>
                    <a:srgbClr val="0066FF"/>
                  </a:solidFill>
                </a:rPr>
                <a:t>XML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模型</a:t>
              </a:r>
              <a:endParaRPr kumimoji="0" lang="zh-CN" altLang="en-US" sz="1400" b="0">
                <a:solidFill>
                  <a:srgbClr val="0066FF"/>
                </a:solidFill>
              </a:endParaRPr>
            </a:p>
          </p:txBody>
        </p:sp>
        <p:sp>
          <p:nvSpPr>
            <p:cNvPr id="54280" name="Line 13"/>
            <p:cNvSpPr>
              <a:spLocks noChangeShapeType="1"/>
            </p:cNvSpPr>
            <p:nvPr/>
          </p:nvSpPr>
          <p:spPr bwMode="auto">
            <a:xfrm flipH="1">
              <a:off x="1170" y="1758"/>
              <a:ext cx="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8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7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内容占位符 2"/>
          <p:cNvSpPr>
            <a:spLocks noGrp="1"/>
          </p:cNvSpPr>
          <p:nvPr>
            <p:ph idx="1"/>
          </p:nvPr>
        </p:nvSpPr>
        <p:spPr>
          <a:xfrm>
            <a:off x="698500" y="860425"/>
            <a:ext cx="7772400" cy="3897313"/>
          </a:xfrm>
        </p:spPr>
        <p:txBody>
          <a:bodyPr/>
          <a:lstStyle/>
          <a:p>
            <a:endParaRPr lang="en-US" altLang="zh-CN" sz="2800" b="1"/>
          </a:p>
          <a:p>
            <a:r>
              <a:rPr lang="zh-CN" altLang="en-US" sz="2400" b="1"/>
              <a:t>概念结构设计是整个数据库设计的关键，通过对用户需求进行综合、归纳与抽象，形成一个独立于具体的</a:t>
            </a:r>
            <a:r>
              <a:rPr lang="en-US" altLang="zh-CN" sz="2400" b="1"/>
              <a:t>DBMS</a:t>
            </a:r>
            <a:r>
              <a:rPr lang="zh-CN" altLang="en-US" sz="2400" b="1"/>
              <a:t>的概念模型。</a:t>
            </a:r>
            <a:endParaRPr lang="en-US" altLang="zh-CN" sz="2400" b="1"/>
          </a:p>
          <a:p>
            <a:endParaRPr lang="en-US" altLang="zh-CN" sz="2400" b="1"/>
          </a:p>
          <a:p>
            <a:endParaRPr lang="en-US" altLang="zh-CN" sz="2400" b="1"/>
          </a:p>
          <a:p>
            <a:r>
              <a:rPr lang="zh-CN" altLang="en-US" sz="2400" b="1"/>
              <a:t>逻辑结构设计是将概念结构转换为某个</a:t>
            </a:r>
            <a:r>
              <a:rPr lang="en-US" altLang="zh-CN" sz="2400" b="1"/>
              <a:t>DBMS</a:t>
            </a:r>
            <a:r>
              <a:rPr lang="zh-CN" altLang="en-US" sz="2400" b="1"/>
              <a:t>所支持的数据模型，并对其进行优化。</a:t>
            </a:r>
            <a:endParaRPr lang="zh-CN" altLang="en-US" sz="2400" b="1"/>
          </a:p>
        </p:txBody>
      </p:sp>
      <p:sp>
        <p:nvSpPr>
          <p:cNvPr id="552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58FC9C-C508-4026-B0E3-A9233B5CA9E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5299" name="AutoShape 5"/>
          <p:cNvSpPr>
            <a:spLocks noChangeArrowheads="1"/>
          </p:cNvSpPr>
          <p:nvPr/>
        </p:nvSpPr>
        <p:spPr bwMode="auto">
          <a:xfrm>
            <a:off x="214313" y="646113"/>
            <a:ext cx="2108200" cy="720725"/>
          </a:xfrm>
          <a:prstGeom prst="cloudCallout">
            <a:avLst>
              <a:gd name="adj1" fmla="val -39264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概念结构设计是什么？</a:t>
            </a:r>
            <a:endParaRPr lang="zh-CN" altLang="en-US"/>
          </a:p>
        </p:txBody>
      </p:sp>
      <p:sp>
        <p:nvSpPr>
          <p:cNvPr id="55300" name="AutoShape 5"/>
          <p:cNvSpPr>
            <a:spLocks noChangeArrowheads="1"/>
          </p:cNvSpPr>
          <p:nvPr/>
        </p:nvSpPr>
        <p:spPr bwMode="auto">
          <a:xfrm>
            <a:off x="200025" y="2576513"/>
            <a:ext cx="2222500" cy="720725"/>
          </a:xfrm>
          <a:prstGeom prst="cloudCallout">
            <a:avLst>
              <a:gd name="adj1" fmla="val -39454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逻辑结构设计是什么？</a:t>
            </a:r>
            <a:endParaRPr lang="zh-CN" altLang="en-US"/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2422525" y="4275138"/>
            <a:ext cx="3960813" cy="23764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zh-CN" sz="2400">
              <a:solidFill>
                <a:schemeClr val="bg1"/>
              </a:solidFill>
            </a:endParaRP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261938" y="5068888"/>
            <a:ext cx="1008062" cy="7191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solidFill>
                  <a:schemeClr val="bg1"/>
                </a:solidFill>
              </a:rPr>
              <a:t>现  实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7389813" y="4995863"/>
            <a:ext cx="1081087" cy="7191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solidFill>
                  <a:schemeClr val="bg1"/>
                </a:solidFill>
              </a:rPr>
              <a:t>机  器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2493963" y="4922838"/>
            <a:ext cx="1008062" cy="936625"/>
          </a:xfrm>
          <a:prstGeom prst="ellipse">
            <a:avLst/>
          </a:prstGeom>
          <a:gradFill rotWithShape="1">
            <a:gsLst>
              <a:gs pos="0">
                <a:srgbClr val="734D10"/>
              </a:gs>
              <a:gs pos="100000">
                <a:srgbClr val="F8A622"/>
              </a:gs>
            </a:gsLst>
            <a:lin ang="2700000" scaled="1"/>
          </a:gradFill>
          <a:ln w="9525">
            <a:solidFill>
              <a:srgbClr val="F8A622"/>
            </a:solidFill>
            <a:rou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</a:rPr>
              <a:t>概念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模型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5229225" y="4922838"/>
            <a:ext cx="1081088" cy="914400"/>
          </a:xfrm>
          <a:prstGeom prst="ellipse">
            <a:avLst/>
          </a:prstGeom>
          <a:gradFill rotWithShape="1">
            <a:gsLst>
              <a:gs pos="0">
                <a:srgbClr val="734D10"/>
              </a:gs>
              <a:gs pos="100000">
                <a:srgbClr val="F8A622"/>
              </a:gs>
            </a:gsLst>
            <a:lin ang="2700000" scaled="1"/>
          </a:gradFill>
          <a:ln w="9525">
            <a:solidFill>
              <a:srgbClr val="F8A622"/>
            </a:solidFill>
            <a:rou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</a:rPr>
              <a:t>逻辑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模型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5306" name="Text Box 21"/>
          <p:cNvSpPr txBox="1">
            <a:spLocks noChangeArrowheads="1"/>
          </p:cNvSpPr>
          <p:nvPr/>
        </p:nvSpPr>
        <p:spPr bwMode="auto">
          <a:xfrm>
            <a:off x="3933825" y="6148388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bg1"/>
                </a:solidFill>
                <a:latin typeface="Tahoma" panose="020B0604030504040204" pitchFamily="2" charset="0"/>
              </a:rPr>
              <a:t>模型</a:t>
            </a:r>
            <a:endParaRPr kumimoji="0" lang="zh-CN" altLang="en-US" sz="2400">
              <a:solidFill>
                <a:schemeClr val="bg1"/>
              </a:solidFill>
              <a:latin typeface="Tahoma" panose="020B0604030504040204" pitchFamily="2" charset="0"/>
            </a:endParaRPr>
          </a:p>
        </p:txBody>
      </p:sp>
      <p:sp>
        <p:nvSpPr>
          <p:cNvPr id="55307" name="AutoShape 22"/>
          <p:cNvSpPr>
            <a:spLocks noChangeArrowheads="1"/>
          </p:cNvSpPr>
          <p:nvPr/>
        </p:nvSpPr>
        <p:spPr bwMode="auto">
          <a:xfrm>
            <a:off x="1292225" y="5356225"/>
            <a:ext cx="1068388" cy="215900"/>
          </a:xfrm>
          <a:prstGeom prst="rightArrow">
            <a:avLst>
              <a:gd name="adj1" fmla="val 50000"/>
              <a:gd name="adj2" fmla="val 123713"/>
            </a:avLst>
          </a:prstGeom>
          <a:solidFill>
            <a:srgbClr val="070605"/>
          </a:solidFill>
          <a:ln w="9525">
            <a:solidFill>
              <a:srgbClr val="070605"/>
            </a:solidFill>
            <a:miter lim="800000"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5308" name="AutoShape 23"/>
          <p:cNvSpPr>
            <a:spLocks noChangeArrowheads="1"/>
          </p:cNvSpPr>
          <p:nvPr/>
        </p:nvSpPr>
        <p:spPr bwMode="auto">
          <a:xfrm>
            <a:off x="6310313" y="5283200"/>
            <a:ext cx="1068387" cy="215900"/>
          </a:xfrm>
          <a:prstGeom prst="rightArrow">
            <a:avLst>
              <a:gd name="adj1" fmla="val 50000"/>
              <a:gd name="adj2" fmla="val 123713"/>
            </a:avLst>
          </a:prstGeom>
          <a:solidFill>
            <a:srgbClr val="070605"/>
          </a:solidFill>
          <a:ln w="9525">
            <a:solidFill>
              <a:srgbClr val="070605"/>
            </a:solidFill>
            <a:miter lim="800000"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5" name="Group 24"/>
          <p:cNvGrpSpPr/>
          <p:nvPr/>
        </p:nvGrpSpPr>
        <p:grpSpPr bwMode="auto">
          <a:xfrm>
            <a:off x="3502025" y="4922838"/>
            <a:ext cx="1800225" cy="576262"/>
            <a:chOff x="2290" y="1842"/>
            <a:chExt cx="998" cy="363"/>
          </a:xfrm>
        </p:grpSpPr>
        <p:sp>
          <p:nvSpPr>
            <p:cNvPr id="55312" name="AutoShape 25"/>
            <p:cNvSpPr>
              <a:spLocks noChangeArrowheads="1"/>
            </p:cNvSpPr>
            <p:nvPr/>
          </p:nvSpPr>
          <p:spPr bwMode="auto">
            <a:xfrm>
              <a:off x="2290" y="2069"/>
              <a:ext cx="998" cy="136"/>
            </a:xfrm>
            <a:prstGeom prst="rightArrow">
              <a:avLst>
                <a:gd name="adj1" fmla="val 50000"/>
                <a:gd name="adj2" fmla="val 18345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313" name="Text Box 26"/>
            <p:cNvSpPr txBox="1">
              <a:spLocks noChangeArrowheads="1"/>
            </p:cNvSpPr>
            <p:nvPr/>
          </p:nvSpPr>
          <p:spPr bwMode="auto">
            <a:xfrm>
              <a:off x="2493" y="1842"/>
              <a:ext cx="4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400">
                  <a:solidFill>
                    <a:srgbClr val="FFFF00"/>
                  </a:solidFill>
                  <a:latin typeface="Tahoma" panose="020B0604030504040204" pitchFamily="2" charset="0"/>
                </a:rPr>
                <a:t>转换</a:t>
              </a:r>
              <a:endParaRPr kumimoji="0" lang="zh-CN" altLang="en-US" sz="2400">
                <a:solidFill>
                  <a:srgbClr val="FFFF00"/>
                </a:solidFill>
                <a:latin typeface="Tahoma" panose="020B0604030504040204" pitchFamily="2" charset="0"/>
              </a:endParaRPr>
            </a:p>
          </p:txBody>
        </p:sp>
      </p:grpSp>
      <p:sp>
        <p:nvSpPr>
          <p:cNvPr id="55310" name="Text Box 27"/>
          <p:cNvSpPr txBox="1">
            <a:spLocks noChangeArrowheads="1"/>
          </p:cNvSpPr>
          <p:nvPr/>
        </p:nvSpPr>
        <p:spPr bwMode="auto">
          <a:xfrm>
            <a:off x="1341438" y="4922838"/>
            <a:ext cx="865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70605"/>
                </a:solidFill>
                <a:latin typeface="Tahoma" panose="020B0604030504040204" pitchFamily="2" charset="0"/>
              </a:rPr>
              <a:t>抽象</a:t>
            </a:r>
            <a:endParaRPr kumimoji="0" lang="zh-CN" altLang="en-US" sz="2400">
              <a:solidFill>
                <a:srgbClr val="070605"/>
              </a:solidFill>
              <a:latin typeface="Tahoma" panose="020B0604030504040204" pitchFamily="2" charset="0"/>
            </a:endParaRPr>
          </a:p>
        </p:txBody>
      </p:sp>
      <p:sp>
        <p:nvSpPr>
          <p:cNvPr id="55311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" t="14328" r="1120" b="10448"/>
          <a:stretch>
            <a:fillRect/>
          </a:stretch>
        </p:blipFill>
        <p:spPr bwMode="auto">
          <a:xfrm>
            <a:off x="3311525" y="2017713"/>
            <a:ext cx="5724525" cy="4033837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2" name="幻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A15ABA-3C80-4688-ABBE-DFCF8129D7A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2879725" y="908050"/>
            <a:ext cx="4213225" cy="708025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数据库视图技术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数据抽象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b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18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4" name="AutoShape 25"/>
          <p:cNvSpPr>
            <a:spLocks noChangeArrowheads="1"/>
          </p:cNvSpPr>
          <p:nvPr/>
        </p:nvSpPr>
        <p:spPr bwMode="auto">
          <a:xfrm>
            <a:off x="34925" y="1341438"/>
            <a:ext cx="3816350" cy="784225"/>
          </a:xfrm>
          <a:prstGeom prst="cloudCallout">
            <a:avLst>
              <a:gd name="adj1" fmla="val -46500"/>
              <a:gd name="adj2" fmla="val 6172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如何保证数据结构独立性</a:t>
            </a:r>
            <a:r>
              <a:rPr kumimoji="0" lang="zh-CN" altLang="zh-CN" sz="1600">
                <a:latin typeface="Tahoma" panose="020B0604030504040204" pitchFamily="2" charset="0"/>
              </a:rPr>
              <a:t>?</a:t>
            </a:r>
            <a:endParaRPr kumimoji="0" lang="en-US" altLang="zh-CN" sz="1600">
              <a:latin typeface="Tahoma" panose="020B0604030504040204" pitchFamily="2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>
                <a:latin typeface="Tahoma" panose="020B0604030504040204" pitchFamily="2" charset="0"/>
              </a:rPr>
              <a:t>(</a:t>
            </a:r>
            <a:r>
              <a:rPr kumimoji="0" lang="zh-CN" altLang="en-US" sz="1600">
                <a:latin typeface="Tahoma" panose="020B0604030504040204" pitchFamily="2" charset="0"/>
              </a:rPr>
              <a:t>应用程序与</a:t>
            </a:r>
            <a:r>
              <a:rPr kumimoji="0" lang="zh-CN" altLang="en-US" sz="1600">
                <a:latin typeface="Tahoma" panose="020B0604030504040204" pitchFamily="2" charset="0"/>
                <a:sym typeface="Wingdings" panose="05000000000000000000" pitchFamily="2" charset="2"/>
              </a:rPr>
              <a:t>物理数据</a:t>
            </a:r>
            <a:r>
              <a:rPr kumimoji="0" lang="zh-CN" altLang="en-US" sz="1600">
                <a:latin typeface="Tahoma" panose="020B0604030504040204" pitchFamily="2" charset="0"/>
              </a:rPr>
              <a:t>间</a:t>
            </a:r>
            <a:r>
              <a:rPr kumimoji="0" lang="en-US" altLang="zh-CN" sz="1600">
                <a:latin typeface="Tahoma" panose="020B0604030504040204" pitchFamily="2" charset="0"/>
              </a:rPr>
              <a:t>)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56325" name="Group 37"/>
          <p:cNvGrpSpPr/>
          <p:nvPr/>
        </p:nvGrpSpPr>
        <p:grpSpPr bwMode="auto">
          <a:xfrm>
            <a:off x="36513" y="3033713"/>
            <a:ext cx="3527425" cy="3149600"/>
            <a:chOff x="1" y="1384"/>
            <a:chExt cx="2148" cy="1984"/>
          </a:xfrm>
        </p:grpSpPr>
        <p:sp>
          <p:nvSpPr>
            <p:cNvPr id="56343" name="Rectangle 26"/>
            <p:cNvSpPr>
              <a:spLocks noChangeArrowheads="1"/>
            </p:cNvSpPr>
            <p:nvPr/>
          </p:nvSpPr>
          <p:spPr bwMode="auto">
            <a:xfrm>
              <a:off x="1" y="2622"/>
              <a:ext cx="1267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9999"/>
                  </a:solidFill>
                </a:rPr>
                <a:t>数据：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r>
                <a:rPr kumimoji="0" lang="zh-CN" altLang="en-US" sz="1400" b="0">
                  <a:solidFill>
                    <a:srgbClr val="009999"/>
                  </a:solidFill>
                </a:rPr>
                <a:t>按学号存放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br>
                <a:rPr kumimoji="0" lang="en-US" altLang="zh-CN" sz="1400" b="0">
                  <a:solidFill>
                    <a:srgbClr val="F6C438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(101,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张三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,20,CS,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男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(102,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李四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,18,CS,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女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(103,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王五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,19,EE,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女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    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r>
                <a:rPr kumimoji="0" lang="zh-CN" altLang="en-US" sz="1400" b="0">
                  <a:solidFill>
                    <a:srgbClr val="009999"/>
                  </a:solidFill>
                </a:rPr>
                <a:t>按年龄建索引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endParaRPr kumimoji="0" lang="en-US" altLang="zh-CN" sz="1400" b="0">
                <a:solidFill>
                  <a:srgbClr val="009999"/>
                </a:solidFill>
              </a:endParaRPr>
            </a:p>
          </p:txBody>
        </p:sp>
        <p:sp>
          <p:nvSpPr>
            <p:cNvPr id="56344" name="Rectangle 27"/>
            <p:cNvSpPr>
              <a:spLocks noChangeArrowheads="1"/>
            </p:cNvSpPr>
            <p:nvPr/>
          </p:nvSpPr>
          <p:spPr bwMode="auto">
            <a:xfrm>
              <a:off x="1" y="2199"/>
              <a:ext cx="1973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9999"/>
                  </a:solidFill>
                </a:rPr>
                <a:t>结构：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zh-CN" altLang="en-US" sz="1600" b="0">
                  <a:solidFill>
                    <a:srgbClr val="009999"/>
                  </a:solidFill>
                </a:rPr>
                <a:t>学生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en-US" altLang="zh-CN" sz="1600" b="0">
                  <a:solidFill>
                    <a:srgbClr val="009999"/>
                  </a:solidFill>
                </a:rPr>
                <a:t>        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zh-CN" altLang="en-US" sz="1600" b="0">
                  <a:solidFill>
                    <a:srgbClr val="009999"/>
                  </a:solidFill>
                </a:rPr>
                <a:t>宿舍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br>
                <a:rPr kumimoji="0" lang="en-US" altLang="zh-CN" sz="1600" b="0">
                  <a:solidFill>
                    <a:srgbClr val="009999"/>
                  </a:solidFill>
                </a:rPr>
              </a:br>
              <a:r>
                <a:rPr kumimoji="0" lang="en-US" altLang="zh-CN" sz="12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姓名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年龄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专业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性别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200" b="0">
                  <a:solidFill>
                    <a:srgbClr val="0066FF"/>
                  </a:solidFill>
                </a:rPr>
              </a:br>
              <a:endParaRPr kumimoji="0" lang="en-US" altLang="zh-CN" sz="1400" b="0">
                <a:solidFill>
                  <a:srgbClr val="0066FF"/>
                </a:solidFill>
              </a:endParaRPr>
            </a:p>
          </p:txBody>
        </p:sp>
        <p:sp>
          <p:nvSpPr>
            <p:cNvPr id="56345" name="Rectangle 28"/>
            <p:cNvSpPr>
              <a:spLocks noChangeArrowheads="1"/>
            </p:cNvSpPr>
            <p:nvPr/>
          </p:nvSpPr>
          <p:spPr bwMode="auto">
            <a:xfrm>
              <a:off x="614" y="1407"/>
              <a:ext cx="1271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9999"/>
                  </a:solidFill>
                </a:rPr>
                <a:t>视图：</a:t>
              </a:r>
              <a:br>
                <a:rPr kumimoji="0" lang="zh-CN" altLang="en-US" sz="1400" b="0">
                  <a:solidFill>
                    <a:srgbClr val="009999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姓名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专业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宿舍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endParaRPr kumimoji="0" lang="en-US" altLang="zh-CN" sz="1400" b="0">
                <a:solidFill>
                  <a:srgbClr val="0066FF"/>
                </a:solidFill>
              </a:endParaRPr>
            </a:p>
          </p:txBody>
        </p:sp>
        <p:sp>
          <p:nvSpPr>
            <p:cNvPr id="56346" name="Rectangle 29"/>
            <p:cNvSpPr>
              <a:spLocks noChangeArrowheads="1"/>
            </p:cNvSpPr>
            <p:nvPr/>
          </p:nvSpPr>
          <p:spPr bwMode="auto">
            <a:xfrm>
              <a:off x="1178" y="2736"/>
              <a:ext cx="971" cy="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olidFill>
                    <a:srgbClr val="0066FF"/>
                  </a:solidFill>
                </a:rPr>
                <a:t>(101,5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201)</a:t>
              </a:r>
              <a:br>
                <a:rPr kumimoji="0" lang="en-US" altLang="zh-CN" sz="1600" b="0">
                  <a:solidFill>
                    <a:srgbClr val="0066FF"/>
                  </a:solidFill>
                </a:rPr>
              </a:br>
              <a:r>
                <a:rPr kumimoji="0" lang="en-US" altLang="zh-CN" sz="1600" b="0">
                  <a:solidFill>
                    <a:srgbClr val="0066FF"/>
                  </a:solidFill>
                </a:rPr>
                <a:t>(102,4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402)</a:t>
              </a:r>
              <a:br>
                <a:rPr kumimoji="0" lang="en-US" altLang="zh-CN" sz="1600" b="0">
                  <a:solidFill>
                    <a:srgbClr val="0066FF"/>
                  </a:solidFill>
                </a:rPr>
              </a:br>
              <a:r>
                <a:rPr kumimoji="0" lang="en-US" altLang="zh-CN" sz="1600" b="0">
                  <a:solidFill>
                    <a:srgbClr val="0066FF"/>
                  </a:solidFill>
                </a:rPr>
                <a:t>(103,4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402)</a:t>
              </a:r>
              <a:endParaRPr kumimoji="0" lang="en-US" altLang="zh-CN" sz="1600" b="0">
                <a:solidFill>
                  <a:srgbClr val="0066FF"/>
                </a:solidFill>
              </a:endParaRPr>
            </a:p>
          </p:txBody>
        </p:sp>
        <p:sp>
          <p:nvSpPr>
            <p:cNvPr id="56347" name="Rectangle 30"/>
            <p:cNvSpPr>
              <a:spLocks noChangeArrowheads="1"/>
            </p:cNvSpPr>
            <p:nvPr/>
          </p:nvSpPr>
          <p:spPr bwMode="auto">
            <a:xfrm>
              <a:off x="1294" y="2259"/>
              <a:ext cx="676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宿舍号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200" b="0">
                  <a:solidFill>
                    <a:srgbClr val="0066FF"/>
                  </a:solidFill>
                </a:rPr>
              </a:br>
              <a:endParaRPr kumimoji="0" lang="en-US" altLang="zh-CN" sz="1200" b="0">
                <a:solidFill>
                  <a:srgbClr val="0066FF"/>
                </a:solidFill>
              </a:endParaRPr>
            </a:p>
          </p:txBody>
        </p:sp>
        <p:sp>
          <p:nvSpPr>
            <p:cNvPr id="56348" name="Rectangle 31"/>
            <p:cNvSpPr>
              <a:spLocks noChangeArrowheads="1"/>
            </p:cNvSpPr>
            <p:nvPr/>
          </p:nvSpPr>
          <p:spPr bwMode="auto">
            <a:xfrm>
              <a:off x="66" y="1384"/>
              <a:ext cx="5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0066FF"/>
                  </a:solidFill>
                  <a:latin typeface="Tahoma" panose="020B0604030504040204" pitchFamily="2" charset="0"/>
                </a:rPr>
                <a:t>案例：</a:t>
              </a:r>
              <a:endParaRPr kumimoji="0" lang="zh-CN" altLang="en-US" sz="1800">
                <a:solidFill>
                  <a:srgbClr val="0066FF"/>
                </a:solidFill>
                <a:latin typeface="Tahoma" panose="020B0604030504040204" pitchFamily="2" charset="0"/>
              </a:endParaRPr>
            </a:p>
          </p:txBody>
        </p:sp>
        <p:sp>
          <p:nvSpPr>
            <p:cNvPr id="56349" name="AutoShape 33"/>
            <p:cNvSpPr>
              <a:spLocks noChangeArrowheads="1"/>
            </p:cNvSpPr>
            <p:nvPr/>
          </p:nvSpPr>
          <p:spPr bwMode="auto">
            <a:xfrm>
              <a:off x="461" y="2460"/>
              <a:ext cx="68" cy="174"/>
            </a:xfrm>
            <a:prstGeom prst="upDownArrow">
              <a:avLst>
                <a:gd name="adj1" fmla="val 50000"/>
                <a:gd name="adj2" fmla="val 51176"/>
              </a:avLst>
            </a:prstGeom>
            <a:solidFill>
              <a:srgbClr val="FFCC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200">
                <a:latin typeface="Tahoma" panose="020B0604030504040204" pitchFamily="2" charset="0"/>
              </a:endParaRPr>
            </a:p>
          </p:txBody>
        </p:sp>
        <p:sp>
          <p:nvSpPr>
            <p:cNvPr id="56350" name="AutoShape 34"/>
            <p:cNvSpPr>
              <a:spLocks noChangeArrowheads="1"/>
            </p:cNvSpPr>
            <p:nvPr/>
          </p:nvSpPr>
          <p:spPr bwMode="auto">
            <a:xfrm>
              <a:off x="1404" y="2486"/>
              <a:ext cx="69" cy="174"/>
            </a:xfrm>
            <a:prstGeom prst="upDownArrow">
              <a:avLst>
                <a:gd name="adj1" fmla="val 50000"/>
                <a:gd name="adj2" fmla="val 51170"/>
              </a:avLst>
            </a:prstGeom>
            <a:solidFill>
              <a:srgbClr val="FFCC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200">
                <a:latin typeface="Tahoma" panose="020B0604030504040204" pitchFamily="2" charset="0"/>
              </a:endParaRPr>
            </a:p>
          </p:txBody>
        </p:sp>
        <p:sp>
          <p:nvSpPr>
            <p:cNvPr id="56351" name="Line 35"/>
            <p:cNvSpPr>
              <a:spLocks noChangeShapeType="1"/>
            </p:cNvSpPr>
            <p:nvPr/>
          </p:nvSpPr>
          <p:spPr bwMode="auto">
            <a:xfrm flipH="1">
              <a:off x="505" y="1679"/>
              <a:ext cx="285" cy="535"/>
            </a:xfrm>
            <a:prstGeom prst="line">
              <a:avLst/>
            </a:prstGeom>
            <a:noFill/>
            <a:ln w="28575">
              <a:solidFill>
                <a:srgbClr val="F6C438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2" name="Line 36"/>
            <p:cNvSpPr>
              <a:spLocks noChangeShapeType="1"/>
            </p:cNvSpPr>
            <p:nvPr/>
          </p:nvSpPr>
          <p:spPr bwMode="auto">
            <a:xfrm>
              <a:off x="790" y="1679"/>
              <a:ext cx="636" cy="535"/>
            </a:xfrm>
            <a:prstGeom prst="line">
              <a:avLst/>
            </a:prstGeom>
            <a:noFill/>
            <a:ln w="28575">
              <a:solidFill>
                <a:srgbClr val="F6C438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 3"/>
          <p:cNvGrpSpPr/>
          <p:nvPr/>
        </p:nvGrpSpPr>
        <p:grpSpPr bwMode="auto">
          <a:xfrm>
            <a:off x="3313113" y="3522663"/>
            <a:ext cx="5002212" cy="1309687"/>
            <a:chOff x="3313694" y="3522910"/>
            <a:chExt cx="5002213" cy="1309242"/>
          </a:xfrm>
        </p:grpSpPr>
        <p:sp>
          <p:nvSpPr>
            <p:cNvPr id="56337" name="Rectangle 8"/>
            <p:cNvSpPr>
              <a:spLocks noChangeArrowheads="1"/>
            </p:cNvSpPr>
            <p:nvPr/>
          </p:nvSpPr>
          <p:spPr bwMode="auto">
            <a:xfrm>
              <a:off x="4499556" y="3968845"/>
              <a:ext cx="2592389" cy="179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</a:rPr>
                <a:t>第一级映射</a:t>
              </a:r>
              <a:endParaRPr kumimoji="0" lang="zh-CN" altLang="en-US" sz="1600" b="0"/>
            </a:p>
          </p:txBody>
        </p:sp>
        <p:sp>
          <p:nvSpPr>
            <p:cNvPr id="56338" name="Rectangle 17"/>
            <p:cNvSpPr>
              <a:spLocks noChangeArrowheads="1"/>
            </p:cNvSpPr>
            <p:nvPr/>
          </p:nvSpPr>
          <p:spPr bwMode="auto">
            <a:xfrm>
              <a:off x="3313694" y="4005346"/>
              <a:ext cx="1835150" cy="826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/>
                <a:t>具有两级独立：</a:t>
              </a:r>
              <a:br>
                <a:rPr kumimoji="0" lang="zh-CN" altLang="en-US" sz="1600">
                  <a:solidFill>
                    <a:schemeClr val="tx2"/>
                  </a:solidFill>
                </a:rPr>
              </a:br>
              <a:r>
                <a:rPr kumimoji="0" lang="zh-CN" altLang="en-US" sz="1600"/>
                <a:t>支持应用独立性</a:t>
              </a:r>
              <a:endParaRPr kumimoji="0" lang="zh-CN" altLang="en-US" sz="1600"/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 flipV="1">
              <a:off x="4898019" y="4154520"/>
              <a:ext cx="325437" cy="32215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Rectangle 23"/>
            <p:cNvSpPr>
              <a:spLocks noChangeArrowheads="1"/>
            </p:cNvSpPr>
            <p:nvPr/>
          </p:nvSpPr>
          <p:spPr bwMode="auto">
            <a:xfrm>
              <a:off x="6325182" y="4473499"/>
              <a:ext cx="1990725" cy="338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        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数据逻辑结构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41" name="Rectangle 24"/>
            <p:cNvSpPr>
              <a:spLocks noChangeArrowheads="1"/>
            </p:cNvSpPr>
            <p:nvPr/>
          </p:nvSpPr>
          <p:spPr bwMode="auto">
            <a:xfrm>
              <a:off x="6264857" y="3522910"/>
              <a:ext cx="1601788" cy="338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数据逻辑重构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42" name="AutoShape 14"/>
            <p:cNvSpPr>
              <a:spLocks noChangeArrowheads="1"/>
            </p:cNvSpPr>
            <p:nvPr/>
          </p:nvSpPr>
          <p:spPr bwMode="auto">
            <a:xfrm>
              <a:off x="5794956" y="3897433"/>
              <a:ext cx="107950" cy="215827"/>
            </a:xfrm>
            <a:prstGeom prst="upDownArrow">
              <a:avLst>
                <a:gd name="adj1" fmla="val 50000"/>
                <a:gd name="adj2" fmla="val 39996"/>
              </a:avLst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</p:grpSp>
      <p:sp>
        <p:nvSpPr>
          <p:cNvPr id="140328" name="Rectangle 40"/>
          <p:cNvSpPr>
            <a:spLocks noChangeArrowheads="1"/>
          </p:cNvSpPr>
          <p:nvPr/>
        </p:nvSpPr>
        <p:spPr bwMode="auto">
          <a:xfrm>
            <a:off x="4572000" y="1557338"/>
            <a:ext cx="3633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0066FF"/>
                </a:solidFill>
              </a:rPr>
              <a:t>“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三层模式</a:t>
            </a:r>
            <a:r>
              <a:rPr kumimoji="0" lang="en-US" altLang="zh-CN" sz="2000">
                <a:solidFill>
                  <a:srgbClr val="0066FF"/>
                </a:solidFill>
                <a:latin typeface="Tahoma" panose="020B0604030504040204" pitchFamily="2" charset="0"/>
              </a:rPr>
              <a:t>-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两级映射</a:t>
            </a:r>
            <a:r>
              <a:rPr kumimoji="0" lang="zh-CN" altLang="en-US" sz="2000">
                <a:solidFill>
                  <a:srgbClr val="0066FF"/>
                </a:solidFill>
              </a:rPr>
              <a:t>”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及优点</a:t>
            </a:r>
            <a:endParaRPr kumimoji="0" lang="zh-CN" altLang="en-US" sz="2000">
              <a:solidFill>
                <a:srgbClr val="0066FF"/>
              </a:solidFill>
              <a:latin typeface="Tahoma" panose="020B0604030504040204" pitchFamily="2" charset="0"/>
            </a:endParaRPr>
          </a:p>
        </p:txBody>
      </p:sp>
      <p:sp>
        <p:nvSpPr>
          <p:cNvPr id="56328" name="Rectangle 42"/>
          <p:cNvSpPr>
            <a:spLocks noChangeArrowheads="1"/>
          </p:cNvSpPr>
          <p:nvPr/>
        </p:nvSpPr>
        <p:spPr bwMode="auto">
          <a:xfrm>
            <a:off x="1008063" y="2349500"/>
            <a:ext cx="901700" cy="30638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2" charset="0"/>
              </a:rPr>
              <a:t>应用程序</a:t>
            </a:r>
            <a:endParaRPr kumimoji="0" lang="zh-CN" altLang="en-US" sz="1400" b="0">
              <a:solidFill>
                <a:srgbClr val="0066FF"/>
              </a:solidFill>
              <a:latin typeface="Tahoma" panose="020B0604030504040204" pitchFamily="2" charset="0"/>
            </a:endParaRPr>
          </a:p>
        </p:txBody>
      </p:sp>
      <p:sp>
        <p:nvSpPr>
          <p:cNvPr id="56329" name="AutoShape 43"/>
          <p:cNvSpPr>
            <a:spLocks noChangeArrowheads="1"/>
          </p:cNvSpPr>
          <p:nvPr/>
        </p:nvSpPr>
        <p:spPr bwMode="auto">
          <a:xfrm>
            <a:off x="1343025" y="2711450"/>
            <a:ext cx="117475" cy="276225"/>
          </a:xfrm>
          <a:prstGeom prst="upDownArrow">
            <a:avLst>
              <a:gd name="adj1" fmla="val 50000"/>
              <a:gd name="adj2" fmla="val 47027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grpSp>
        <p:nvGrpSpPr>
          <p:cNvPr id="5" name="组 4"/>
          <p:cNvGrpSpPr/>
          <p:nvPr/>
        </p:nvGrpSpPr>
        <p:grpSpPr bwMode="auto">
          <a:xfrm>
            <a:off x="3333750" y="4638675"/>
            <a:ext cx="4951413" cy="1287463"/>
            <a:chOff x="3334263" y="4638618"/>
            <a:chExt cx="4951482" cy="1287672"/>
          </a:xfrm>
        </p:grpSpPr>
        <p:sp>
          <p:nvSpPr>
            <p:cNvPr id="56332" name="Rectangle 13"/>
            <p:cNvSpPr>
              <a:spLocks noChangeArrowheads="1"/>
            </p:cNvSpPr>
            <p:nvPr/>
          </p:nvSpPr>
          <p:spPr bwMode="auto">
            <a:xfrm>
              <a:off x="4536018" y="5013329"/>
              <a:ext cx="2592423" cy="179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</a:rPr>
                <a:t>第二级映射</a:t>
              </a:r>
              <a:endParaRPr kumimoji="0" lang="zh-CN" altLang="en-US" sz="1600" b="0"/>
            </a:p>
          </p:txBody>
        </p:sp>
        <p:sp>
          <p:nvSpPr>
            <p:cNvPr id="56333" name="AutoShape 15"/>
            <p:cNvSpPr>
              <a:spLocks noChangeArrowheads="1"/>
            </p:cNvSpPr>
            <p:nvPr/>
          </p:nvSpPr>
          <p:spPr bwMode="auto">
            <a:xfrm>
              <a:off x="5759997" y="4975223"/>
              <a:ext cx="107952" cy="215935"/>
            </a:xfrm>
            <a:prstGeom prst="upDownArrow">
              <a:avLst>
                <a:gd name="adj1" fmla="val 50000"/>
                <a:gd name="adj2" fmla="val 39996"/>
              </a:avLst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  <p:sp>
          <p:nvSpPr>
            <p:cNvPr id="56334" name="Line 20"/>
            <p:cNvSpPr>
              <a:spLocks noChangeShapeType="1"/>
            </p:cNvSpPr>
            <p:nvPr/>
          </p:nvSpPr>
          <p:spPr bwMode="auto">
            <a:xfrm>
              <a:off x="4212163" y="5014917"/>
              <a:ext cx="395293" cy="10796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Rectangle 22"/>
            <p:cNvSpPr>
              <a:spLocks noChangeArrowheads="1"/>
            </p:cNvSpPr>
            <p:nvPr/>
          </p:nvSpPr>
          <p:spPr bwMode="auto">
            <a:xfrm>
              <a:off x="6776011" y="5588097"/>
              <a:ext cx="1509734" cy="338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数据物理存储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36" name="矩形 1"/>
            <p:cNvSpPr>
              <a:spLocks noChangeArrowheads="1"/>
            </p:cNvSpPr>
            <p:nvPr/>
          </p:nvSpPr>
          <p:spPr bwMode="auto">
            <a:xfrm>
              <a:off x="3334263" y="4638618"/>
              <a:ext cx="163378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/>
                <a:t>支持物理独立性</a:t>
              </a: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</p:grpSp>
      <p:sp>
        <p:nvSpPr>
          <p:cNvPr id="56331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38BC84-DDD9-43A7-9831-A40D022EE07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9725" y="1412875"/>
            <a:ext cx="5292725" cy="4824413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400" b="1"/>
              <a:t>数据存储设计</a:t>
            </a:r>
            <a:r>
              <a:rPr lang="en-US" altLang="zh-CN" sz="2400"/>
              <a:t>(</a:t>
            </a:r>
            <a:r>
              <a:rPr lang="zh-CN" altLang="en-US" sz="24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物理设计</a:t>
            </a:r>
            <a:r>
              <a:rPr lang="en-US" altLang="zh-CN" sz="2400"/>
              <a:t>)</a:t>
            </a:r>
            <a:endParaRPr lang="en-US" altLang="zh-CN" sz="2400"/>
          </a:p>
          <a:p>
            <a:pPr lvl="1">
              <a:lnSpc>
                <a:spcPct val="105000"/>
              </a:lnSpc>
            </a:pPr>
            <a:r>
              <a:rPr lang="zh-CN" altLang="en-US" sz="2000"/>
              <a:t>分析数据需求和使用需要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对关联数据的使用要求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访问效率要求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安全性要求</a:t>
            </a:r>
            <a:endParaRPr lang="zh-CN" altLang="en-US" sz="2000"/>
          </a:p>
          <a:p>
            <a:pPr lvl="1">
              <a:lnSpc>
                <a:spcPct val="105000"/>
              </a:lnSpc>
            </a:pPr>
            <a:r>
              <a:rPr lang="zh-CN" altLang="en-US" sz="2000"/>
              <a:t>设计数据物理存储模式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如何数据存放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如何支持快速访问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如何保证数据安全*</a:t>
            </a:r>
            <a:endParaRPr lang="zh-CN" altLang="en-US" sz="2000"/>
          </a:p>
          <a:p>
            <a:pPr>
              <a:lnSpc>
                <a:spcPct val="105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相关数据库技术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05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存储和文件结构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en-US" altLang="zh-CN" sz="2000">
                <a:solidFill>
                  <a:srgbClr val="0000FF"/>
                </a:solidFill>
              </a:rPr>
              <a:t>(10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)</a:t>
            </a:r>
            <a:endParaRPr lang="en-US" altLang="zh-CN" sz="2000">
              <a:solidFill>
                <a:srgbClr val="0000FF"/>
              </a:solidFill>
            </a:endParaRPr>
          </a:p>
          <a:p>
            <a:pPr lvl="1">
              <a:lnSpc>
                <a:spcPct val="105000"/>
              </a:lnSpc>
            </a:pPr>
            <a:r>
              <a:rPr lang="zh-CN" altLang="en-US" sz="2000">
                <a:solidFill>
                  <a:srgbClr val="0000FF"/>
                </a:solidFill>
              </a:rPr>
              <a:t>索引与散列</a:t>
            </a:r>
            <a:r>
              <a:rPr lang="en-US" altLang="zh-CN" sz="2000">
                <a:solidFill>
                  <a:srgbClr val="0000FF"/>
                </a:solidFill>
              </a:rPr>
              <a:t>(11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)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7347" name="Text Box 7"/>
          <p:cNvSpPr txBox="1">
            <a:spLocks noChangeArrowheads="1"/>
          </p:cNvSpPr>
          <p:nvPr/>
        </p:nvSpPr>
        <p:spPr bwMode="auto">
          <a:xfrm>
            <a:off x="611188" y="703263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数据存储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8" name="AutoShape 9"/>
          <p:cNvSpPr>
            <a:spLocks noChangeArrowheads="1"/>
          </p:cNvSpPr>
          <p:nvPr/>
        </p:nvSpPr>
        <p:spPr bwMode="auto">
          <a:xfrm>
            <a:off x="487363" y="1736725"/>
            <a:ext cx="2463800" cy="900113"/>
          </a:xfrm>
          <a:prstGeom prst="cloudCallout">
            <a:avLst>
              <a:gd name="adj1" fmla="val -38245"/>
              <a:gd name="adj2" fmla="val 814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数据存储设计的任务是什么?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7349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FFDF5-8A54-4DE9-91A7-9AD1B8630365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3213" y="1943100"/>
            <a:ext cx="4824412" cy="41148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zh-CN" altLang="en-US" sz="2000"/>
              <a:t>分析数据查询要求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zh-CN" altLang="en-US" sz="2000"/>
              <a:t>设计数据访问方法</a:t>
            </a:r>
            <a:endParaRPr lang="zh-CN" altLang="en-US" sz="2000"/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相关数据库技术：</a:t>
            </a:r>
            <a:endParaRPr lang="zh-CN" altLang="en-US" sz="200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3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中级</a:t>
            </a: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4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高级</a:t>
            </a: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查询处理（</a:t>
            </a:r>
            <a:r>
              <a:rPr lang="en-US" altLang="zh-CN" sz="2000">
                <a:solidFill>
                  <a:srgbClr val="0000FF"/>
                </a:solidFill>
              </a:rPr>
              <a:t>12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查询优化（</a:t>
            </a:r>
            <a:r>
              <a:rPr lang="en-US" altLang="zh-CN" sz="2000">
                <a:solidFill>
                  <a:srgbClr val="0000FF"/>
                </a:solidFill>
              </a:rPr>
              <a:t>13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信息检索（</a:t>
            </a:r>
            <a:r>
              <a:rPr lang="en-US" altLang="zh-CN" sz="2000">
                <a:solidFill>
                  <a:srgbClr val="0000FF"/>
                </a:solidFill>
              </a:rPr>
              <a:t>21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8371" name="AutoShape 5"/>
          <p:cNvSpPr>
            <a:spLocks noChangeArrowheads="1"/>
          </p:cNvSpPr>
          <p:nvPr/>
        </p:nvSpPr>
        <p:spPr bwMode="auto">
          <a:xfrm>
            <a:off x="358775" y="1160463"/>
            <a:ext cx="2413000" cy="711200"/>
          </a:xfrm>
          <a:prstGeom prst="cloudCallout">
            <a:avLst>
              <a:gd name="adj1" fmla="val -38292"/>
              <a:gd name="adj2" fmla="val 814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数据访问设计的任务？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8372" name="Text Box 7"/>
          <p:cNvSpPr txBox="1">
            <a:spLocks noChangeArrowheads="1"/>
          </p:cNvSpPr>
          <p:nvPr/>
        </p:nvSpPr>
        <p:spPr bwMode="auto">
          <a:xfrm>
            <a:off x="611188" y="703263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数据存储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3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7CE87B-EA32-4527-8A05-4FBE27AF1F44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65238" y="2384425"/>
            <a:ext cx="6367462" cy="3863975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zh-CN" altLang="en-US" sz="2000"/>
              <a:t>如何控制数据处理过程（系统架构）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如何支持多用户并发访问</a:t>
            </a:r>
            <a:endParaRPr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相关数据库技术：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事务管理（</a:t>
            </a:r>
            <a:r>
              <a:rPr lang="en-US" altLang="zh-CN" sz="2000">
                <a:solidFill>
                  <a:srgbClr val="0000FF"/>
                </a:solidFill>
              </a:rPr>
              <a:t>14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并发控制（</a:t>
            </a:r>
            <a:r>
              <a:rPr lang="en-US" altLang="zh-CN" sz="2000">
                <a:solidFill>
                  <a:srgbClr val="0000FF"/>
                </a:solidFill>
              </a:rPr>
              <a:t>15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数据库系统的体系结构（</a:t>
            </a:r>
            <a:r>
              <a:rPr lang="en-US" altLang="zh-CN" sz="2000">
                <a:solidFill>
                  <a:srgbClr val="0000FF"/>
                </a:solidFill>
              </a:rPr>
              <a:t>17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并行数据库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18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分布式数据库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19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9395" name="AutoShape 4"/>
          <p:cNvSpPr>
            <a:spLocks noChangeArrowheads="1"/>
          </p:cNvSpPr>
          <p:nvPr/>
        </p:nvSpPr>
        <p:spPr bwMode="auto">
          <a:xfrm>
            <a:off x="358775" y="1412875"/>
            <a:ext cx="3060700" cy="720725"/>
          </a:xfrm>
          <a:prstGeom prst="cloudCallout">
            <a:avLst>
              <a:gd name="adj1" fmla="val -40769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数据控制设计的任务是什么？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9396" name="Text Box 7"/>
          <p:cNvSpPr txBox="1">
            <a:spLocks noChangeArrowheads="1"/>
          </p:cNvSpPr>
          <p:nvPr/>
        </p:nvSpPr>
        <p:spPr bwMode="auto">
          <a:xfrm>
            <a:off x="504825" y="788988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数据控制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693BFE-55AF-488A-99F7-A5D9E3B28CC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484313"/>
            <a:ext cx="6440487" cy="44894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b="1"/>
              <a:t>数据维护的任务</a:t>
            </a:r>
            <a:endParaRPr lang="zh-CN" altLang="en-US" sz="2400"/>
          </a:p>
          <a:p>
            <a:pPr lvl="1">
              <a:lnSpc>
                <a:spcPct val="110000"/>
              </a:lnSpc>
            </a:pPr>
            <a:r>
              <a:rPr lang="zh-CN" altLang="en-US" sz="2000"/>
              <a:t>数据录入与更新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更改数据结构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更改用户访问权限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备份和恢复数据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相关数据库技术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语言（</a:t>
            </a:r>
            <a:r>
              <a:rPr lang="en-US" altLang="zh-CN" sz="2000">
                <a:solidFill>
                  <a:srgbClr val="0000FF"/>
                </a:solidFill>
              </a:rPr>
              <a:t>3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,4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,5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备份与恢复系统（</a:t>
            </a:r>
            <a:r>
              <a:rPr lang="en-US" altLang="zh-CN" sz="2000">
                <a:solidFill>
                  <a:srgbClr val="0000FF"/>
                </a:solidFill>
              </a:rPr>
              <a:t>16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60419" name="AutoShape 10"/>
          <p:cNvSpPr>
            <a:spLocks noChangeArrowheads="1"/>
          </p:cNvSpPr>
          <p:nvPr/>
        </p:nvSpPr>
        <p:spPr bwMode="auto">
          <a:xfrm>
            <a:off x="5445125" y="1943100"/>
            <a:ext cx="2682875" cy="787400"/>
          </a:xfrm>
          <a:prstGeom prst="cloudCallout">
            <a:avLst>
              <a:gd name="adj1" fmla="val 49292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数据维护的任务和重要性？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54ACB6-944B-466F-B45F-087052D21ADE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9850" y="1190625"/>
            <a:ext cx="6623050" cy="50117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 b="1"/>
              <a:t>应用开发的任务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1800"/>
              <a:t>算法与程序实现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如何提高开发效率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如何高效访问数据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数据分析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0000FF"/>
                </a:solidFill>
              </a:rPr>
              <a:t>相关据库技术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数据视图（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嵌入式</a:t>
            </a:r>
            <a:r>
              <a:rPr lang="en-US" altLang="zh-CN" sz="1800">
                <a:solidFill>
                  <a:srgbClr val="0000FF"/>
                </a:solidFill>
              </a:rPr>
              <a:t>SQL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完整性约束（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索引技术（</a:t>
            </a:r>
            <a:r>
              <a:rPr lang="en-US" altLang="zh-CN" sz="1800">
                <a:solidFill>
                  <a:srgbClr val="0000FF"/>
                </a:solidFill>
              </a:rPr>
              <a:t>11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用户访问授权（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存储过程</a:t>
            </a:r>
            <a:r>
              <a:rPr lang="en-US" altLang="zh-CN" sz="1800">
                <a:solidFill>
                  <a:srgbClr val="0000FF"/>
                </a:solidFill>
              </a:rPr>
              <a:t>[</a:t>
            </a:r>
            <a:r>
              <a:rPr lang="zh-CN" altLang="en-US" sz="1800">
                <a:solidFill>
                  <a:srgbClr val="0000FF"/>
                </a:solidFill>
              </a:rPr>
              <a:t>函数，过程，触发器</a:t>
            </a:r>
            <a:r>
              <a:rPr lang="en-US" altLang="zh-CN" sz="1800">
                <a:solidFill>
                  <a:srgbClr val="0000FF"/>
                </a:solidFill>
              </a:rPr>
              <a:t>]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数据创库与数据挖掘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20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61443" name="AutoShape 8"/>
          <p:cNvSpPr>
            <a:spLocks noChangeArrowheads="1"/>
          </p:cNvSpPr>
          <p:nvPr/>
        </p:nvSpPr>
        <p:spPr bwMode="auto">
          <a:xfrm>
            <a:off x="5207000" y="2066925"/>
            <a:ext cx="3006725" cy="787400"/>
          </a:xfrm>
          <a:prstGeom prst="cloudCallout">
            <a:avLst>
              <a:gd name="adj1" fmla="val 49366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应用功能开发需要数据库技术吗？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0385" y="1042670"/>
            <a:ext cx="8225790" cy="55683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4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国产数据库</a:t>
            </a:r>
            <a:endParaRPr lang="zh-CN" sz="2400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20</a:t>
            </a:r>
            <a:r>
              <a:rPr lang="zh-CN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世纪</a:t>
            </a:r>
            <a:r>
              <a:rPr lang="en-US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70</a:t>
            </a:r>
            <a:r>
              <a:rPr lang="zh-CN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年代</a:t>
            </a:r>
            <a:r>
              <a:rPr lang="en-US" altLang="zh-CN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---</a:t>
            </a:r>
            <a:r>
              <a:rPr lang="zh-CN" altLang="en-US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引进</a:t>
            </a:r>
            <a:endParaRPr lang="zh-CN" altLang="en-US" sz="2400">
              <a:solidFill>
                <a:schemeClr val="accent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世纪</a:t>
            </a: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年代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跟踪</a:t>
            </a:r>
            <a:endParaRPr lang="zh-CN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世纪</a:t>
            </a:r>
            <a:r>
              <a:rPr lang="en-US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90</a:t>
            </a:r>
            <a:r>
              <a:rPr lang="zh-CN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年代</a:t>
            </a:r>
            <a:r>
              <a:rPr lang="en-US" altLang="zh-CN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---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原型开发和应用</a:t>
            </a:r>
            <a:endParaRPr lang="zh-CN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世纪前</a:t>
            </a: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苦苦追赶</a:t>
            </a:r>
            <a:endParaRPr lang="zh-CN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世纪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后</a:t>
            </a: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快速发展的过程。特别是在“十五”、 “十一五”和“十二五”期间，国家设立重大科技专项，将数据库管理系统的产品化作为信息技术的基础软件产品加以支持，使得国产数据库进步显著，在许多关键领域获得广泛应用。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88265" y="801370"/>
            <a:ext cx="8814435" cy="24060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起步期（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1977-1999</a:t>
            </a:r>
            <a:r>
              <a:rPr 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sz="2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我国的数据库研究和开发工作始于</a:t>
            </a:r>
            <a:r>
              <a:rPr lang="en-US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世纪</a:t>
            </a:r>
            <a:r>
              <a:rPr lang="en-US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70</a:t>
            </a: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年代。</a:t>
            </a:r>
            <a:endParaRPr lang="zh-CN" sz="2400" b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标志性的事件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en-US" sz="2400" b="0">
                <a:latin typeface="Times New Roman" panose="02020603050405020304" pitchFamily="18" charset="0"/>
                <a:ea typeface="宋体" panose="02010600030101010101" pitchFamily="2" charset="-122"/>
              </a:rPr>
              <a:t>1977</a:t>
            </a:r>
            <a:r>
              <a:rPr 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年黄山数据库学术交流会，这次会议后来被学术界“确认”为全国第一次数据库学术会议</a:t>
            </a: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 descr="1977黄山数据库学术会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483" y="3540443"/>
            <a:ext cx="3185160" cy="227314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143510" y="925830"/>
            <a:ext cx="8714740" cy="51854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起步期</a:t>
            </a:r>
            <a:endParaRPr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20世纪80年代初期，是我国引进数据库产品并开始实施应用的时期。</a:t>
            </a:r>
            <a:endParaRPr sz="20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80年代初期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dBASE II</a:t>
            </a: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进入中国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sz="2000">
                <a:latin typeface="Times New Roman" panose="02020603050405020304" pitchFamily="18" charset="0"/>
                <a:ea typeface="宋体" panose="02010600030101010101" pitchFamily="2" charset="-122"/>
              </a:rPr>
              <a:t>对于我国数据库的普及发挥了重要的作用，基于dBASE的数据库应用系统也开始在全国迅速展开。</a:t>
            </a:r>
            <a:endParaRPr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80年代中期，ORACLE数据库开始进入中国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sz="2000">
                <a:latin typeface="Times New Roman" panose="02020603050405020304" pitchFamily="18" charset="0"/>
                <a:ea typeface="宋体" panose="02010600030101010101" pitchFamily="2" charset="-122"/>
              </a:rPr>
              <a:t>通过一段时间数据库应用的实践，人们也逐渐认识到了dBASE数据库的不足，在一些比较重要的信息系统中，开始放弃dBASE而采用ORACLE系统。</a:t>
            </a:r>
            <a:endParaRPr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“九五”计划期间，虽然没有大规模的数据库研制活动，但是学术界仍然在艰苦地探索，</a:t>
            </a: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国家863计划也继续支持国产数据库的产品研发，华中科技大学研制关系数据库系统，中国人民大学研制并行数据库系统，还有其它单位研制安全数据库</a:t>
            </a: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等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490" y="111760"/>
            <a:ext cx="52844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357505" y="955040"/>
            <a:ext cx="8398510" cy="42246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追赶期</a:t>
            </a:r>
            <a:endParaRPr sz="2000" b="1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进入到21世纪，中国加入WTO，市场更加国际化。</a:t>
            </a:r>
            <a:endParaRPr sz="2000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全球的数据库厂商也纷纷进入中国</a:t>
            </a:r>
            <a:r>
              <a:rPr lang="zh-CN"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其中包括IBM的DB2，Sybase公司的Sybase，微软公司的SQL Server等，也包括开源数据库PostgreSQL和MySQL等。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掀起</a:t>
            </a: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开发国产数据库的热潮</a:t>
            </a:r>
            <a:endParaRPr lang="zh-CN" altLang="en-US" sz="2000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中国是一个大国，国家的信息安全是一直悬在我们头上的一把利剑；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中国的信息化建设成本居高不下，严重影响了信息化的进程。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这两条理由，让国家下决心再一次开发国产数据库。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295910" y="815975"/>
            <a:ext cx="8465185" cy="4512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发展期（</a:t>
            </a:r>
            <a:r>
              <a:rPr 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2010-2020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sz="20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大数据和云计算的出现：</a:t>
            </a:r>
            <a:r>
              <a:rPr 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给我国的数据库技术发展带来了前所未有的机会。中国政府发布了大数据行动纲要等文件，积极推动大数据的发展和应用，已经成为新一轮信息化建设的代名词。</a:t>
            </a:r>
            <a:endParaRPr 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信息技术的应用前沿：</a:t>
            </a:r>
            <a:endParaRPr lang="zh-CN" sz="20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以前，我们和国外的信息化程度相比差距大，我们的应用需求都是国外几年前的需求，因此，技术上大多是“跟风”，难以有创新。</a:t>
            </a:r>
            <a:endParaRPr 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阿里巴巴、腾讯、蚂蚁等大型互联网企业，以及华为等技术驱动型企业，紧紧抓住了这个机会，自主创新，实现跨越发展。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32460" y="1314450"/>
            <a:ext cx="3048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国产主流数据库：</a:t>
            </a:r>
            <a:endParaRPr lang="zh-CN" altLang="en-US" sz="2000"/>
          </a:p>
          <a:p>
            <a:r>
              <a:rPr lang="en-US" altLang="zh-CN" sz="2000"/>
              <a:t>2026.2</a:t>
            </a:r>
            <a:r>
              <a:rPr lang="zh-CN" altLang="en-US" sz="2000"/>
              <a:t>排名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88920" y="701675"/>
            <a:ext cx="6152515" cy="56267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随堂小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1746" name="内容占位符 2"/>
          <p:cNvSpPr>
            <a:spLocks noGrp="1" noChangeArrowheads="1"/>
          </p:cNvSpPr>
          <p:nvPr>
            <p:ph idx="1"/>
          </p:nvPr>
        </p:nvSpPr>
        <p:spPr>
          <a:xfrm>
            <a:off x="766190" y="1981200"/>
            <a:ext cx="7772400" cy="4114800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kumimoji="0" lang="zh-CN" altLang="en-US" sz="2800" dirty="0"/>
              <a:t>     根据计算机技术的发展，按照三个阶段“学校的起源、学校的现状以及未来的学校什么样”，对学校的状况进行分析，并思考将来哪些业务会消失？</a:t>
            </a:r>
            <a:endParaRPr kumimoji="0" lang="en-US" altLang="zh-CN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>
              <a:spcAft>
                <a:spcPts val="600"/>
              </a:spcAft>
            </a:pPr>
            <a:r>
              <a:rPr lang="zh-CN" altLang="en-US" sz="2800" noProof="1">
                <a:sym typeface="+mn-ea"/>
              </a:rPr>
              <a:t>基本知识：</a:t>
            </a:r>
            <a:endParaRPr lang="zh-CN" altLang="en-US" sz="280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noProof="1">
                <a:sym typeface="+mn-ea"/>
              </a:rPr>
              <a:t>事物和概念</a:t>
            </a:r>
            <a:endParaRPr lang="en-US" altLang="zh-CN" sz="245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dirty="0"/>
              <a:t>内涵和外延</a:t>
            </a:r>
            <a:endParaRPr lang="en-US" altLang="zh-CN" sz="2450" dirty="0"/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noProof="1">
                <a:sym typeface="+mn-ea"/>
              </a:rPr>
              <a:t>概念模型和数据模型</a:t>
            </a:r>
            <a:endParaRPr lang="zh-CN" altLang="en-US" sz="245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00" dirty="0">
                <a:sym typeface="+mn-ea"/>
              </a:rPr>
              <a:t>数据</a:t>
            </a:r>
            <a:r>
              <a:rPr lang="en-US" altLang="zh-CN" sz="2400" dirty="0">
                <a:sym typeface="+mn-ea"/>
              </a:rPr>
              <a:t>(Data)</a:t>
            </a:r>
            <a:r>
              <a:rPr lang="zh-CN" altLang="en-US" sz="2400" dirty="0">
                <a:sym typeface="+mn-ea"/>
              </a:rPr>
              <a:t>、数据库</a:t>
            </a:r>
            <a:r>
              <a:rPr lang="en-US" altLang="zh-CN" sz="2400" dirty="0">
                <a:sym typeface="+mn-ea"/>
              </a:rPr>
              <a:t>(Database)</a:t>
            </a:r>
            <a:r>
              <a:rPr lang="zh-CN" altLang="en-US" sz="2400" dirty="0">
                <a:sym typeface="+mn-ea"/>
              </a:rPr>
              <a:t>、数据库管理系统</a:t>
            </a:r>
            <a:r>
              <a:rPr lang="en-US" altLang="zh-CN" sz="2400" dirty="0">
                <a:sym typeface="+mn-ea"/>
              </a:rPr>
              <a:t>(DBMS)</a:t>
            </a:r>
            <a:r>
              <a:rPr lang="zh-CN" altLang="en-US" sz="2400" dirty="0">
                <a:sym typeface="+mn-ea"/>
              </a:rPr>
              <a:t>、数据库系统</a:t>
            </a:r>
            <a:r>
              <a:rPr lang="en-US" altLang="zh-CN" sz="2400" dirty="0">
                <a:sym typeface="+mn-ea"/>
              </a:rPr>
              <a:t>(DBS)</a:t>
            </a:r>
            <a:endParaRPr lang="en-US" altLang="zh-CN" sz="2400" dirty="0"/>
          </a:p>
          <a:p>
            <a:pPr marL="609600" indent="-609600"/>
            <a:r>
              <a:rPr lang="zh-CN" altLang="en-US" sz="2400">
                <a:sym typeface="+mn-ea"/>
              </a:rPr>
              <a:t>延展性学习：</a:t>
            </a:r>
            <a:endParaRPr lang="zh-CN" altLang="en-US" sz="2400" noProof="1"/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ahoma" panose="020B0604030504040204" pitchFamily="2" charset="0"/>
                <a:sym typeface="+mn-ea"/>
              </a:rPr>
              <a:t>数据库系统的开发包含哪些主要环节？</a:t>
            </a:r>
            <a:endParaRPr kumimoji="0" lang="zh-CN" altLang="en-US" sz="2400" dirty="0">
              <a:latin typeface="Tahoma" panose="020B0604030504040204" pitchFamily="2" charset="0"/>
            </a:endParaRPr>
          </a:p>
          <a:p>
            <a:pPr marL="609600" indent="-609600"/>
            <a:r>
              <a:rPr lang="zh-CN" altLang="en-US" sz="2400" b="1">
                <a:sym typeface="+mn-ea"/>
              </a:rPr>
              <a:t>作业</a:t>
            </a:r>
            <a:endParaRPr lang="zh-CN" altLang="en-US" sz="2400" b="1" noProof="1"/>
          </a:p>
          <a:p>
            <a:pPr marL="990600" lvl="1" indent="-533400">
              <a:buFontTx/>
              <a:buNone/>
            </a:pPr>
            <a:r>
              <a:rPr lang="en-US" altLang="zh-CN" sz="2400">
                <a:sym typeface="+mn-ea"/>
              </a:rPr>
              <a:t>	</a:t>
            </a:r>
            <a:r>
              <a:rPr lang="zh-CN" altLang="en-US" sz="2400">
                <a:sym typeface="+mn-ea"/>
              </a:rPr>
              <a:t>第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章习题：</a:t>
            </a:r>
            <a:r>
              <a:rPr lang="en-US" altLang="zh-CN" sz="2400">
                <a:sym typeface="+mn-ea"/>
              </a:rPr>
              <a:t>1.8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1.9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1.10</a:t>
            </a:r>
            <a:r>
              <a:rPr lang="zh-CN" altLang="en-US" sz="2400">
                <a:sym typeface="+mn-ea"/>
              </a:rPr>
              <a:t>。</a:t>
            </a:r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PLACING_PICTURE_USER_VIEWPORT" val="{&quot;height&quot;:6480,&quot;width&quot;:8662}"/>
</p:tagLst>
</file>

<file path=ppt/tags/tag3.xml><?xml version="1.0" encoding="utf-8"?>
<p:tagLst xmlns:p="http://schemas.openxmlformats.org/presentationml/2006/main">
  <p:tag name="COMMONDATA" val="eyJoZGlkIjoiZjhjYzFlMzY2NzEzZGU1MWExNDI1Zjc4ZTVjZjA3MmQifQ=="/>
  <p:tag name="KSO_WPP_MARK_KEY" val="055ee6f3-5878-47e5-9285-3095263bf44f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400" b="1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400" b="1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7313</Words>
  <Application>WPS 演示</Application>
  <PresentationFormat>全屏显示(4:3)</PresentationFormat>
  <Paragraphs>755</Paragraphs>
  <Slides>46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1" baseType="lpstr">
      <vt:lpstr>Arial</vt:lpstr>
      <vt:lpstr>宋体</vt:lpstr>
      <vt:lpstr>Wingdings</vt:lpstr>
      <vt:lpstr>黑体</vt:lpstr>
      <vt:lpstr>Tahoma</vt:lpstr>
      <vt:lpstr>Arial</vt:lpstr>
      <vt:lpstr>楷体_GB2312</vt:lpstr>
      <vt:lpstr>新宋体</vt:lpstr>
      <vt:lpstr>Times New Roman</vt:lpstr>
      <vt:lpstr>微软雅黑</vt:lpstr>
      <vt:lpstr>Arial Unicode MS</vt:lpstr>
      <vt:lpstr>Principals of Database System</vt:lpstr>
      <vt:lpstr>Segoe Print</vt:lpstr>
      <vt:lpstr>微软雅黑</vt:lpstr>
      <vt:lpstr>01069079</vt:lpstr>
      <vt:lpstr>                 引言   (数据库系统的发展与基本概念) </vt:lpstr>
      <vt:lpstr>四位图灵奖得主</vt:lpstr>
      <vt:lpstr>主要学习目标</vt:lpstr>
      <vt:lpstr> 一 引言 </vt:lpstr>
      <vt:lpstr>PowerPoint 演示文稿</vt:lpstr>
      <vt:lpstr>1.2 数据库如何描述客观世界</vt:lpstr>
      <vt:lpstr>1.2 数据库如何描述客观世界</vt:lpstr>
      <vt:lpstr>1.2 数据库如何描述客观世界</vt:lpstr>
      <vt:lpstr>1.2 数据库如何描述客观世界</vt:lpstr>
      <vt:lpstr>二 数据管理的发展过程</vt:lpstr>
      <vt:lpstr>2.1 手工阶段</vt:lpstr>
      <vt:lpstr>2.2 程序阶段 </vt:lpstr>
      <vt:lpstr>2.3 文件阶段</vt:lpstr>
      <vt:lpstr>2.4 数据库阶段</vt:lpstr>
      <vt:lpstr>3.1 什么是数据模型</vt:lpstr>
      <vt:lpstr>PowerPoint 演示文稿</vt:lpstr>
      <vt:lpstr>PowerPoint 演示文稿</vt:lpstr>
      <vt:lpstr>PowerPoint 演示文稿</vt:lpstr>
      <vt:lpstr>PowerPoint 演示文稿</vt:lpstr>
      <vt:lpstr>4.1数据</vt:lpstr>
      <vt:lpstr>4.1数据</vt:lpstr>
      <vt:lpstr>4.1数据</vt:lpstr>
      <vt:lpstr>4.2 数据库</vt:lpstr>
      <vt:lpstr>数据库的特征（续）</vt:lpstr>
      <vt:lpstr>4.3 数据库管理系统</vt:lpstr>
      <vt:lpstr>4.4 数据库系统</vt:lpstr>
      <vt:lpstr>4.4 数据库系统</vt:lpstr>
      <vt:lpstr>五 数据库技术在应用开发中的作用</vt:lpstr>
      <vt:lpstr>PowerPoint 演示文稿</vt:lpstr>
      <vt:lpstr>数据流程图(样例)</vt:lpstr>
      <vt:lpstr>PowerPoint 演示文稿</vt:lpstr>
      <vt:lpstr>PowerPoint 演示文稿</vt:lpstr>
      <vt:lpstr>数据库视图技术(数据抽象)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随堂小问题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第14讲:(第10章)            物理设计(数据库存储技术)</dc:title>
  <dc:creator>Microsoft Office 用户</dc:creator>
  <cp:lastModifiedBy>杨广超</cp:lastModifiedBy>
  <cp:revision>135</cp:revision>
  <dcterms:created xsi:type="dcterms:W3CDTF">2018-05-01T14:31:00Z</dcterms:created>
  <dcterms:modified xsi:type="dcterms:W3CDTF">2026-03-02T13:07:41Z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KSOProductBuildVer">
    <vt:lpwstr>2052-12.1.0.25225</vt:lpwstr>
  </property>
  <property fmtid="{D5CDD505-2E9C-101B-9397-08002B2CF9AE}" pid="4" name="ICV">
    <vt:lpwstr>928291AC2211464782811F51BE30B0EB</vt:lpwstr>
  </property>
</Properties>
</file>
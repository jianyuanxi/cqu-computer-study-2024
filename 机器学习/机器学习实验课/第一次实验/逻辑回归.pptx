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9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583" r:id="rId2"/>
    <p:sldId id="1026" r:id="rId3"/>
    <p:sldId id="969" r:id="rId4"/>
    <p:sldId id="1027" r:id="rId5"/>
    <p:sldId id="1025" r:id="rId6"/>
    <p:sldId id="1028" r:id="rId7"/>
    <p:sldId id="1029" r:id="rId8"/>
    <p:sldId id="1030" r:id="rId9"/>
    <p:sldId id="1031" r:id="rId10"/>
    <p:sldId id="1032" r:id="rId11"/>
  </p:sldIdLst>
  <p:sldSz cx="12192000" cy="6858000"/>
  <p:notesSz cx="6797675" cy="99282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yd" initials="L" lastIdx="1" clrIdx="0"/>
  <p:cmAuthor id="1" name="ljc" initials="l" lastIdx="1" clrIdx="1">
    <p:extLst>
      <p:ext uri="{19B8F6BF-5375-455C-9EA6-DF929625EA0E}">
        <p15:presenceInfo xmlns:p15="http://schemas.microsoft.com/office/powerpoint/2012/main" userId="lj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3399"/>
    <a:srgbClr val="FF0000"/>
    <a:srgbClr val="0000FF"/>
    <a:srgbClr val="CCECFF"/>
    <a:srgbClr val="FF6600"/>
    <a:srgbClr val="2A65B1"/>
    <a:srgbClr val="666699"/>
    <a:srgbClr val="EAB200"/>
    <a:srgbClr val="C49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88" autoAdjust="0"/>
    <p:restoredTop sz="95499" autoAdjust="0"/>
  </p:normalViewPr>
  <p:slideViewPr>
    <p:cSldViewPr>
      <p:cViewPr varScale="1">
        <p:scale>
          <a:sx n="123" d="100"/>
          <a:sy n="123" d="100"/>
        </p:scale>
        <p:origin x="264" y="1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25" d="100"/>
          <a:sy n="125" d="100"/>
        </p:scale>
        <p:origin x="3036" y="-1368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71" tIns="47786" rIns="95571" bIns="47786" numCol="1" anchor="t" anchorCtr="0" compatLnSpc="1"/>
          <a:lstStyle>
            <a:lvl1pPr defTabSz="955675" eaLnBrk="1" hangingPunct="1">
              <a:spcBef>
                <a:spcPct val="0"/>
              </a:spcBef>
              <a:buClrTx/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71" tIns="47786" rIns="95571" bIns="47786" numCol="1" anchor="t" anchorCtr="0" compatLnSpc="1"/>
          <a:lstStyle>
            <a:lvl1pPr algn="r" defTabSz="955675" eaLnBrk="1" hangingPunct="1">
              <a:spcBef>
                <a:spcPct val="0"/>
              </a:spcBef>
              <a:buClrTx/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71" tIns="47786" rIns="95571" bIns="47786" numCol="1" anchor="b" anchorCtr="0" compatLnSpc="1"/>
          <a:lstStyle>
            <a:lvl1pPr defTabSz="955675" eaLnBrk="1" hangingPunct="1">
              <a:spcBef>
                <a:spcPct val="0"/>
              </a:spcBef>
              <a:buClrTx/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31338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71" tIns="47786" rIns="95571" bIns="47786" numCol="1" anchor="b" anchorCtr="0" compatLnSpc="1"/>
          <a:lstStyle>
            <a:lvl1pPr algn="r" defTabSz="955675" eaLnBrk="1" hangingPunct="1">
              <a:defRPr sz="13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857D1A4-6000-48D8-AB79-1D8DFD103961}" type="slidenum">
              <a:rPr lang="en-US" altLang="zh-CN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32970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spcBef>
                <a:spcPct val="50000"/>
              </a:spcBef>
              <a:buClr>
                <a:srgbClr val="0066CC"/>
              </a:buClr>
              <a:buFont typeface="Wingdings" panose="05000000000000000000" pitchFamily="2" charset="2"/>
              <a:buNone/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spcBef>
                <a:spcPct val="50000"/>
              </a:spcBef>
              <a:buClr>
                <a:srgbClr val="0066CC"/>
              </a:buClr>
              <a:buFont typeface="Wingdings" panose="05000000000000000000" pitchFamily="2" charset="2"/>
              <a:buNone/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1BFD77-E2A6-4F01-B718-78FD8FD8645D}" type="datetimeFigureOut">
              <a:rPr lang="zh-CN" altLang="en-US"/>
              <a:t>2026/4/26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spcBef>
                <a:spcPct val="50000"/>
              </a:spcBef>
              <a:buClr>
                <a:srgbClr val="0066CC"/>
              </a:buClr>
              <a:buFont typeface="Wingdings" panose="05000000000000000000" pitchFamily="2" charset="2"/>
              <a:buNone/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50000"/>
              </a:spcBef>
              <a:buClr>
                <a:srgbClr val="0066CC"/>
              </a:buClr>
              <a:buFont typeface="Wingdings" panose="05000000000000000000" pitchFamily="2" charset="2"/>
              <a:buNone/>
              <a:defRPr sz="1200"/>
            </a:lvl1pPr>
          </a:lstStyle>
          <a:p>
            <a:pPr>
              <a:defRPr/>
            </a:pPr>
            <a:fld id="{F444F810-1253-45B3-AE2D-7766756D6BD8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8554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556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383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301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132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412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711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619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359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534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772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4" y="6564313"/>
            <a:ext cx="936102" cy="27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 descr="cquppt1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0"/>
            <a:ext cx="3048000" cy="68722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7186" y="260648"/>
            <a:ext cx="936102" cy="27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线连接符 6"/>
          <p:cNvCxnSpPr/>
          <p:nvPr userDrawn="1"/>
        </p:nvCxnSpPr>
        <p:spPr bwMode="auto">
          <a:xfrm>
            <a:off x="624408" y="714422"/>
            <a:ext cx="1101620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64C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F76A3DB-F7FD-4617-980D-0F9BFFD520B8}"/>
              </a:ext>
            </a:extLst>
          </p:cNvPr>
          <p:cNvSpPr txBox="1"/>
          <p:nvPr userDrawn="1"/>
        </p:nvSpPr>
        <p:spPr>
          <a:xfrm>
            <a:off x="11797453" y="6581001"/>
            <a:ext cx="413111" cy="276999"/>
          </a:xfrm>
          <a:prstGeom prst="rect">
            <a:avLst/>
          </a:prstGeom>
          <a:solidFill>
            <a:srgbClr val="0066CC"/>
          </a:solidFill>
        </p:spPr>
        <p:txBody>
          <a:bodyPr wrap="square" rtlCol="0">
            <a:spAutoFit/>
          </a:bodyPr>
          <a:lstStyle/>
          <a:p>
            <a:pPr algn="ctr"/>
            <a:fld id="{D079CD6D-EA03-4A23-9676-DB1F594EE155}" type="slidenum">
              <a:rPr lang="zh-CN" altLang="en-US" sz="12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‹#›</a:t>
            </a:fld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gi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2"/>
          <p:cNvSpPr txBox="1"/>
          <p:nvPr/>
        </p:nvSpPr>
        <p:spPr bwMode="auto">
          <a:xfrm>
            <a:off x="0" y="3612753"/>
            <a:ext cx="12191999" cy="3270091"/>
          </a:xfrm>
          <a:prstGeom prst="rect">
            <a:avLst/>
          </a:prstGeom>
          <a:solidFill>
            <a:srgbClr val="045CA2">
              <a:alpha val="82000"/>
            </a:srgbClr>
          </a:solidFill>
          <a:ln w="9525">
            <a:noFill/>
            <a:miter lim="800000"/>
          </a:ln>
          <a:effectLst>
            <a:outerShdw dist="50800" dir="2700000" sx="3999" sy="3999" algn="tl" rotWithShape="0">
              <a:srgbClr val="025AA0">
                <a:alpha val="5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altLang="zh-CN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algn="ctr">
              <a:defRPr/>
            </a:pPr>
            <a:endParaRPr lang="zh-CN" altLang="en-US" b="1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14" name="标题 2"/>
          <p:cNvSpPr txBox="1"/>
          <p:nvPr/>
        </p:nvSpPr>
        <p:spPr>
          <a:xfrm>
            <a:off x="-1" y="1956568"/>
            <a:ext cx="12192000" cy="1839009"/>
          </a:xfrm>
          <a:prstGeom prst="rect">
            <a:avLst/>
          </a:prstGeom>
          <a:solidFill>
            <a:srgbClr val="42B9EF">
              <a:alpha val="88000"/>
            </a:srgbClr>
          </a:solidFill>
          <a:effectLst>
            <a:outerShdw dist="50800" dir="2700000" sx="3999" sy="3999" algn="tl" rotWithShape="0">
              <a:srgbClr val="025AA0">
                <a:alpha val="54999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kumimoji="1" lang="zh-CN" altLang="en-US" sz="3600" b="0" spc="100" dirty="0">
              <a:solidFill>
                <a:prstClr val="white"/>
              </a:solidFill>
              <a:latin typeface="Cambria" panose="02040503050406030204"/>
              <a:ea typeface="黑体" panose="02010609060101010101" pitchFamily="49" charset="-122"/>
            </a:endParaRPr>
          </a:p>
        </p:txBody>
      </p:sp>
      <p:sp>
        <p:nvSpPr>
          <p:cNvPr id="6146" name="Rectangle 14"/>
          <p:cNvSpPr>
            <a:spLocks noChangeArrowheads="1"/>
          </p:cNvSpPr>
          <p:nvPr/>
        </p:nvSpPr>
        <p:spPr bwMode="auto">
          <a:xfrm>
            <a:off x="14548" y="2418528"/>
            <a:ext cx="121847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4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实验一：逻辑回归</a:t>
            </a:r>
            <a:endParaRPr lang="zh-CN" altLang="en-U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1E6EEFF-879F-4DB7-9169-1714BEBE4B58}"/>
              </a:ext>
            </a:extLst>
          </p:cNvPr>
          <p:cNvSpPr/>
          <p:nvPr/>
        </p:nvSpPr>
        <p:spPr>
          <a:xfrm>
            <a:off x="3263615" y="4026963"/>
            <a:ext cx="5616624" cy="206633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12CC6AB-26AB-4457-B8CA-FD5CA7BCC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4" y="6322889"/>
            <a:ext cx="12191999" cy="41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ct val="25000"/>
              </a:spcBef>
            </a:pPr>
            <a:fld id="{8FC03804-C4CC-421C-A2BE-78DDE02C2BEB}" type="datetime6">
              <a:rPr lang="zh-CN" altLang="en-US" sz="160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2026年4月</a:t>
            </a:fld>
            <a:endParaRPr lang="zh-CN" altLang="en-US" sz="1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EC96A4-5F2D-4BD1-A386-C2D3635E11BD}"/>
              </a:ext>
            </a:extLst>
          </p:cNvPr>
          <p:cNvSpPr/>
          <p:nvPr/>
        </p:nvSpPr>
        <p:spPr>
          <a:xfrm>
            <a:off x="3263615" y="5114564"/>
            <a:ext cx="5629293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buSzPct val="60000"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重庆大学计算机学院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buSzPct val="60000"/>
            </a:pP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B0C9A03F-FF72-4144-A77A-67236FBDF78A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447832"/>
            <a:ext cx="12192001" cy="13282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机器学习基础</a:t>
            </a:r>
            <a:b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</a:b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Machine Learning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事件概况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965C0C-15A0-CE78-B259-255279A0854C}"/>
              </a:ext>
            </a:extLst>
          </p:cNvPr>
          <p:cNvSpPr txBox="1"/>
          <p:nvPr/>
        </p:nvSpPr>
        <p:spPr>
          <a:xfrm>
            <a:off x="2135560" y="1412776"/>
            <a:ext cx="90342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/>
            </a:pPr>
            <a:r>
              <a:rPr lang="zh-CN" altLang="en-US" dirty="0"/>
              <a:t>数据集：标签</a:t>
            </a:r>
            <a:r>
              <a:rPr lang="en-US" altLang="zh-CN" dirty="0"/>
              <a:t>-</a:t>
            </a:r>
            <a:r>
              <a:rPr lang="zh-CN" altLang="en-US" dirty="0"/>
              <a:t>参数对，形成一个矩阵</a:t>
            </a:r>
            <a:endParaRPr lang="en-US" altLang="zh-CN" dirty="0"/>
          </a:p>
          <a:p>
            <a:pPr marL="342900" indent="-342900">
              <a:buAutoNum type="arabicPlain"/>
            </a:pPr>
            <a:endParaRPr lang="en-US" altLang="zh-CN" dirty="0"/>
          </a:p>
          <a:p>
            <a:pPr marL="342900" indent="-342900">
              <a:buAutoNum type="arabicPlain" startAt="2"/>
            </a:pPr>
            <a:r>
              <a:rPr lang="zh-CN" altLang="en-US" dirty="0"/>
              <a:t>模型（训练）：</a:t>
            </a:r>
            <a:endParaRPr lang="en-US" altLang="zh-CN" dirty="0"/>
          </a:p>
          <a:p>
            <a:r>
              <a:rPr lang="en-US" altLang="zh-CN" dirty="0"/>
              <a:t>      1</a:t>
            </a:r>
            <a:r>
              <a:rPr lang="zh-CN" altLang="en-US" dirty="0"/>
              <a:t>）模型结构：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y=x1*theta1+x1*theta2+b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，参数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dirty="0"/>
          </a:p>
          <a:p>
            <a:r>
              <a:rPr lang="en-US" altLang="zh-CN" dirty="0"/>
              <a:t>      2</a:t>
            </a:r>
            <a:r>
              <a:rPr lang="zh-CN" altLang="en-US" dirty="0"/>
              <a:t>）模型参数：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theta1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theta2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</a:p>
          <a:p>
            <a:endParaRPr lang="en-US" altLang="zh-CN" dirty="0"/>
          </a:p>
          <a:p>
            <a:r>
              <a:rPr lang="en-US" altLang="zh-CN" dirty="0"/>
              <a:t>      3</a:t>
            </a:r>
            <a:r>
              <a:rPr lang="zh-CN" altLang="en-US" dirty="0"/>
              <a:t>）损失函数：对数损失</a:t>
            </a:r>
            <a:endParaRPr lang="en-US" altLang="zh-CN" dirty="0"/>
          </a:p>
          <a:p>
            <a:r>
              <a:rPr lang="en-US" altLang="zh-CN" dirty="0"/>
              <a:t>     </a:t>
            </a:r>
          </a:p>
          <a:p>
            <a:r>
              <a:rPr lang="en-US" altLang="zh-CN" dirty="0"/>
              <a:t>      4</a:t>
            </a:r>
            <a:r>
              <a:rPr lang="zh-CN" altLang="en-US" dirty="0"/>
              <a:t>）最优化算法：梯度下降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</a:t>
            </a:r>
            <a:r>
              <a:rPr lang="en-US" altLang="zh-CN" b="1" dirty="0"/>
              <a:t>5</a:t>
            </a:r>
            <a:r>
              <a:rPr lang="zh-CN" altLang="en-US" b="1" dirty="0"/>
              <a:t>）训练</a:t>
            </a:r>
            <a:endParaRPr lang="en-US" altLang="zh-CN" b="1" dirty="0"/>
          </a:p>
          <a:p>
            <a:r>
              <a:rPr lang="en-US" altLang="zh-CN" dirty="0"/>
              <a:t>     </a:t>
            </a:r>
          </a:p>
          <a:p>
            <a:pPr marL="342900" indent="-342900">
              <a:buAutoNum type="arabicPlain" startAt="3"/>
            </a:pPr>
            <a:r>
              <a:rPr lang="zh-CN" altLang="en-US" dirty="0"/>
              <a:t>应用（推理）</a:t>
            </a:r>
            <a:endParaRPr lang="en-US" altLang="zh-CN" dirty="0"/>
          </a:p>
          <a:p>
            <a:endParaRPr lang="en-US" altLang="zh-CN" dirty="0"/>
          </a:p>
          <a:p>
            <a:pPr marL="342900" indent="-342900">
              <a:buAutoNum type="arabicPlain" startAt="2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87037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标签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手机屏幕截图&#10;&#10;AI 生成的内容可能不正确。">
            <a:extLst>
              <a:ext uri="{FF2B5EF4-FFF2-40B4-BE49-F238E27FC236}">
                <a16:creationId xmlns:a16="http://schemas.microsoft.com/office/drawing/2014/main" id="{A3730794-0799-D3D9-FA5A-DE8B1609A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40" y="1164814"/>
            <a:ext cx="4161091" cy="5124138"/>
          </a:xfrm>
          <a:prstGeom prst="rect">
            <a:avLst/>
          </a:prstGeom>
        </p:spPr>
      </p:pic>
      <p:sp>
        <p:nvSpPr>
          <p:cNvPr id="6" name="箭头: 右 11">
            <a:extLst>
              <a:ext uri="{FF2B5EF4-FFF2-40B4-BE49-F238E27FC236}">
                <a16:creationId xmlns:a16="http://schemas.microsoft.com/office/drawing/2014/main" id="{B98D76E8-5DAC-692B-12DD-FE31AF3A0795}"/>
              </a:ext>
            </a:extLst>
          </p:cNvPr>
          <p:cNvSpPr/>
          <p:nvPr/>
        </p:nvSpPr>
        <p:spPr>
          <a:xfrm>
            <a:off x="5474208" y="3044952"/>
            <a:ext cx="1243584" cy="768096"/>
          </a:xfrm>
          <a:prstGeom prst="rightArrow">
            <a:avLst/>
          </a:prstGeom>
          <a:solidFill>
            <a:srgbClr val="15608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EFD35E0-7892-CBDC-EA6F-88CBE2E99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160" y="1519702"/>
            <a:ext cx="1619121" cy="47692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62E82D8-6CC3-324E-35BD-794DFFF5F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747" y="1534692"/>
            <a:ext cx="216024" cy="47337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39513EC-8CD0-6BF0-3969-6F77DBA89A2C}"/>
              </a:ext>
            </a:extLst>
          </p:cNvPr>
          <p:cNvSpPr txBox="1"/>
          <p:nvPr/>
        </p:nvSpPr>
        <p:spPr>
          <a:xfrm>
            <a:off x="10320230" y="1119592"/>
            <a:ext cx="379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E9A7D1-D7C7-0CC6-634B-0E22F7AC7E09}"/>
              </a:ext>
            </a:extLst>
          </p:cNvPr>
          <p:cNvSpPr txBox="1"/>
          <p:nvPr/>
        </p:nvSpPr>
        <p:spPr>
          <a:xfrm>
            <a:off x="8192195" y="1119592"/>
            <a:ext cx="307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8000"/>
                </a:solidFill>
                <a:latin typeface="Consolas" panose="020B0609020204030204" pitchFamily="49" charset="0"/>
              </a:rPr>
              <a:t>x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93AFC7-35DA-4B63-8B66-5BBB54DE3AC1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75889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8381D55-FFCC-CBD3-D635-4BCCCDECC27B}"/>
              </a:ext>
            </a:extLst>
          </p:cNvPr>
          <p:cNvSpPr txBox="1"/>
          <p:nvPr/>
        </p:nvSpPr>
        <p:spPr>
          <a:xfrm>
            <a:off x="3913632" y="2060848"/>
            <a:ext cx="2182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altLang="zh-CN" b="0" dirty="0">
                <a:solidFill>
                  <a:srgbClr val="333333"/>
                </a:solidFill>
                <a:effectLst/>
                <a:latin typeface="KaTeX_Main"/>
              </a:rPr>
              <a:t>y=w</a:t>
            </a:r>
            <a:r>
              <a:rPr lang="pl-PL" altLang="zh-CN" b="0" baseline="30000" dirty="0">
                <a:solidFill>
                  <a:srgbClr val="333333"/>
                </a:solidFill>
                <a:effectLst/>
                <a:latin typeface="KaTeX_Main"/>
              </a:rPr>
              <a:t>T</a:t>
            </a:r>
            <a:r>
              <a:rPr lang="pl-PL" altLang="zh-CN" b="0" dirty="0">
                <a:solidFill>
                  <a:srgbClr val="333333"/>
                </a:solidFill>
                <a:effectLst/>
                <a:latin typeface="KaTeX_Main"/>
              </a:rPr>
              <a:t>x+b</a:t>
            </a:r>
            <a:r>
              <a:rPr lang="pl-PL" altLang="zh-CN" b="0" i="1" dirty="0">
                <a:solidFill>
                  <a:srgbClr val="333333"/>
                </a:solidFill>
                <a:effectLst/>
                <a:latin typeface="KaTeX_Math"/>
              </a:rPr>
              <a:t>y</a:t>
            </a:r>
            <a:r>
              <a:rPr lang="pl-PL" altLang="zh-CN" b="0" dirty="0">
                <a:solidFill>
                  <a:srgbClr val="333333"/>
                </a:solidFill>
                <a:effectLst/>
                <a:latin typeface="KaTeX_Main"/>
              </a:rPr>
              <a:t>=</a:t>
            </a:r>
            <a:r>
              <a:rPr lang="pl-PL" altLang="zh-CN" b="0" i="1" dirty="0">
                <a:solidFill>
                  <a:srgbClr val="333333"/>
                </a:solidFill>
                <a:effectLst/>
                <a:latin typeface="KaTeX_Math"/>
              </a:rPr>
              <a:t>w</a:t>
            </a:r>
            <a:r>
              <a:rPr lang="pl-PL" altLang="zh-CN" baseline="30000" dirty="0">
                <a:solidFill>
                  <a:srgbClr val="333333"/>
                </a:solidFill>
                <a:latin typeface="KaTeX_Main"/>
              </a:rPr>
              <a:t>T</a:t>
            </a:r>
            <a:r>
              <a:rPr lang="pl-PL" altLang="zh-CN" b="0" i="1" dirty="0">
                <a:solidFill>
                  <a:srgbClr val="333333"/>
                </a:solidFill>
                <a:effectLst/>
                <a:latin typeface="KaTeX_Math"/>
              </a:rPr>
              <a:t>x</a:t>
            </a:r>
            <a:r>
              <a:rPr lang="pl-PL" altLang="zh-CN" b="0" dirty="0">
                <a:solidFill>
                  <a:srgbClr val="333333"/>
                </a:solidFill>
                <a:effectLst/>
                <a:latin typeface="KaTeX_Main"/>
              </a:rPr>
              <a:t>+</a:t>
            </a:r>
            <a:r>
              <a:rPr lang="pl-PL" altLang="zh-CN" b="0" i="1" dirty="0">
                <a:solidFill>
                  <a:srgbClr val="333333"/>
                </a:solidFill>
                <a:effectLst/>
                <a:latin typeface="KaTeX_Math"/>
              </a:rPr>
              <a:t>b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5BF89C-2C7F-0FBE-7C46-44C56B405DAF}"/>
              </a:ext>
            </a:extLst>
          </p:cNvPr>
          <p:cNvSpPr txBox="1"/>
          <p:nvPr/>
        </p:nvSpPr>
        <p:spPr>
          <a:xfrm>
            <a:off x="3913632" y="33879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y=x1*theta1+x2*theta2+b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参数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5DB1E1-0665-F364-11D9-51494AFFD431}"/>
              </a:ext>
            </a:extLst>
          </p:cNvPr>
          <p:cNvSpPr txBox="1"/>
          <p:nvPr/>
        </p:nvSpPr>
        <p:spPr>
          <a:xfrm>
            <a:off x="3913632" y="2702240"/>
            <a:ext cx="3462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altLang="zh-CN" b="0" dirty="0">
                <a:solidFill>
                  <a:srgbClr val="333333"/>
                </a:solidFill>
                <a:effectLst/>
                <a:latin typeface="KaTeX_Main"/>
              </a:rPr>
              <a:t>w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1/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theta1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表示参数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1BE306-26BF-2933-23C8-9B0E7818E12C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85226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模型训练是什么？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E0FF4A-A17D-ED66-4330-A195B4A93216}"/>
              </a:ext>
            </a:extLst>
          </p:cNvPr>
          <p:cNvSpPr txBox="1"/>
          <p:nvPr/>
        </p:nvSpPr>
        <p:spPr>
          <a:xfrm>
            <a:off x="2604417" y="3792734"/>
            <a:ext cx="807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已知</a:t>
            </a:r>
            <a:endParaRPr lang="en-US" altLang="zh-CN" sz="2400" b="1" dirty="0"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4B43E4-5BEA-0C9E-EA79-937EB2A2CEEA}"/>
              </a:ext>
            </a:extLst>
          </p:cNvPr>
          <p:cNvSpPr txBox="1"/>
          <p:nvPr/>
        </p:nvSpPr>
        <p:spPr>
          <a:xfrm>
            <a:off x="2706014" y="4891807"/>
            <a:ext cx="82374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rgbClr val="008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4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400" dirty="0">
                <a:solidFill>
                  <a:srgbClr val="008000"/>
                </a:solidFill>
                <a:latin typeface="Consolas" panose="020B0609020204030204" pitchFamily="49" charset="0"/>
              </a:rPr>
              <a:t>x1</a:t>
            </a:r>
            <a:r>
              <a:rPr lang="en-US" altLang="zh-CN" sz="4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4400" dirty="0">
                <a:solidFill>
                  <a:srgbClr val="FF0000"/>
                </a:solidFill>
                <a:latin typeface="Consolas" panose="020B0609020204030204" pitchFamily="49" charset="0"/>
              </a:rPr>
              <a:t>theta1+</a:t>
            </a:r>
            <a:r>
              <a:rPr lang="en-US" altLang="zh-CN" sz="4400" dirty="0">
                <a:solidFill>
                  <a:srgbClr val="008000"/>
                </a:solidFill>
                <a:latin typeface="Consolas" panose="020B0609020204030204" pitchFamily="49" charset="0"/>
              </a:rPr>
              <a:t>x1</a:t>
            </a:r>
            <a:r>
              <a:rPr lang="en-US" altLang="zh-CN" sz="4400" dirty="0">
                <a:solidFill>
                  <a:srgbClr val="FF0000"/>
                </a:solidFill>
                <a:latin typeface="Consolas" panose="020B0609020204030204" pitchFamily="49" charset="0"/>
              </a:rPr>
              <a:t>*theta2+b</a:t>
            </a:r>
            <a:endParaRPr lang="zh-CN" altLang="en-US" sz="4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接箭头连接符 12">
            <a:extLst>
              <a:ext uri="{FF2B5EF4-FFF2-40B4-BE49-F238E27FC236}">
                <a16:creationId xmlns:a16="http://schemas.microsoft.com/office/drawing/2014/main" id="{BDCC2B8F-317D-18AB-8D5F-A9A1B50E3E21}"/>
              </a:ext>
            </a:extLst>
          </p:cNvPr>
          <p:cNvCxnSpPr>
            <a:cxnSpLocks/>
          </p:cNvCxnSpPr>
          <p:nvPr/>
        </p:nvCxnSpPr>
        <p:spPr>
          <a:xfrm flipH="1">
            <a:off x="5362128" y="4178424"/>
            <a:ext cx="464458" cy="870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13">
            <a:extLst>
              <a:ext uri="{FF2B5EF4-FFF2-40B4-BE49-F238E27FC236}">
                <a16:creationId xmlns:a16="http://schemas.microsoft.com/office/drawing/2014/main" id="{D36A6827-9CCB-61EB-E2C3-3866D994DE48}"/>
              </a:ext>
            </a:extLst>
          </p:cNvPr>
          <p:cNvCxnSpPr>
            <a:cxnSpLocks/>
          </p:cNvCxnSpPr>
          <p:nvPr/>
        </p:nvCxnSpPr>
        <p:spPr>
          <a:xfrm>
            <a:off x="5978986" y="4178424"/>
            <a:ext cx="631371" cy="870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14">
            <a:extLst>
              <a:ext uri="{FF2B5EF4-FFF2-40B4-BE49-F238E27FC236}">
                <a16:creationId xmlns:a16="http://schemas.microsoft.com/office/drawing/2014/main" id="{98F30E1D-E1E9-A76A-EAEB-0A763C461768}"/>
              </a:ext>
            </a:extLst>
          </p:cNvPr>
          <p:cNvCxnSpPr>
            <a:cxnSpLocks/>
          </p:cNvCxnSpPr>
          <p:nvPr/>
        </p:nvCxnSpPr>
        <p:spPr>
          <a:xfrm>
            <a:off x="5978986" y="4178424"/>
            <a:ext cx="2169885" cy="870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15">
            <a:extLst>
              <a:ext uri="{FF2B5EF4-FFF2-40B4-BE49-F238E27FC236}">
                <a16:creationId xmlns:a16="http://schemas.microsoft.com/office/drawing/2014/main" id="{F3A8E38D-32DF-D858-E0DB-29838AAE2C90}"/>
              </a:ext>
            </a:extLst>
          </p:cNvPr>
          <p:cNvCxnSpPr>
            <a:cxnSpLocks/>
          </p:cNvCxnSpPr>
          <p:nvPr/>
        </p:nvCxnSpPr>
        <p:spPr>
          <a:xfrm flipH="1">
            <a:off x="3823614" y="4178424"/>
            <a:ext cx="2002972" cy="870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0DC8AE9-C5E5-280F-7F85-C8DDDCA290F9}"/>
              </a:ext>
            </a:extLst>
          </p:cNvPr>
          <p:cNvSpPr txBox="1"/>
          <p:nvPr/>
        </p:nvSpPr>
        <p:spPr>
          <a:xfrm>
            <a:off x="5503644" y="3692486"/>
            <a:ext cx="807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highlight>
                  <a:srgbClr val="FF0000"/>
                </a:highlight>
                <a:latin typeface="Consolas" panose="020B0609020204030204" pitchFamily="49" charset="0"/>
              </a:rPr>
              <a:t>未</a:t>
            </a:r>
            <a:r>
              <a:rPr lang="zh-CN" altLang="en-US" sz="2400" b="1" dirty="0"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知</a:t>
            </a:r>
            <a:endParaRPr lang="en-US" altLang="zh-CN" sz="2400" b="1" dirty="0">
              <a:effectLst/>
              <a:highlight>
                <a:srgbClr val="FF0000"/>
              </a:highlight>
              <a:latin typeface="Consolas" panose="020B0609020204030204" pitchFamily="49" charset="0"/>
            </a:endParaRPr>
          </a:p>
        </p:txBody>
      </p:sp>
      <p:cxnSp>
        <p:nvCxnSpPr>
          <p:cNvPr id="10" name="直接箭头连接符 17">
            <a:extLst>
              <a:ext uri="{FF2B5EF4-FFF2-40B4-BE49-F238E27FC236}">
                <a16:creationId xmlns:a16="http://schemas.microsoft.com/office/drawing/2014/main" id="{AF5496A0-8AA0-171F-71BA-635651CB53C1}"/>
              </a:ext>
            </a:extLst>
          </p:cNvPr>
          <p:cNvCxnSpPr>
            <a:cxnSpLocks/>
          </p:cNvCxnSpPr>
          <p:nvPr/>
        </p:nvCxnSpPr>
        <p:spPr>
          <a:xfrm>
            <a:off x="3003559" y="4258385"/>
            <a:ext cx="0" cy="853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9">
            <a:extLst>
              <a:ext uri="{FF2B5EF4-FFF2-40B4-BE49-F238E27FC236}">
                <a16:creationId xmlns:a16="http://schemas.microsoft.com/office/drawing/2014/main" id="{841D447F-5E2E-767D-BF4F-C68462030B31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3008211" y="4254399"/>
            <a:ext cx="815403" cy="713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22">
            <a:extLst>
              <a:ext uri="{FF2B5EF4-FFF2-40B4-BE49-F238E27FC236}">
                <a16:creationId xmlns:a16="http://schemas.microsoft.com/office/drawing/2014/main" id="{DD43578C-FBEC-6B54-F8D8-8CF0F962F180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3008211" y="4254399"/>
            <a:ext cx="3511432" cy="794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E9B6AB3-DCCE-DD7B-FDCF-9A183238528A}"/>
              </a:ext>
            </a:extLst>
          </p:cNvPr>
          <p:cNvSpPr txBox="1"/>
          <p:nvPr/>
        </p:nvSpPr>
        <p:spPr>
          <a:xfrm>
            <a:off x="5427443" y="1470356"/>
            <a:ext cx="807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已知</a:t>
            </a:r>
            <a:endParaRPr lang="en-US" altLang="zh-CN" sz="2400" b="1" dirty="0"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B591F79-2773-4E66-C099-491D023CD93E}"/>
              </a:ext>
            </a:extLst>
          </p:cNvPr>
          <p:cNvSpPr txBox="1"/>
          <p:nvPr/>
        </p:nvSpPr>
        <p:spPr>
          <a:xfrm>
            <a:off x="2539100" y="2736803"/>
            <a:ext cx="82374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sz="4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=x1*</a:t>
            </a:r>
            <a:r>
              <a:rPr lang="en-US" altLang="zh-CN" sz="4400" dirty="0">
                <a:solidFill>
                  <a:srgbClr val="008000"/>
                </a:solidFill>
                <a:latin typeface="Consolas" panose="020B0609020204030204" pitchFamily="49" charset="0"/>
              </a:rPr>
              <a:t>theta1+x1*theta2+b</a:t>
            </a:r>
            <a:endParaRPr lang="zh-CN" altLang="en-US" sz="44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直接箭头连接符 5">
            <a:extLst>
              <a:ext uri="{FF2B5EF4-FFF2-40B4-BE49-F238E27FC236}">
                <a16:creationId xmlns:a16="http://schemas.microsoft.com/office/drawing/2014/main" id="{4B73CFE4-3D0D-9DC2-ED1C-84CFAB7DCBD6}"/>
              </a:ext>
            </a:extLst>
          </p:cNvPr>
          <p:cNvCxnSpPr>
            <a:cxnSpLocks/>
          </p:cNvCxnSpPr>
          <p:nvPr/>
        </p:nvCxnSpPr>
        <p:spPr>
          <a:xfrm flipH="1">
            <a:off x="5195214" y="2023420"/>
            <a:ext cx="464458" cy="870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6">
            <a:extLst>
              <a:ext uri="{FF2B5EF4-FFF2-40B4-BE49-F238E27FC236}">
                <a16:creationId xmlns:a16="http://schemas.microsoft.com/office/drawing/2014/main" id="{6E926B8F-1650-8B69-AFF4-2E23CABBC9C7}"/>
              </a:ext>
            </a:extLst>
          </p:cNvPr>
          <p:cNvCxnSpPr>
            <a:cxnSpLocks/>
          </p:cNvCxnSpPr>
          <p:nvPr/>
        </p:nvCxnSpPr>
        <p:spPr>
          <a:xfrm>
            <a:off x="5812072" y="2023420"/>
            <a:ext cx="631371" cy="870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7">
            <a:extLst>
              <a:ext uri="{FF2B5EF4-FFF2-40B4-BE49-F238E27FC236}">
                <a16:creationId xmlns:a16="http://schemas.microsoft.com/office/drawing/2014/main" id="{5761F697-6ABE-A161-28D9-A61D6153FCC1}"/>
              </a:ext>
            </a:extLst>
          </p:cNvPr>
          <p:cNvCxnSpPr>
            <a:cxnSpLocks/>
          </p:cNvCxnSpPr>
          <p:nvPr/>
        </p:nvCxnSpPr>
        <p:spPr>
          <a:xfrm>
            <a:off x="5812072" y="2023420"/>
            <a:ext cx="2169885" cy="870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8">
            <a:extLst>
              <a:ext uri="{FF2B5EF4-FFF2-40B4-BE49-F238E27FC236}">
                <a16:creationId xmlns:a16="http://schemas.microsoft.com/office/drawing/2014/main" id="{EF72729F-80DA-F2DA-06D7-FCAB982FE944}"/>
              </a:ext>
            </a:extLst>
          </p:cNvPr>
          <p:cNvCxnSpPr>
            <a:cxnSpLocks/>
          </p:cNvCxnSpPr>
          <p:nvPr/>
        </p:nvCxnSpPr>
        <p:spPr>
          <a:xfrm flipH="1">
            <a:off x="3656700" y="2023420"/>
            <a:ext cx="2002972" cy="870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4A0840BC-4D9D-2BEF-7E8D-05D499467D27}"/>
              </a:ext>
            </a:extLst>
          </p:cNvPr>
          <p:cNvSpPr txBox="1"/>
          <p:nvPr/>
        </p:nvSpPr>
        <p:spPr>
          <a:xfrm>
            <a:off x="2539098" y="1470356"/>
            <a:ext cx="807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highlight>
                  <a:srgbClr val="FF0000"/>
                </a:highlight>
                <a:latin typeface="Consolas" panose="020B0609020204030204" pitchFamily="49" charset="0"/>
              </a:rPr>
              <a:t>未</a:t>
            </a:r>
            <a:r>
              <a:rPr lang="zh-CN" altLang="en-US" sz="2400" b="1" dirty="0"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知</a:t>
            </a:r>
            <a:endParaRPr lang="en-US" altLang="zh-CN" sz="2400" b="1" dirty="0">
              <a:effectLst/>
              <a:highlight>
                <a:srgbClr val="FF0000"/>
              </a:highlight>
              <a:latin typeface="Consolas" panose="020B0609020204030204" pitchFamily="49" charset="0"/>
            </a:endParaRPr>
          </a:p>
        </p:txBody>
      </p:sp>
      <p:cxnSp>
        <p:nvCxnSpPr>
          <p:cNvPr id="20" name="直接箭头连接符 21">
            <a:extLst>
              <a:ext uri="{FF2B5EF4-FFF2-40B4-BE49-F238E27FC236}">
                <a16:creationId xmlns:a16="http://schemas.microsoft.com/office/drawing/2014/main" id="{30A61073-DE29-57E4-A1D9-4283322B58FB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2822128" y="1932021"/>
            <a:ext cx="120764" cy="1084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A376313F-1E57-E462-ADA3-61CF281A0536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59694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损失函数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D5D2A04D-8113-726E-D5BE-4DB3962F9D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759"/>
          <a:stretch/>
        </p:blipFill>
        <p:spPr bwMode="auto">
          <a:xfrm>
            <a:off x="3483617" y="4996738"/>
            <a:ext cx="5276850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A83F7CD7-1084-4AD2-F5E6-3351B8E735DA}"/>
              </a:ext>
            </a:extLst>
          </p:cNvPr>
          <p:cNvSpPr txBox="1"/>
          <p:nvPr/>
        </p:nvSpPr>
        <p:spPr>
          <a:xfrm>
            <a:off x="2594024" y="5397357"/>
            <a:ext cx="8970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loss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-</a:t>
            </a:r>
            <a:r>
              <a:rPr lang="pt-BR" altLang="zh-CN" sz="1800" b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np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.mean(</a:t>
            </a:r>
            <a:r>
              <a:rPr lang="pt-BR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y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np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.log(</a:t>
            </a:r>
            <a:r>
              <a:rPr lang="pt-BR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h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+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1e-8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  <a:r>
              <a:rPr lang="pt-BR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+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(</a:t>
            </a:r>
            <a:r>
              <a:rPr lang="pt-BR" altLang="zh-CN" sz="1800" b="0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1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-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y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  <a:r>
              <a:rPr lang="pt-BR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np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.log(</a:t>
            </a:r>
            <a:r>
              <a:rPr lang="pt-BR" altLang="zh-CN" sz="1800" b="0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1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-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h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+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pt-BR" altLang="zh-CN" sz="1800" b="0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1e-8</a:t>
            </a:r>
            <a:r>
              <a:rPr lang="pt-BR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))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7486758F-7078-06CC-F814-4A9545543F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96" r="13327"/>
          <a:stretch/>
        </p:blipFill>
        <p:spPr>
          <a:xfrm>
            <a:off x="6205466" y="1196101"/>
            <a:ext cx="5110002" cy="3576812"/>
          </a:xfrm>
          <a:prstGeom prst="rect">
            <a:avLst/>
          </a:prstGeom>
        </p:spPr>
      </p:pic>
      <p:pic>
        <p:nvPicPr>
          <p:cNvPr id="34" name="Picture 6">
            <a:extLst>
              <a:ext uri="{FF2B5EF4-FFF2-40B4-BE49-F238E27FC236}">
                <a16:creationId xmlns:a16="http://schemas.microsoft.com/office/drawing/2014/main" id="{4DACFC60-A39D-15AF-0872-93C6AB99E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2069152"/>
            <a:ext cx="5019179" cy="276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>
            <a:extLst>
              <a:ext uri="{FF2B5EF4-FFF2-40B4-BE49-F238E27FC236}">
                <a16:creationId xmlns:a16="http://schemas.microsoft.com/office/drawing/2014/main" id="{D414C882-D7AD-4927-65EC-3EF6F2D01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683" y="1268760"/>
            <a:ext cx="196215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63BAD464-D731-C70C-2AEE-DA30DF693928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70D8F1D-3BF8-4AEE-478F-26A72899ED96}"/>
                  </a:ext>
                </a:extLst>
              </p:cNvPr>
              <p:cNvSpPr txBox="1"/>
              <p:nvPr/>
            </p:nvSpPr>
            <p:spPr>
              <a:xfrm>
                <a:off x="1333545" y="5927697"/>
                <a:ext cx="952491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latinLnBrk="0"/>
                <a:r>
                  <a:rPr lang="zh-CN" altLang="en-US" b="0" dirty="0"/>
                  <a:t>当真实标签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b="0" dirty="0"/>
                  <a:t> 时，损失为 ，预测概率 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0" dirty="0"/>
                  <a:t> 越接近</a:t>
                </a:r>
                <a:r>
                  <a:rPr lang="en-US" altLang="zh-CN" b="0" dirty="0"/>
                  <a:t>1</a:t>
                </a:r>
                <a:r>
                  <a:rPr lang="zh-CN" altLang="en-US" b="0" dirty="0"/>
                  <a:t>，损失越小。</a:t>
                </a:r>
              </a:p>
              <a:p>
                <a:pPr lvl="1" latinLnBrk="0"/>
                <a:r>
                  <a:rPr lang="zh-CN" altLang="en-US" b="0" dirty="0"/>
                  <a:t>当真实标签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b="0" dirty="0"/>
                  <a:t> 时，损失为 ，预测概率 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zh-CN" altLang="en-US" b="0" dirty="0"/>
                  <a:t> 越接近</a:t>
                </a:r>
                <a:r>
                  <a:rPr lang="en-US" altLang="zh-CN" b="0" dirty="0"/>
                  <a:t>0</a:t>
                </a:r>
                <a:r>
                  <a:rPr lang="zh-CN" altLang="en-US" b="0" dirty="0"/>
                  <a:t>，损失越小。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70D8F1D-3BF8-4AEE-478F-26A72899E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45" y="5927697"/>
                <a:ext cx="9524910" cy="707886"/>
              </a:xfrm>
              <a:prstGeom prst="rect">
                <a:avLst/>
              </a:prstGeom>
              <a:blipFill>
                <a:blip r:embed="rId8"/>
                <a:stretch>
                  <a:fillRect t="-5983" b="-11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7569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最优化算法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8677C6-A8B3-B105-EF03-7FBEA6AF656B}"/>
              </a:ext>
            </a:extLst>
          </p:cNvPr>
          <p:cNvSpPr txBox="1"/>
          <p:nvPr/>
        </p:nvSpPr>
        <p:spPr>
          <a:xfrm>
            <a:off x="7608185" y="3117672"/>
            <a:ext cx="45838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sigmoid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gradient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.T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.size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lr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gradient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A63F0E9-D7CE-3286-AA49-652AE958A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15" y="1639242"/>
            <a:ext cx="5916295" cy="41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7F8420C-674E-0ED9-8F15-60008F646ED3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1149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训练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B9B8F5-7623-4F2B-D464-74232C362163}"/>
              </a:ext>
            </a:extLst>
          </p:cNvPr>
          <p:cNvSpPr txBox="1"/>
          <p:nvPr/>
        </p:nvSpPr>
        <p:spPr>
          <a:xfrm>
            <a:off x="2946401" y="840830"/>
            <a:ext cx="908594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800" b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for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epoch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range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epochs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  <a:r>
              <a:rPr lang="en-US" altLang="zh-CN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（</a:t>
            </a:r>
            <a:r>
              <a:rPr lang="en-US" altLang="zh-CN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2</a:t>
            </a:r>
            <a:r>
              <a:rPr lang="zh-CN" altLang="en-US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）构造了求解函数</a:t>
            </a:r>
            <a:endParaRPr lang="zh-CN" altLang="en-US" sz="1800" b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z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X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@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theta</a:t>
            </a:r>
            <a:endParaRPr lang="en-US" altLang="zh-CN" sz="1800" b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h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sigmoid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z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     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gradient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X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.T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@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(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h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-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y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/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y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.size</a:t>
            </a:r>
            <a:endParaRPr lang="en-US" altLang="zh-CN" sz="1800" b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b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  <a:r>
              <a:rPr lang="en-US" altLang="zh-CN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（</a:t>
            </a:r>
            <a:r>
              <a:rPr lang="en-US" altLang="zh-CN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3</a:t>
            </a:r>
            <a:r>
              <a:rPr lang="zh-CN" altLang="en-US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）</a:t>
            </a:r>
            <a:endParaRPr lang="en-US" altLang="zh-CN" sz="1800" b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  <a:r>
              <a:rPr lang="en-US" altLang="zh-CN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使用梯度下降法求解</a:t>
            </a:r>
            <a:r>
              <a:rPr lang="en-US" altLang="zh-CN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Cost</a:t>
            </a:r>
            <a:r>
              <a:rPr lang="zh-CN" altLang="en-US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的最优解：</a:t>
            </a:r>
            <a:endParaRPr lang="zh-CN" altLang="en-US" sz="1800" b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theta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-=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lr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gradient</a:t>
            </a:r>
            <a:endParaRPr lang="en-US" altLang="zh-CN" sz="1800" b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b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 </a:t>
            </a:r>
            <a:r>
              <a:rPr lang="en-US" altLang="zh-CN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</a:t>
            </a:r>
            <a:r>
              <a:rPr lang="zh-CN" altLang="en-US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计算当前轮的损失值（对数损失函数）</a:t>
            </a:r>
            <a:endParaRPr lang="zh-CN" altLang="en-US" sz="1800" b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loss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-</a:t>
            </a:r>
            <a:r>
              <a:rPr lang="en-US" altLang="zh-CN" sz="1800" b="0" dirty="0" err="1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np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mean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y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np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log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h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+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1e-8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+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(</a:t>
            </a:r>
            <a:r>
              <a:rPr lang="en-US" altLang="zh-CN" sz="1800" b="0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-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y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np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log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800" b="0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		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-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h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+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1e-8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losses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append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loss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  <a:r>
              <a:rPr lang="en-US" altLang="zh-CN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迭代达到一定的次数或一定阈值</a:t>
            </a:r>
            <a:endParaRPr lang="zh-CN" altLang="en-US" sz="1800" b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  <a:r>
              <a:rPr lang="en-US" altLang="zh-CN" sz="1800" b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loss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&lt;</a:t>
            </a:r>
            <a:r>
              <a:rPr lang="en-US" altLang="zh-CN" sz="1800" b="0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0.1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    </a:t>
            </a:r>
            <a:r>
              <a:rPr lang="en-US" altLang="zh-CN" sz="1800" b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return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b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800" b="0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print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loss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9C0DFF-A291-16BD-8791-5427468D9445}"/>
              </a:ext>
            </a:extLst>
          </p:cNvPr>
          <p:cNvSpPr txBox="1"/>
          <p:nvPr/>
        </p:nvSpPr>
        <p:spPr>
          <a:xfrm>
            <a:off x="1117601" y="2318157"/>
            <a:ext cx="1377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超参数：</a:t>
            </a:r>
            <a:endParaRPr lang="en-US" altLang="zh-CN" sz="1800" b="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轮数</a:t>
            </a:r>
            <a:endParaRPr lang="en-US" altLang="zh-CN" sz="1800" b="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 err="1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Bachsize</a:t>
            </a:r>
            <a:endParaRPr lang="en-US" altLang="zh-CN" sz="1800" b="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………</a:t>
            </a:r>
            <a:endParaRPr lang="zh-CN" altLang="en-US" sz="1800" b="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4CF721-2800-B075-E203-FB7BBF8F6A44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18182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推理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BAE69C-9DE2-BE0E-3794-3E813F341654}"/>
              </a:ext>
            </a:extLst>
          </p:cNvPr>
          <p:cNvSpPr txBox="1"/>
          <p:nvPr/>
        </p:nvSpPr>
        <p:spPr>
          <a:xfrm>
            <a:off x="5738373" y="1534954"/>
            <a:ext cx="7982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prstClr val="black"/>
                </a:solidFill>
                <a:highlight>
                  <a:srgbClr val="00FF00"/>
                </a:highlight>
                <a:latin typeface="Consolas" panose="020B0609020204030204" pitchFamily="49" charset="0"/>
                <a:ea typeface="等线" panose="02010600030101010101" pitchFamily="2" charset="-122"/>
              </a:rPr>
              <a:t>已知</a:t>
            </a:r>
            <a:endParaRPr lang="en-US" altLang="zh-CN" sz="2400" dirty="0">
              <a:solidFill>
                <a:prstClr val="black"/>
              </a:solidFill>
              <a:highlight>
                <a:srgbClr val="00FF00"/>
              </a:highlight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898524-A4D4-AC3A-8B02-E331658D5F1D}"/>
              </a:ext>
            </a:extLst>
          </p:cNvPr>
          <p:cNvSpPr txBox="1"/>
          <p:nvPr/>
        </p:nvSpPr>
        <p:spPr>
          <a:xfrm>
            <a:off x="664107" y="4984072"/>
            <a:ext cx="2031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超参数：</a:t>
            </a:r>
            <a:endParaRPr lang="en-US" altLang="zh-CN" sz="1800" b="0" dirty="0">
              <a:solidFill>
                <a:prstClr val="black"/>
              </a:solidFill>
              <a:latin typeface="等线" panose="02110004020202020204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LR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轮数</a:t>
            </a:r>
            <a:endParaRPr lang="en-US" altLang="zh-CN" sz="1800" b="0" dirty="0">
              <a:solidFill>
                <a:prstClr val="black"/>
              </a:solidFill>
              <a:latin typeface="等线" panose="02110004020202020204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 err="1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Bachsize</a:t>
            </a:r>
            <a:endParaRPr lang="en-US" altLang="zh-CN" sz="1800" b="0" dirty="0">
              <a:solidFill>
                <a:prstClr val="black"/>
              </a:solidFill>
              <a:latin typeface="等线" panose="02110004020202020204"/>
              <a:ea typeface="等线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………</a:t>
            </a:r>
            <a:endParaRPr lang="zh-CN" altLang="en-US" sz="1800" b="0" dirty="0">
              <a:solidFill>
                <a:prstClr val="black"/>
              </a:solidFill>
              <a:latin typeface="等线" panose="02110004020202020204"/>
              <a:ea typeface="等线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251269-3883-A7AB-5B27-DFE37932133E}"/>
              </a:ext>
            </a:extLst>
          </p:cNvPr>
          <p:cNvSpPr txBox="1"/>
          <p:nvPr/>
        </p:nvSpPr>
        <p:spPr>
          <a:xfrm>
            <a:off x="2850030" y="2801401"/>
            <a:ext cx="81425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4400" b="0" dirty="0">
                <a:solidFill>
                  <a:srgbClr val="FF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y</a:t>
            </a:r>
            <a:r>
              <a:rPr lang="en-US" altLang="zh-CN" sz="44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400" b="0" dirty="0">
                <a:solidFill>
                  <a:srgbClr val="00B0F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x1</a:t>
            </a:r>
            <a:r>
              <a:rPr lang="en-US" altLang="zh-CN" sz="44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*theta1+</a:t>
            </a:r>
            <a:r>
              <a:rPr lang="en-US" altLang="zh-CN" sz="4400" b="0" dirty="0">
                <a:solidFill>
                  <a:srgbClr val="00B0F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x1</a:t>
            </a:r>
            <a:r>
              <a:rPr lang="en-US" altLang="zh-CN" sz="4400" b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*theta2+b</a:t>
            </a:r>
            <a:endParaRPr lang="zh-CN" altLang="en-US" sz="4400" b="0" dirty="0">
              <a:solidFill>
                <a:srgbClr val="008000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cxnSp>
        <p:nvCxnSpPr>
          <p:cNvPr id="15" name="直接箭头连接符 7">
            <a:extLst>
              <a:ext uri="{FF2B5EF4-FFF2-40B4-BE49-F238E27FC236}">
                <a16:creationId xmlns:a16="http://schemas.microsoft.com/office/drawing/2014/main" id="{4340B26B-BAC6-BBDD-2B0E-6F4DB399AC85}"/>
              </a:ext>
            </a:extLst>
          </p:cNvPr>
          <p:cNvCxnSpPr/>
          <p:nvPr/>
        </p:nvCxnSpPr>
        <p:spPr>
          <a:xfrm flipH="1">
            <a:off x="5506144" y="2088018"/>
            <a:ext cx="464458" cy="870857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直接箭头连接符 8">
            <a:extLst>
              <a:ext uri="{FF2B5EF4-FFF2-40B4-BE49-F238E27FC236}">
                <a16:creationId xmlns:a16="http://schemas.microsoft.com/office/drawing/2014/main" id="{DF41A73E-57EE-8821-D5A3-4749F2B90079}"/>
              </a:ext>
            </a:extLst>
          </p:cNvPr>
          <p:cNvCxnSpPr>
            <a:cxnSpLocks/>
          </p:cNvCxnSpPr>
          <p:nvPr/>
        </p:nvCxnSpPr>
        <p:spPr>
          <a:xfrm>
            <a:off x="6123002" y="2088018"/>
            <a:ext cx="631371" cy="870857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直接箭头连接符 11">
            <a:extLst>
              <a:ext uri="{FF2B5EF4-FFF2-40B4-BE49-F238E27FC236}">
                <a16:creationId xmlns:a16="http://schemas.microsoft.com/office/drawing/2014/main" id="{7019116C-DA4F-754F-ABB4-CD3128A3EDD8}"/>
              </a:ext>
            </a:extLst>
          </p:cNvPr>
          <p:cNvCxnSpPr>
            <a:cxnSpLocks/>
          </p:cNvCxnSpPr>
          <p:nvPr/>
        </p:nvCxnSpPr>
        <p:spPr>
          <a:xfrm>
            <a:off x="6123002" y="2088018"/>
            <a:ext cx="2169885" cy="870857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直接箭头连接符 14">
            <a:extLst>
              <a:ext uri="{FF2B5EF4-FFF2-40B4-BE49-F238E27FC236}">
                <a16:creationId xmlns:a16="http://schemas.microsoft.com/office/drawing/2014/main" id="{C7B90046-1D65-BC1F-2C78-7646D958FF6F}"/>
              </a:ext>
            </a:extLst>
          </p:cNvPr>
          <p:cNvCxnSpPr>
            <a:cxnSpLocks/>
          </p:cNvCxnSpPr>
          <p:nvPr/>
        </p:nvCxnSpPr>
        <p:spPr>
          <a:xfrm flipH="1">
            <a:off x="3967630" y="2088018"/>
            <a:ext cx="2002972" cy="870857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6C1D378-EE1A-FBE1-2ED2-E2CB185D53AC}"/>
              </a:ext>
            </a:extLst>
          </p:cNvPr>
          <p:cNvSpPr txBox="1"/>
          <p:nvPr/>
        </p:nvSpPr>
        <p:spPr>
          <a:xfrm>
            <a:off x="2850028" y="1534954"/>
            <a:ext cx="7982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prstClr val="black"/>
                </a:solidFill>
                <a:highlight>
                  <a:srgbClr val="FF0000"/>
                </a:highlight>
                <a:latin typeface="Consolas" panose="020B0609020204030204" pitchFamily="49" charset="0"/>
                <a:ea typeface="等线" panose="02010600030101010101" pitchFamily="2" charset="-122"/>
              </a:rPr>
              <a:t>未知</a:t>
            </a:r>
            <a:endParaRPr lang="en-US" altLang="zh-CN" sz="2400" dirty="0">
              <a:solidFill>
                <a:prstClr val="black"/>
              </a:solidFill>
              <a:highlight>
                <a:srgbClr val="FF0000"/>
              </a:highlight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cxnSp>
        <p:nvCxnSpPr>
          <p:cNvPr id="20" name="直接箭头连接符 18">
            <a:extLst>
              <a:ext uri="{FF2B5EF4-FFF2-40B4-BE49-F238E27FC236}">
                <a16:creationId xmlns:a16="http://schemas.microsoft.com/office/drawing/2014/main" id="{80B44CFF-27D8-1530-4473-2E7FED6BB6A6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3133058" y="1996619"/>
            <a:ext cx="116112" cy="1084155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036CC56-3E87-2730-3AB9-EC144D95EAB8}"/>
              </a:ext>
            </a:extLst>
          </p:cNvPr>
          <p:cNvSpPr txBox="1"/>
          <p:nvPr/>
        </p:nvSpPr>
        <p:spPr>
          <a:xfrm>
            <a:off x="3048000" y="52085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X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 err="1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np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[</a:t>
            </a:r>
            <a:r>
              <a:rPr lang="en-US" altLang="zh-CN" sz="1800" b="0" dirty="0" err="1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np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ones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((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X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.shape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[</a:t>
            </a:r>
            <a:r>
              <a:rPr lang="en-US" altLang="zh-CN" sz="1800" b="0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0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 </a:t>
            </a:r>
            <a:r>
              <a:rPr lang="en-US" altLang="zh-CN" sz="1800" b="0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)), 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X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</a:t>
            </a:r>
            <a:r>
              <a:rPr lang="en-US" altLang="zh-CN" sz="1800" b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return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sigmoid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800" b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X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@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800" b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800" b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theta</a:t>
            </a:r>
            <a:r>
              <a:rPr lang="en-US" altLang="zh-CN" sz="1800" b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5A8BE4-5E6A-97DA-68C2-E1A863C46A1F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05973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调试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524330-9332-D619-E309-941E474820A9}"/>
              </a:ext>
            </a:extLst>
          </p:cNvPr>
          <p:cNvSpPr txBox="1"/>
          <p:nvPr/>
        </p:nvSpPr>
        <p:spPr>
          <a:xfrm>
            <a:off x="5080000" y="2717555"/>
            <a:ext cx="2031999" cy="1422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加断点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观察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控制台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5523F1-9BBC-D271-6CCB-A3F4B500E1FD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46988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20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32914</TotalTime>
  <Words>1220</Words>
  <Application>Microsoft Office PowerPoint</Application>
  <PresentationFormat>宽屏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KaTeX_Main</vt:lpstr>
      <vt:lpstr>KaTeX_Math</vt:lpstr>
      <vt:lpstr>等线</vt:lpstr>
      <vt:lpstr>黑体</vt:lpstr>
      <vt:lpstr>宋体</vt:lpstr>
      <vt:lpstr>微软雅黑</vt:lpstr>
      <vt:lpstr>微软雅黑</vt:lpstr>
      <vt:lpstr>Arial</vt:lpstr>
      <vt:lpstr>Calibri</vt:lpstr>
      <vt:lpstr>Calibri Light</vt:lpstr>
      <vt:lpstr>Cambria</vt:lpstr>
      <vt:lpstr>Cambria Math</vt:lpstr>
      <vt:lpstr>Consolas</vt:lpstr>
      <vt:lpstr>Times New Roman</vt:lpstr>
      <vt:lpstr>Wingdings</vt:lpstr>
      <vt:lpstr>20_默认设计模板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cqu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ljc</dc:creator>
  <cp:lastModifiedBy>翊 王</cp:lastModifiedBy>
  <cp:revision>3592</cp:revision>
  <dcterms:created xsi:type="dcterms:W3CDTF">2011-11-29T15:11:00Z</dcterms:created>
  <dcterms:modified xsi:type="dcterms:W3CDTF">2026-04-26T09:02:15Z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2052-11.1.0.8696</vt:lpwstr>
  </property>
</Properties>
</file>
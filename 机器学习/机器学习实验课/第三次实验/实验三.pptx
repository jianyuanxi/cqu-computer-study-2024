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83" r:id="rId2"/>
    <p:sldId id="1036" r:id="rId3"/>
    <p:sldId id="1034" r:id="rId4"/>
    <p:sldId id="969" r:id="rId5"/>
    <p:sldId id="1028" r:id="rId6"/>
    <p:sldId id="1035" r:id="rId7"/>
    <p:sldId id="1029" r:id="rId8"/>
    <p:sldId id="1025" r:id="rId9"/>
  </p:sldIdLst>
  <p:sldSz cx="12192000" cy="6858000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d" initials="L" lastIdx="1" clrIdx="0"/>
  <p:cmAuthor id="1" name="ljc" initials="l" lastIdx="1" clrIdx="1">
    <p:extLst>
      <p:ext uri="{19B8F6BF-5375-455C-9EA6-DF929625EA0E}">
        <p15:presenceInfo xmlns:p15="http://schemas.microsoft.com/office/powerpoint/2012/main" userId="lj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3399"/>
    <a:srgbClr val="FF0000"/>
    <a:srgbClr val="0000FF"/>
    <a:srgbClr val="CCECFF"/>
    <a:srgbClr val="FF6600"/>
    <a:srgbClr val="2A65B1"/>
    <a:srgbClr val="666699"/>
    <a:srgbClr val="EAB200"/>
    <a:srgbClr val="C4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1" autoAdjust="0"/>
    <p:restoredTop sz="95499" autoAdjust="0"/>
  </p:normalViewPr>
  <p:slideViewPr>
    <p:cSldViewPr>
      <p:cViewPr varScale="1">
        <p:scale>
          <a:sx n="111" d="100"/>
          <a:sy n="111" d="100"/>
        </p:scale>
        <p:origin x="216" y="3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25" d="100"/>
          <a:sy n="125" d="100"/>
        </p:scale>
        <p:origin x="3036" y="-136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t" anchorCtr="0" compatLnSpc="1"/>
          <a:lstStyle>
            <a:lvl1pPr algn="r"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defTabSz="955675" eaLnBrk="1" hangingPunct="1">
              <a:spcBef>
                <a:spcPct val="0"/>
              </a:spcBef>
              <a:buClrTx/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1338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71" tIns="47786" rIns="95571" bIns="47786" numCol="1" anchor="b" anchorCtr="0" compatLnSpc="1"/>
          <a:lstStyle>
            <a:lvl1pPr algn="r" defTabSz="955675" eaLnBrk="1" hangingPunct="1">
              <a:defRPr sz="13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57D1A4-6000-48D8-AB79-1D8DFD103961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2970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1BFD77-E2A6-4F01-B718-78FD8FD8645D}" type="datetimeFigureOut">
              <a:rPr lang="zh-CN" altLang="en-US"/>
              <a:t>2025/5/23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50000"/>
              </a:spcBef>
              <a:buClr>
                <a:srgbClr val="0066CC"/>
              </a:buClr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F444F810-1253-45B3-AE2D-7766756D6BD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554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56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34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5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301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711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006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1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Chongqing, located in the southwest of China.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Chongqing is famous for its mountain city.</a:t>
            </a:r>
            <a:r>
              <a:rPr lang="zh-CN" altLang="en-US" dirty="0"/>
              <a:t> </a:t>
            </a:r>
            <a:r>
              <a:rPr lang="en-US" altLang="zh-CN" dirty="0"/>
              <a:t> Because urban roads rises and falls, People travel mostly by private cars, taxis or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transit</a:t>
            </a:r>
            <a:endParaRPr lang="zh-CN" altLang="en-US" sz="1200" dirty="0"/>
          </a:p>
          <a:p>
            <a:r>
              <a:rPr lang="en-US" altLang="zh-CN" dirty="0"/>
              <a:t>. Bike and walk are relatively rare.</a:t>
            </a:r>
          </a:p>
          <a:p>
            <a:r>
              <a:rPr lang="en-US" altLang="zh-CN" dirty="0"/>
              <a:t>In addition, Changjiang River and jialingjiang River divide the city, there are many bridges and tunnels.</a:t>
            </a:r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complex road system bring Chongqing more congestions, especially in rush hours.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44F810-1253-45B3-AE2D-7766756D6BD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41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4" y="6564313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cquppt1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0"/>
            <a:ext cx="3048000" cy="6872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7186" y="260648"/>
            <a:ext cx="936102" cy="27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线连接符 6"/>
          <p:cNvCxnSpPr/>
          <p:nvPr userDrawn="1"/>
        </p:nvCxnSpPr>
        <p:spPr bwMode="auto">
          <a:xfrm>
            <a:off x="624408" y="714422"/>
            <a:ext cx="1101620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64C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F76A3DB-F7FD-4617-980D-0F9BFFD520B8}"/>
              </a:ext>
            </a:extLst>
          </p:cNvPr>
          <p:cNvSpPr txBox="1"/>
          <p:nvPr userDrawn="1"/>
        </p:nvSpPr>
        <p:spPr>
          <a:xfrm>
            <a:off x="11797453" y="6581001"/>
            <a:ext cx="413111" cy="276999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pPr algn="ctr"/>
            <a:fld id="{D079CD6D-EA03-4A23-9676-DB1F594EE155}" type="slidenum">
              <a:rPr lang="zh-CN" altLang="en-US" sz="12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 bwMode="auto">
          <a:xfrm>
            <a:off x="0" y="3612753"/>
            <a:ext cx="12191999" cy="3270091"/>
          </a:xfrm>
          <a:prstGeom prst="rect">
            <a:avLst/>
          </a:prstGeom>
          <a:solidFill>
            <a:srgbClr val="045CA2">
              <a:alpha val="82000"/>
            </a:srgbClr>
          </a:solidFill>
          <a:ln w="9525">
            <a:noFill/>
            <a:miter lim="800000"/>
          </a:ln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algn="ctr">
              <a:defRPr/>
            </a:pPr>
            <a:endParaRPr lang="zh-CN" altLang="en-US" b="1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sp>
        <p:nvSpPr>
          <p:cNvPr id="14" name="标题 2"/>
          <p:cNvSpPr txBox="1"/>
          <p:nvPr/>
        </p:nvSpPr>
        <p:spPr>
          <a:xfrm>
            <a:off x="-1" y="1956568"/>
            <a:ext cx="12192000" cy="1839009"/>
          </a:xfrm>
          <a:prstGeom prst="rect">
            <a:avLst/>
          </a:prstGeom>
          <a:solidFill>
            <a:srgbClr val="42B9EF">
              <a:alpha val="88000"/>
            </a:srgbClr>
          </a:solidFill>
          <a:effectLst>
            <a:outerShdw dist="50800" dir="2700000" sx="3999" sy="3999" algn="tl" rotWithShape="0">
              <a:srgbClr val="025AA0">
                <a:alpha val="54999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kumimoji="1" lang="zh-CN" altLang="en-US" sz="3600" b="0" spc="100" dirty="0">
              <a:solidFill>
                <a:prstClr val="white"/>
              </a:solidFill>
              <a:latin typeface="Cambria" panose="02040503050406030204"/>
              <a:ea typeface="黑体" panose="02010609060101010101" pitchFamily="49" charset="-122"/>
            </a:endParaRPr>
          </a:p>
        </p:txBody>
      </p:sp>
      <p:sp>
        <p:nvSpPr>
          <p:cNvPr id="6146" name="Rectangle 14"/>
          <p:cNvSpPr>
            <a:spLocks noChangeArrowheads="1"/>
          </p:cNvSpPr>
          <p:nvPr/>
        </p:nvSpPr>
        <p:spPr bwMode="auto">
          <a:xfrm>
            <a:off x="14548" y="2418528"/>
            <a:ext cx="12184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实验三：决策树算法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1E6EEFF-879F-4DB7-9169-1714BEBE4B58}"/>
              </a:ext>
            </a:extLst>
          </p:cNvPr>
          <p:cNvSpPr/>
          <p:nvPr/>
        </p:nvSpPr>
        <p:spPr>
          <a:xfrm>
            <a:off x="3263615" y="4653136"/>
            <a:ext cx="5616624" cy="14401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12CC6AB-26AB-4457-B8CA-FD5CA7BCC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4" y="6322889"/>
            <a:ext cx="12191999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25000"/>
              </a:spcBef>
            </a:pPr>
            <a:fld id="{8FC03804-C4CC-421C-A2BE-78DDE02C2BEB}" type="datetime6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2025年5月</a:t>
            </a:fld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EC96A4-5F2D-4BD1-A386-C2D3635E11BD}"/>
              </a:ext>
            </a:extLst>
          </p:cNvPr>
          <p:cNvSpPr/>
          <p:nvPr/>
        </p:nvSpPr>
        <p:spPr>
          <a:xfrm>
            <a:off x="3250946" y="4919245"/>
            <a:ext cx="5629293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SzPct val="60000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重庆大学计算机学院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buSzPct val="60000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王翊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0C9A03F-FF72-4144-A77A-67236FBDF78A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447832"/>
            <a:ext cx="12192001" cy="1328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机器学习基础</a:t>
            </a:r>
            <a:b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Machine Learning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决策树分类算法简介</a:t>
            </a: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6D5D49-4DE0-16B2-1B1A-C38CDC7ED85E}"/>
              </a:ext>
            </a:extLst>
          </p:cNvPr>
          <p:cNvSpPr txBox="1">
            <a:spLocks/>
          </p:cNvSpPr>
          <p:nvPr/>
        </p:nvSpPr>
        <p:spPr>
          <a:xfrm>
            <a:off x="4799856" y="1481781"/>
            <a:ext cx="6840760" cy="3823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目标变量是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类别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基本思想：通过特征的划分，将数据集划分为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越来越纯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的子集，形成树结构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关键概念：节点（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Node）、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叶子节点（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Leaf）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划分依据（分类）：信息增益（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ID3）、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增益率（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C4.5）、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基尼系数（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CART）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优点：易解释、可视化、能处理非线性关系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DA1CB08C-9F0A-AADF-E5DD-0A49C2E7ED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1270" r="55968" b="-1"/>
          <a:stretch/>
        </p:blipFill>
        <p:spPr>
          <a:xfrm>
            <a:off x="551384" y="1837674"/>
            <a:ext cx="4102124" cy="31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0972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回归树简介</a:t>
            </a: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695017-1982-7D58-AFD9-0F600BF39D46}"/>
              </a:ext>
            </a:extLst>
          </p:cNvPr>
          <p:cNvSpPr txBox="1">
            <a:spLocks/>
          </p:cNvSpPr>
          <p:nvPr/>
        </p:nvSpPr>
        <p:spPr>
          <a:xfrm>
            <a:off x="5159896" y="1423628"/>
            <a:ext cx="6336704" cy="4010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目标变量是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连续数值</a:t>
            </a:r>
            <a:endParaRPr lang="en-US" altLang="zh-CN" sz="20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目标：用于预测连续值（如房价、温度）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划分原则：最小化每个子区域内的 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MSE（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均方误差）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叶子节点：存储的是一个预测值（如样本均值）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分类树 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vs 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回归树：</a:t>
            </a: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p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分类树：预测离散类别，用信息增益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基尼系数</a:t>
            </a: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p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回归树：预测连续值，用均方误差 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MSE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9F615CD9-3165-5505-A44C-3FFC5087B8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010" t="-1270" b="-1"/>
          <a:stretch/>
        </p:blipFill>
        <p:spPr>
          <a:xfrm>
            <a:off x="617658" y="1916832"/>
            <a:ext cx="4371137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1549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74D4D4F-F286-9F5E-F561-24B8DE9E746D}"/>
              </a:ext>
            </a:extLst>
          </p:cNvPr>
          <p:cNvSpPr txBox="1"/>
          <p:nvPr/>
        </p:nvSpPr>
        <p:spPr>
          <a:xfrm>
            <a:off x="479376" y="2224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0A83D-DBDA-0F34-FDA6-AAA652E22397}"/>
              </a:ext>
            </a:extLst>
          </p:cNvPr>
          <p:cNvSpPr txBox="1">
            <a:spLocks/>
          </p:cNvSpPr>
          <p:nvPr/>
        </p:nvSpPr>
        <p:spPr>
          <a:xfrm>
            <a:off x="3287688" y="1952836"/>
            <a:ext cx="5616624" cy="29523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理解决策树分类与回归树建模原理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掌握基于信息增益的 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ID3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算法实现</a:t>
            </a:r>
            <a:endParaRPr lang="en-US" altLang="zh-CN" sz="20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掌握 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CART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回归树算法实现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学会使用 </a:t>
            </a:r>
            <a:r>
              <a:rPr lang="en-US" sz="20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Sklearn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构建决策树</a:t>
            </a: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回归树模型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en-US" altLang="zh-CN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分析模型表现与误差</a:t>
            </a:r>
          </a:p>
        </p:txBody>
      </p:sp>
    </p:spTree>
    <p:extLst>
      <p:ext uri="{BB962C8B-B14F-4D97-AF65-F5344CB8AC3E}">
        <p14:creationId xmlns:p14="http://schemas.microsoft.com/office/powerpoint/2010/main" val="42597588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3BAD464-D731-C70C-2AEE-DA30DF693928}"/>
              </a:ext>
            </a:extLst>
          </p:cNvPr>
          <p:cNvSpPr txBox="1"/>
          <p:nvPr/>
        </p:nvSpPr>
        <p:spPr>
          <a:xfrm>
            <a:off x="479376" y="222417"/>
            <a:ext cx="2836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手动实现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决策树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E88CED-74F0-7F96-5A5A-E36A923CD796}"/>
              </a:ext>
            </a:extLst>
          </p:cNvPr>
          <p:cNvSpPr txBox="1">
            <a:spLocks/>
          </p:cNvSpPr>
          <p:nvPr/>
        </p:nvSpPr>
        <p:spPr>
          <a:xfrm>
            <a:off x="3438016" y="1686727"/>
            <a:ext cx="4293122" cy="19615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输入：蘑菇分类数据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实现：基于信息增益构造决策树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输出：生成的树结构、分类准确率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90AEE-2001-27DE-6ADB-2735032FB8E8}"/>
              </a:ext>
            </a:extLst>
          </p:cNvPr>
          <p:cNvSpPr txBox="1"/>
          <p:nvPr/>
        </p:nvSpPr>
        <p:spPr>
          <a:xfrm>
            <a:off x="2633129" y="3660563"/>
            <a:ext cx="5609228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理解信息增益的计算和决策树递归的过程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补全代码中香农熵计算和特征选择函数</a:t>
            </a:r>
          </a:p>
        </p:txBody>
      </p:sp>
    </p:spTree>
    <p:extLst>
      <p:ext uri="{BB962C8B-B14F-4D97-AF65-F5344CB8AC3E}">
        <p14:creationId xmlns:p14="http://schemas.microsoft.com/office/powerpoint/2010/main" val="89675696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3BAD464-D731-C70C-2AEE-DA30DF693928}"/>
              </a:ext>
            </a:extLst>
          </p:cNvPr>
          <p:cNvSpPr txBox="1"/>
          <p:nvPr/>
        </p:nvSpPr>
        <p:spPr>
          <a:xfrm>
            <a:off x="479376" y="222417"/>
            <a:ext cx="4057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实现决策树分类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AF5AB6-A102-D92E-95DA-6026C24C9F48}"/>
              </a:ext>
            </a:extLst>
          </p:cNvPr>
          <p:cNvSpPr txBox="1"/>
          <p:nvPr/>
        </p:nvSpPr>
        <p:spPr>
          <a:xfrm>
            <a:off x="900493" y="1412776"/>
            <a:ext cx="7272808" cy="142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数据集：蘑菇数据集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sklearn.tree.DecisionTreeClassifier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实现决策树分类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观察结果，理解各项指标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B28A03-9DB3-5A3C-D288-9E5D36C8006B}"/>
              </a:ext>
            </a:extLst>
          </p:cNvPr>
          <p:cNvSpPr txBox="1"/>
          <p:nvPr/>
        </p:nvSpPr>
        <p:spPr>
          <a:xfrm>
            <a:off x="7968208" y="1412776"/>
            <a:ext cx="374441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Mushroom</a:t>
            </a:r>
            <a:r>
              <a:rPr lang="zh-CN" altLang="en-US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数据集包含了</a:t>
            </a:r>
            <a:r>
              <a:rPr lang="en-US" altLang="zh-CN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8124</a:t>
            </a:r>
            <a:r>
              <a:rPr lang="zh-CN" altLang="en-US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个蘑菇样本的描述，每个样本有</a:t>
            </a:r>
            <a:r>
              <a:rPr lang="en-US" altLang="zh-CN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22</a:t>
            </a:r>
            <a:r>
              <a:rPr lang="zh-CN" altLang="en-US" sz="1800" b="0" i="0" u="none" strike="noStrike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个属性，用于分类蘑菇是否有毒。属性包括蘑菇的形状、颜色、气味等特征。</a:t>
            </a:r>
            <a:endParaRPr kumimoji="1" lang="zh-CN" alt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E9131B-8BAB-7894-8EDA-8C08AA68D192}"/>
              </a:ext>
            </a:extLst>
          </p:cNvPr>
          <p:cNvSpPr txBox="1"/>
          <p:nvPr/>
        </p:nvSpPr>
        <p:spPr>
          <a:xfrm>
            <a:off x="1307468" y="3781640"/>
            <a:ext cx="9577064" cy="1433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理解分类任务的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各项指标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对上一步中的天⽓数据集，尝试使⽤ </a:t>
            </a:r>
            <a:r>
              <a:rPr kumimoji="1" lang="en-US" altLang="zh-CN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Sklearn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中的决策树进⾏分类，对⽐结果</a:t>
            </a:r>
          </a:p>
        </p:txBody>
      </p:sp>
    </p:spTree>
    <p:extLst>
      <p:ext uri="{BB962C8B-B14F-4D97-AF65-F5344CB8AC3E}">
        <p14:creationId xmlns:p14="http://schemas.microsoft.com/office/powerpoint/2010/main" val="9248160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096ED37-C727-435A-A8F0-9688F668DB42}"/>
              </a:ext>
            </a:extLst>
          </p:cNvPr>
          <p:cNvSpPr txBox="1"/>
          <p:nvPr/>
        </p:nvSpPr>
        <p:spPr>
          <a:xfrm>
            <a:off x="479376" y="22241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F8420C-674E-0ED9-8F15-60008F646ED3}"/>
              </a:ext>
            </a:extLst>
          </p:cNvPr>
          <p:cNvSpPr txBox="1"/>
          <p:nvPr/>
        </p:nvSpPr>
        <p:spPr>
          <a:xfrm>
            <a:off x="479376" y="222417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手动实现回归树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AB1E65-7E2C-BFCB-1F08-76C182AD243F}"/>
              </a:ext>
            </a:extLst>
          </p:cNvPr>
          <p:cNvSpPr txBox="1">
            <a:spLocks/>
          </p:cNvSpPr>
          <p:nvPr/>
        </p:nvSpPr>
        <p:spPr>
          <a:xfrm>
            <a:off x="2765176" y="1772816"/>
            <a:ext cx="7147247" cy="18722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输入：加州房价数据集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实现：划分最小化</a:t>
            </a:r>
            <a:r>
              <a:rPr 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MSE，</a:t>
            </a: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叶子节点取平均值，预剪枝机制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ü"/>
            </a:pPr>
            <a:r>
              <a:rPr lang="zh-CN" altLang="en-US" sz="20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输出：回归结果、误差分析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478F78-E4A4-EEBA-4CD7-46F18AE5FEF6}"/>
              </a:ext>
            </a:extLst>
          </p:cNvPr>
          <p:cNvSpPr txBox="1"/>
          <p:nvPr/>
        </p:nvSpPr>
        <p:spPr>
          <a:xfrm>
            <a:off x="2383219" y="3861048"/>
            <a:ext cx="6402715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理解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CART 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回归树构建过程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补全代码中的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MSE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、特征划分和递归建树函数</a:t>
            </a:r>
          </a:p>
        </p:txBody>
      </p:sp>
    </p:spTree>
    <p:extLst>
      <p:ext uri="{BB962C8B-B14F-4D97-AF65-F5344CB8AC3E}">
        <p14:creationId xmlns:p14="http://schemas.microsoft.com/office/powerpoint/2010/main" val="3053114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imgsa.baidu.com/timg?image&amp;quality=80&amp;size=b9999_10000&amp;sec=1605069944532&amp;di=fadb1258c81e7ea265d2bcbdc8fcc0c7&amp;imgtype=0&amp;src=http%3A%2F%2Fi.cqnews.net%2Fcqtoday%2Fattachement%2Fjpg%2Fsite82%2F20130227%2F002564c0b87d1297a69a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8CFFBE9-913D-4462-B6EB-5BFEF7CDBC93}"/>
              </a:ext>
            </a:extLst>
          </p:cNvPr>
          <p:cNvSpPr/>
          <p:nvPr/>
        </p:nvSpPr>
        <p:spPr>
          <a:xfrm>
            <a:off x="551384" y="764704"/>
            <a:ext cx="100663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76313F-1E57-E462-ADA3-61CF281A0536}"/>
              </a:ext>
            </a:extLst>
          </p:cNvPr>
          <p:cNvSpPr txBox="1"/>
          <p:nvPr/>
        </p:nvSpPr>
        <p:spPr>
          <a:xfrm>
            <a:off x="479376" y="22241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随机森林回归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0DB7F8-8316-F1E6-4674-6FE5131BB04E}"/>
              </a:ext>
            </a:extLst>
          </p:cNvPr>
          <p:cNvSpPr txBox="1"/>
          <p:nvPr/>
        </p:nvSpPr>
        <p:spPr>
          <a:xfrm>
            <a:off x="1691715" y="1988840"/>
            <a:ext cx="8808569" cy="188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数据集：加州房价数据集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sklearn.ensemble.RandomForestRegressor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实现多棵回归树集成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提高预测稳定性和准确率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将结果与回归树对比</a:t>
            </a:r>
            <a:endParaRPr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959694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32995</TotalTime>
  <Words>1018</Words>
  <Application>Microsoft Macintosh PowerPoint</Application>
  <PresentationFormat>宽屏</PresentationFormat>
  <Paragraphs>109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宋体</vt:lpstr>
      <vt:lpstr>Microsoft YaHei</vt:lpstr>
      <vt:lpstr>Microsoft YaHei</vt:lpstr>
      <vt:lpstr>Arial</vt:lpstr>
      <vt:lpstr>Calibri</vt:lpstr>
      <vt:lpstr>Calibri Light</vt:lpstr>
      <vt:lpstr>Cambria</vt:lpstr>
      <vt:lpstr>Times New Roman</vt:lpstr>
      <vt:lpstr>Wingdings</vt:lpstr>
      <vt:lpstr>20_默认设计模板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cqu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ljc</dc:creator>
  <cp:lastModifiedBy>ZhenXin Li</cp:lastModifiedBy>
  <cp:revision>3615</cp:revision>
  <dcterms:created xsi:type="dcterms:W3CDTF">2011-11-29T15:11:00Z</dcterms:created>
  <dcterms:modified xsi:type="dcterms:W3CDTF">2025-05-23T15:06:43Z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
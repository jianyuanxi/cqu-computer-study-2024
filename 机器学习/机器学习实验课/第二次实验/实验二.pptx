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9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583" r:id="rId2"/>
    <p:sldId id="1349" r:id="rId3"/>
    <p:sldId id="1026" r:id="rId4"/>
    <p:sldId id="1034" r:id="rId5"/>
    <p:sldId id="1027" r:id="rId6"/>
    <p:sldId id="969" r:id="rId7"/>
    <p:sldId id="1347" r:id="rId8"/>
    <p:sldId id="1348" r:id="rId9"/>
    <p:sldId id="1025" r:id="rId10"/>
    <p:sldId id="1029" r:id="rId11"/>
    <p:sldId id="1028" r:id="rId12"/>
    <p:sldId id="1033" r:id="rId13"/>
    <p:sldId id="1030" r:id="rId14"/>
    <p:sldId id="1031" r:id="rId15"/>
    <p:sldId id="1032" r:id="rId16"/>
  </p:sldIdLst>
  <p:sldSz cx="12192000" cy="6858000"/>
  <p:notesSz cx="6797675" cy="9928225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yd" initials="L" lastIdx="1" clrIdx="0"/>
  <p:cmAuthor id="1" name="ljc" initials="l" lastIdx="1" clrIdx="1">
    <p:extLst>
      <p:ext uri="{19B8F6BF-5375-455C-9EA6-DF929625EA0E}">
        <p15:presenceInfo xmlns:p15="http://schemas.microsoft.com/office/powerpoint/2012/main" userId="lj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CC"/>
    <a:srgbClr val="003399"/>
    <a:srgbClr val="FF0000"/>
    <a:srgbClr val="0000FF"/>
    <a:srgbClr val="CCECFF"/>
    <a:srgbClr val="FF6600"/>
    <a:srgbClr val="2A65B1"/>
    <a:srgbClr val="666699"/>
    <a:srgbClr val="EAB200"/>
    <a:srgbClr val="C49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10" autoAdjust="0"/>
    <p:restoredTop sz="95499" autoAdjust="0"/>
  </p:normalViewPr>
  <p:slideViewPr>
    <p:cSldViewPr>
      <p:cViewPr varScale="1">
        <p:scale>
          <a:sx n="101" d="100"/>
          <a:sy n="101" d="100"/>
        </p:scale>
        <p:origin x="534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5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125" d="100"/>
          <a:sy n="125" d="100"/>
        </p:scale>
        <p:origin x="3036" y="-1368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571" tIns="47786" rIns="95571" bIns="47786" numCol="1" anchor="t" anchorCtr="0" compatLnSpc="1"/>
          <a:lstStyle>
            <a:lvl1pPr defTabSz="955675" eaLnBrk="1" hangingPunct="1">
              <a:spcBef>
                <a:spcPct val="0"/>
              </a:spcBef>
              <a:buClrTx/>
              <a:buFontTx/>
              <a:buNone/>
              <a:defRPr sz="13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571" tIns="47786" rIns="95571" bIns="47786" numCol="1" anchor="t" anchorCtr="0" compatLnSpc="1"/>
          <a:lstStyle>
            <a:lvl1pPr algn="r" defTabSz="955675" eaLnBrk="1" hangingPunct="1">
              <a:spcBef>
                <a:spcPct val="0"/>
              </a:spcBef>
              <a:buClrTx/>
              <a:buFontTx/>
              <a:buNone/>
              <a:defRPr sz="13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338"/>
            <a:ext cx="2946400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571" tIns="47786" rIns="95571" bIns="47786" numCol="1" anchor="b" anchorCtr="0" compatLnSpc="1"/>
          <a:lstStyle>
            <a:lvl1pPr defTabSz="955675" eaLnBrk="1" hangingPunct="1">
              <a:spcBef>
                <a:spcPct val="0"/>
              </a:spcBef>
              <a:buClrTx/>
              <a:buFontTx/>
              <a:buNone/>
              <a:defRPr sz="13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31338"/>
            <a:ext cx="2946400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571" tIns="47786" rIns="95571" bIns="47786" numCol="1" anchor="b" anchorCtr="0" compatLnSpc="1"/>
          <a:lstStyle>
            <a:lvl1pPr algn="r" defTabSz="955675" eaLnBrk="1" hangingPunct="1">
              <a:defRPr sz="13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857D1A4-6000-48D8-AB79-1D8DFD103961}" type="slidenum">
              <a:rPr lang="en-US" altLang="zh-CN"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9329703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spcBef>
                <a:spcPct val="50000"/>
              </a:spcBef>
              <a:buClr>
                <a:srgbClr val="0066CC"/>
              </a:buClr>
              <a:buFont typeface="Wingdings" panose="05000000000000000000" pitchFamily="2" charset="2"/>
              <a:buNone/>
              <a:defRPr sz="12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spcBef>
                <a:spcPct val="50000"/>
              </a:spcBef>
              <a:buClr>
                <a:srgbClr val="0066CC"/>
              </a:buClr>
              <a:buFont typeface="Wingdings" panose="05000000000000000000" pitchFamily="2" charset="2"/>
              <a:buNone/>
              <a:defRPr sz="12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621BFD77-E2A6-4F01-B718-78FD8FD8645D}" type="datetimeFigureOut">
              <a:rPr lang="zh-CN" altLang="en-US"/>
              <a:t>2026/5/10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450" y="4716463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spcBef>
                <a:spcPct val="50000"/>
              </a:spcBef>
              <a:buClr>
                <a:srgbClr val="0066CC"/>
              </a:buClr>
              <a:buFont typeface="Wingdings" panose="05000000000000000000" pitchFamily="2" charset="2"/>
              <a:buNone/>
              <a:defRPr sz="12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spcBef>
                <a:spcPct val="50000"/>
              </a:spcBef>
              <a:buClr>
                <a:srgbClr val="0066CC"/>
              </a:buClr>
              <a:buFont typeface="Wingdings" panose="05000000000000000000" pitchFamily="2" charset="2"/>
              <a:buNone/>
              <a:defRPr sz="1200"/>
            </a:lvl1pPr>
          </a:lstStyle>
          <a:p>
            <a:pPr>
              <a:defRPr/>
            </a:pPr>
            <a:fld id="{F444F810-1253-45B3-AE2D-7766756D6BD8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485546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0488" y="744538"/>
            <a:ext cx="6616700" cy="3722687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444F810-1253-45B3-AE2D-7766756D6BD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85569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Chongqing, located in the southwest of China.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Chongqing is famous for its mountain city.</a:t>
            </a:r>
            <a:r>
              <a:rPr lang="zh-CN" altLang="en-US" dirty="0"/>
              <a:t> </a:t>
            </a:r>
            <a:r>
              <a:rPr lang="en-US" altLang="zh-CN" dirty="0"/>
              <a:t> Because urban roads rises and falls, People travel mostly by private cars, taxis or 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transit</a:t>
            </a:r>
            <a:endParaRPr lang="zh-CN" altLang="en-US" sz="1200" dirty="0"/>
          </a:p>
          <a:p>
            <a:r>
              <a:rPr lang="en-US" altLang="zh-CN" dirty="0"/>
              <a:t>. Bike and walk are relatively rare.</a:t>
            </a:r>
          </a:p>
          <a:p>
            <a:r>
              <a:rPr lang="en-US" altLang="zh-CN" dirty="0"/>
              <a:t>In addition, Changjiang River and jialingjiang River divide the city, there are many bridges and tunnels.</a:t>
            </a:r>
          </a:p>
          <a:p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complex road system bring Chongqing more congestions, especially in rush hours.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444F810-1253-45B3-AE2D-7766756D6BD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23838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Chongqing, located in the southwest of China.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Chongqing is famous for its mountain city.</a:t>
            </a:r>
            <a:r>
              <a:rPr lang="zh-CN" altLang="en-US" dirty="0"/>
              <a:t> </a:t>
            </a:r>
            <a:r>
              <a:rPr lang="en-US" altLang="zh-CN" dirty="0"/>
              <a:t> Because urban roads rises and falls, People travel mostly by private cars, taxis or 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transit</a:t>
            </a:r>
            <a:endParaRPr lang="zh-CN" altLang="en-US" sz="1200" dirty="0"/>
          </a:p>
          <a:p>
            <a:r>
              <a:rPr lang="en-US" altLang="zh-CN" dirty="0"/>
              <a:t>. Bike and walk are relatively rare.</a:t>
            </a:r>
          </a:p>
          <a:p>
            <a:r>
              <a:rPr lang="en-US" altLang="zh-CN" dirty="0"/>
              <a:t>In addition, Changjiang River and jialingjiang River divide the city, there are many bridges and tunnels.</a:t>
            </a:r>
          </a:p>
          <a:p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complex road system bring Chongqing more congestions, especially in rush hours.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444F810-1253-45B3-AE2D-7766756D6BD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71597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Chongqing, located in the southwest of China.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Chongqing is famous for its mountain city.</a:t>
            </a:r>
            <a:r>
              <a:rPr lang="zh-CN" altLang="en-US" dirty="0"/>
              <a:t> </a:t>
            </a:r>
            <a:r>
              <a:rPr lang="en-US" altLang="zh-CN" dirty="0"/>
              <a:t> Because urban roads rises and falls, People travel mostly by private cars, taxis or 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transit</a:t>
            </a:r>
            <a:endParaRPr lang="zh-CN" altLang="en-US" sz="1200" dirty="0"/>
          </a:p>
          <a:p>
            <a:r>
              <a:rPr lang="en-US" altLang="zh-CN" dirty="0"/>
              <a:t>. Bike and walk are relatively rare.</a:t>
            </a:r>
          </a:p>
          <a:p>
            <a:r>
              <a:rPr lang="en-US" altLang="zh-CN" dirty="0"/>
              <a:t>In addition, Changjiang River and jialingjiang River divide the city, there are many bridges and tunnels.</a:t>
            </a:r>
          </a:p>
          <a:p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complex road system bring Chongqing more congestions, especially in rush hours.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444F810-1253-45B3-AE2D-7766756D6BD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41320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Chongqing, located in the southwest of China.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Chongqing is famous for its mountain city.</a:t>
            </a:r>
            <a:r>
              <a:rPr lang="zh-CN" altLang="en-US" dirty="0"/>
              <a:t> </a:t>
            </a:r>
            <a:r>
              <a:rPr lang="en-US" altLang="zh-CN" dirty="0"/>
              <a:t> Because urban roads rises and falls, People travel mostly by private cars, taxis or 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transit</a:t>
            </a:r>
            <a:endParaRPr lang="zh-CN" altLang="en-US" sz="1200" dirty="0"/>
          </a:p>
          <a:p>
            <a:r>
              <a:rPr lang="en-US" altLang="zh-CN" dirty="0"/>
              <a:t>. Bike and walk are relatively rare.</a:t>
            </a:r>
          </a:p>
          <a:p>
            <a:r>
              <a:rPr lang="en-US" altLang="zh-CN" dirty="0"/>
              <a:t>In addition, Changjiang River and jialingjiang River divide the city, there are many bridges and tunnels.</a:t>
            </a:r>
          </a:p>
          <a:p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complex road system bring Chongqing more congestions, especially in rush hours.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444F810-1253-45B3-AE2D-7766756D6BD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63016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Chongqing, located in the southwest of China.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Chongqing is famous for its mountain city.</a:t>
            </a:r>
            <a:r>
              <a:rPr lang="zh-CN" altLang="en-US" dirty="0"/>
              <a:t> </a:t>
            </a:r>
            <a:r>
              <a:rPr lang="en-US" altLang="zh-CN" dirty="0"/>
              <a:t> Because urban roads rises and falls, People travel mostly by private cars, taxis or 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transit</a:t>
            </a:r>
            <a:endParaRPr lang="zh-CN" altLang="en-US" sz="1200" dirty="0"/>
          </a:p>
          <a:p>
            <a:r>
              <a:rPr lang="en-US" altLang="zh-CN" dirty="0"/>
              <a:t>. Bike and walk are relatively rare.</a:t>
            </a:r>
          </a:p>
          <a:p>
            <a:r>
              <a:rPr lang="en-US" altLang="zh-CN" dirty="0"/>
              <a:t>In addition, Changjiang River and jialingjiang River divide the city, there are many bridges and tunnels.</a:t>
            </a:r>
          </a:p>
          <a:p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complex road system bring Chongqing more congestions, especially in rush hours.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444F810-1253-45B3-AE2D-7766756D6BD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94125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Chongqing, located in the southwest of China.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Chongqing is famous for its mountain city.</a:t>
            </a:r>
            <a:r>
              <a:rPr lang="zh-CN" altLang="en-US" dirty="0"/>
              <a:t> </a:t>
            </a:r>
            <a:r>
              <a:rPr lang="en-US" altLang="zh-CN" dirty="0"/>
              <a:t> Because urban roads rises and falls, People travel mostly by private cars, taxis or 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transit</a:t>
            </a:r>
            <a:endParaRPr lang="zh-CN" altLang="en-US" sz="1200" dirty="0"/>
          </a:p>
          <a:p>
            <a:r>
              <a:rPr lang="en-US" altLang="zh-CN" dirty="0"/>
              <a:t>. Bike and walk are relatively rare.</a:t>
            </a:r>
          </a:p>
          <a:p>
            <a:r>
              <a:rPr lang="en-US" altLang="zh-CN" dirty="0"/>
              <a:t>In addition, Changjiang River and jialingjiang River divide the city, there are many bridges and tunnels.</a:t>
            </a:r>
          </a:p>
          <a:p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complex road system bring Chongqing more congestions, especially in rush hours.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444F810-1253-45B3-AE2D-7766756D6BD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6193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Chongqing, located in the southwest of China.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Chongqing is famous for its mountain city.</a:t>
            </a:r>
            <a:r>
              <a:rPr lang="zh-CN" altLang="en-US" dirty="0"/>
              <a:t> </a:t>
            </a:r>
            <a:r>
              <a:rPr lang="en-US" altLang="zh-CN" dirty="0"/>
              <a:t> Because urban roads rises and falls, People travel mostly by private cars, taxis or 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transit</a:t>
            </a:r>
            <a:endParaRPr lang="zh-CN" altLang="en-US" sz="1200" dirty="0"/>
          </a:p>
          <a:p>
            <a:r>
              <a:rPr lang="en-US" altLang="zh-CN" dirty="0"/>
              <a:t>. Bike and walk are relatively rare.</a:t>
            </a:r>
          </a:p>
          <a:p>
            <a:r>
              <a:rPr lang="en-US" altLang="zh-CN" dirty="0"/>
              <a:t>In addition, Changjiang River and jialingjiang River divide the city, there are many bridges and tunnels.</a:t>
            </a:r>
          </a:p>
          <a:p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complex road system bring Chongqing more congestions, especially in rush hours.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444F810-1253-45B3-AE2D-7766756D6BD8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7111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Chongqing, located in the southwest of China.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Chongqing is famous for its mountain city.</a:t>
            </a:r>
            <a:r>
              <a:rPr lang="zh-CN" altLang="en-US" dirty="0"/>
              <a:t> </a:t>
            </a:r>
            <a:r>
              <a:rPr lang="en-US" altLang="zh-CN" dirty="0"/>
              <a:t> Because urban roads rises and falls, People travel mostly by private cars, taxis or 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transit</a:t>
            </a:r>
            <a:endParaRPr lang="zh-CN" altLang="en-US" sz="1200" dirty="0"/>
          </a:p>
          <a:p>
            <a:r>
              <a:rPr lang="en-US" altLang="zh-CN" dirty="0"/>
              <a:t>. Bike and walk are relatively rare.</a:t>
            </a:r>
          </a:p>
          <a:p>
            <a:r>
              <a:rPr lang="en-US" altLang="zh-CN" dirty="0"/>
              <a:t>In addition, Changjiang River and jialingjiang River divide the city, there are many bridges and tunnels.</a:t>
            </a:r>
          </a:p>
          <a:p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complex road system bring Chongqing more congestions, especially in rush hours.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444F810-1253-45B3-AE2D-7766756D6BD8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63544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Chongqing, located in the southwest of China.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Chongqing is famous for its mountain city.</a:t>
            </a:r>
            <a:r>
              <a:rPr lang="zh-CN" altLang="en-US" dirty="0"/>
              <a:t> </a:t>
            </a:r>
            <a:r>
              <a:rPr lang="en-US" altLang="zh-CN" dirty="0"/>
              <a:t> Because urban roads rises and falls, People travel mostly by private cars, taxis or 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transit</a:t>
            </a:r>
            <a:endParaRPr lang="zh-CN" altLang="en-US" sz="1200" dirty="0"/>
          </a:p>
          <a:p>
            <a:r>
              <a:rPr lang="en-US" altLang="zh-CN" dirty="0"/>
              <a:t>. Bike and walk are relatively rare.</a:t>
            </a:r>
          </a:p>
          <a:p>
            <a:r>
              <a:rPr lang="en-US" altLang="zh-CN" dirty="0"/>
              <a:t>In addition, Changjiang River and jialingjiang River divide the city, there are many bridges and tunnels.</a:t>
            </a:r>
          </a:p>
          <a:p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complex road system bring Chongqing more congestions, especially in rush hours.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444F810-1253-45B3-AE2D-7766756D6BD8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43593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Chongqing, located in the southwest of China.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Chongqing is famous for its mountain city.</a:t>
            </a:r>
            <a:r>
              <a:rPr lang="zh-CN" altLang="en-US" dirty="0"/>
              <a:t> </a:t>
            </a:r>
            <a:r>
              <a:rPr lang="en-US" altLang="zh-CN" dirty="0"/>
              <a:t> Because urban roads rises and falls, People travel mostly by private cars, taxis or 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transit</a:t>
            </a:r>
            <a:endParaRPr lang="zh-CN" altLang="en-US" sz="1200" dirty="0"/>
          </a:p>
          <a:p>
            <a:r>
              <a:rPr lang="en-US" altLang="zh-CN" dirty="0"/>
              <a:t>. Bike and walk are relatively rare.</a:t>
            </a:r>
          </a:p>
          <a:p>
            <a:r>
              <a:rPr lang="en-US" altLang="zh-CN" dirty="0"/>
              <a:t>In addition, Changjiang River and jialingjiang River divide the city, there are many bridges and tunnels.</a:t>
            </a:r>
          </a:p>
          <a:p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complex road system bring Chongqing more congestions, especially in rush hours.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444F810-1253-45B3-AE2D-7766756D6BD8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25342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Chongqing, located in the southwest of China.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Chongqing is famous for its mountain city.</a:t>
            </a:r>
            <a:r>
              <a:rPr lang="zh-CN" altLang="en-US" dirty="0"/>
              <a:t> </a:t>
            </a:r>
            <a:r>
              <a:rPr lang="en-US" altLang="zh-CN" dirty="0"/>
              <a:t> Because urban roads rises and falls, People travel mostly by private cars, taxis or 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transit</a:t>
            </a:r>
            <a:endParaRPr lang="zh-CN" altLang="en-US" sz="1200" dirty="0"/>
          </a:p>
          <a:p>
            <a:r>
              <a:rPr lang="en-US" altLang="zh-CN" dirty="0"/>
              <a:t>. Bike and walk are relatively rare.</a:t>
            </a:r>
          </a:p>
          <a:p>
            <a:r>
              <a:rPr lang="en-US" altLang="zh-CN" dirty="0"/>
              <a:t>In addition, Changjiang River and jialingjiang River divide the city, there are many bridges and tunnels.</a:t>
            </a:r>
          </a:p>
          <a:p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complex road system bring Chongqing more congestions, especially in rush hours.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444F810-1253-45B3-AE2D-7766756D6BD8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7772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94" y="6564313"/>
            <a:ext cx="936102" cy="278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6" descr="cquppt11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0"/>
            <a:ext cx="3048000" cy="687224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7186" y="260648"/>
            <a:ext cx="936102" cy="278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直线连接符 6"/>
          <p:cNvCxnSpPr/>
          <p:nvPr userDrawn="1"/>
        </p:nvCxnSpPr>
        <p:spPr bwMode="auto">
          <a:xfrm>
            <a:off x="624408" y="714422"/>
            <a:ext cx="11016208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64C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8F76A3DB-F7FD-4617-980D-0F9BFFD520B8}"/>
              </a:ext>
            </a:extLst>
          </p:cNvPr>
          <p:cNvSpPr txBox="1"/>
          <p:nvPr userDrawn="1"/>
        </p:nvSpPr>
        <p:spPr>
          <a:xfrm>
            <a:off x="11797453" y="6581001"/>
            <a:ext cx="413111" cy="276999"/>
          </a:xfrm>
          <a:prstGeom prst="rect">
            <a:avLst/>
          </a:prstGeom>
          <a:solidFill>
            <a:srgbClr val="0066CC"/>
          </a:solidFill>
        </p:spPr>
        <p:txBody>
          <a:bodyPr wrap="square" rtlCol="0">
            <a:spAutoFit/>
          </a:bodyPr>
          <a:lstStyle/>
          <a:p>
            <a:pPr algn="ctr"/>
            <a:fld id="{D079CD6D-EA03-4A23-9676-DB1F594EE155}" type="slidenum">
              <a:rPr lang="zh-CN" altLang="en-US" sz="12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‹#›</a:t>
            </a:fld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10778-D782-46AB-918C-02950C9E19C4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3C713-0A25-4B27-8294-86EE1C308F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7033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gif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0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jpg"/><Relationship Id="rId7" Type="http://schemas.openxmlformats.org/officeDocument/2006/relationships/image" Target="../media/image19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0.png"/><Relationship Id="rId4" Type="http://schemas.openxmlformats.org/officeDocument/2006/relationships/image" Target="../media/image2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0.png"/><Relationship Id="rId4" Type="http://schemas.openxmlformats.org/officeDocument/2006/relationships/image" Target="../media/image17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2"/>
          <p:cNvSpPr txBox="1"/>
          <p:nvPr/>
        </p:nvSpPr>
        <p:spPr bwMode="auto">
          <a:xfrm>
            <a:off x="0" y="3612753"/>
            <a:ext cx="12191999" cy="3270091"/>
          </a:xfrm>
          <a:prstGeom prst="rect">
            <a:avLst/>
          </a:prstGeom>
          <a:solidFill>
            <a:srgbClr val="045CA2">
              <a:alpha val="82000"/>
            </a:srgbClr>
          </a:solidFill>
          <a:ln w="9525">
            <a:noFill/>
            <a:miter lim="800000"/>
          </a:ln>
          <a:effectLst>
            <a:outerShdw dist="50800" dir="2700000" sx="3999" sy="3999" algn="tl" rotWithShape="0">
              <a:srgbClr val="025AA0">
                <a:alpha val="5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 altLang="zh-CN" b="1" dirty="0">
              <a:solidFill>
                <a:schemeClr val="bg1"/>
              </a:solidFill>
              <a:ea typeface="黑体" panose="02010609060101010101" pitchFamily="49" charset="-122"/>
            </a:endParaRPr>
          </a:p>
          <a:p>
            <a:pPr algn="ctr">
              <a:defRPr/>
            </a:pPr>
            <a:endParaRPr lang="en-US" altLang="zh-CN" b="1" dirty="0">
              <a:solidFill>
                <a:schemeClr val="bg1"/>
              </a:solidFill>
              <a:ea typeface="黑体" panose="02010609060101010101" pitchFamily="49" charset="-122"/>
            </a:endParaRPr>
          </a:p>
          <a:p>
            <a:pPr algn="ctr">
              <a:defRPr/>
            </a:pPr>
            <a:endParaRPr lang="en-US" altLang="zh-CN" b="1" dirty="0">
              <a:solidFill>
                <a:schemeClr val="bg1"/>
              </a:solidFill>
              <a:ea typeface="黑体" panose="02010609060101010101" pitchFamily="49" charset="-122"/>
            </a:endParaRPr>
          </a:p>
          <a:p>
            <a:pPr algn="ctr">
              <a:defRPr/>
            </a:pPr>
            <a:endParaRPr lang="en-US" altLang="zh-CN" b="1" dirty="0">
              <a:solidFill>
                <a:schemeClr val="bg1"/>
              </a:solidFill>
              <a:ea typeface="黑体" panose="02010609060101010101" pitchFamily="49" charset="-122"/>
            </a:endParaRPr>
          </a:p>
          <a:p>
            <a:pPr algn="ctr">
              <a:defRPr/>
            </a:pPr>
            <a:endParaRPr lang="zh-CN" altLang="en-US" b="1" dirty="0">
              <a:solidFill>
                <a:schemeClr val="bg1"/>
              </a:solidFill>
              <a:ea typeface="黑体" panose="02010609060101010101" pitchFamily="49" charset="-122"/>
            </a:endParaRPr>
          </a:p>
        </p:txBody>
      </p:sp>
      <p:sp>
        <p:nvSpPr>
          <p:cNvPr id="14" name="标题 2"/>
          <p:cNvSpPr txBox="1"/>
          <p:nvPr/>
        </p:nvSpPr>
        <p:spPr>
          <a:xfrm>
            <a:off x="-1" y="1956568"/>
            <a:ext cx="12192000" cy="1839009"/>
          </a:xfrm>
          <a:prstGeom prst="rect">
            <a:avLst/>
          </a:prstGeom>
          <a:solidFill>
            <a:srgbClr val="42B9EF">
              <a:alpha val="88000"/>
            </a:srgbClr>
          </a:solidFill>
          <a:effectLst>
            <a:outerShdw dist="50800" dir="2700000" sx="3999" sy="3999" algn="tl" rotWithShape="0">
              <a:srgbClr val="025AA0">
                <a:alpha val="54999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endParaRPr kumimoji="1" lang="zh-CN" altLang="en-US" sz="3600" b="0" spc="100" dirty="0">
              <a:solidFill>
                <a:prstClr val="white"/>
              </a:solidFill>
              <a:latin typeface="Cambria" panose="02040503050406030204"/>
              <a:ea typeface="黑体" panose="02010609060101010101" pitchFamily="49" charset="-122"/>
            </a:endParaRPr>
          </a:p>
        </p:txBody>
      </p:sp>
      <p:sp>
        <p:nvSpPr>
          <p:cNvPr id="6146" name="Rectangle 14"/>
          <p:cNvSpPr>
            <a:spLocks noChangeArrowheads="1"/>
          </p:cNvSpPr>
          <p:nvPr/>
        </p:nvSpPr>
        <p:spPr bwMode="auto">
          <a:xfrm>
            <a:off x="14548" y="2418528"/>
            <a:ext cx="121847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 sz="4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实验二：</a:t>
            </a:r>
            <a:r>
              <a:rPr lang="en-US" altLang="zh-CN" sz="4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BP </a:t>
            </a:r>
            <a:r>
              <a:rPr lang="zh-CN" altLang="en-US" sz="4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</a:t>
            </a:r>
            <a:endParaRPr lang="zh-CN" altLang="en-US" sz="36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31E6EEFF-879F-4DB7-9169-1714BEBE4B58}"/>
              </a:ext>
            </a:extLst>
          </p:cNvPr>
          <p:cNvSpPr/>
          <p:nvPr/>
        </p:nvSpPr>
        <p:spPr>
          <a:xfrm>
            <a:off x="3263615" y="4653136"/>
            <a:ext cx="5616624" cy="144016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612CC6AB-26AB-4457-B8CA-FD5CA7BCC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4" y="6322889"/>
            <a:ext cx="12191999" cy="417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  <a:spcBef>
                <a:spcPct val="25000"/>
              </a:spcBef>
            </a:pPr>
            <a:fld id="{8FC03804-C4CC-421C-A2BE-78DDE02C2BEB}" type="datetime6">
              <a:rPr lang="zh-CN" altLang="en-US" sz="1600" smtClean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2026年5月</a:t>
            </a:fld>
            <a:endParaRPr lang="zh-CN" altLang="en-US" sz="11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8EC96A4-5F2D-4BD1-A386-C2D3635E11BD}"/>
              </a:ext>
            </a:extLst>
          </p:cNvPr>
          <p:cNvSpPr/>
          <p:nvPr/>
        </p:nvSpPr>
        <p:spPr>
          <a:xfrm>
            <a:off x="3250946" y="4919245"/>
            <a:ext cx="5629293" cy="907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buSzPct val="60000"/>
            </a:pP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重庆大学计算机学院</a:t>
            </a:r>
            <a:endParaRPr lang="en-US" altLang="zh-CN" sz="24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spcBef>
                <a:spcPts val="600"/>
              </a:spcBef>
              <a:buSzPct val="60000"/>
            </a:pP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王翊</a:t>
            </a:r>
            <a:endParaRPr lang="en-US" altLang="zh-CN" sz="24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19">
            <a:extLst>
              <a:ext uri="{FF2B5EF4-FFF2-40B4-BE49-F238E27FC236}">
                <a16:creationId xmlns:a16="http://schemas.microsoft.com/office/drawing/2014/main" id="{B0C9A03F-FF72-4144-A77A-67236FBDF78A}"/>
              </a:ext>
            </a:extLst>
          </p:cNvPr>
          <p:cNvSpPr txBox="1">
            <a:spLocks noChangeArrowheads="1"/>
          </p:cNvSpPr>
          <p:nvPr/>
        </p:nvSpPr>
        <p:spPr>
          <a:xfrm>
            <a:off x="-1" y="447832"/>
            <a:ext cx="12192001" cy="13282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机器学习基础</a:t>
            </a:r>
            <a:b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</a:b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Machine Learning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AC66360-783A-2BEE-0DC9-E08DF9366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4032" y="1412776"/>
            <a:ext cx="4428571" cy="488571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C442593-944A-F8C7-3955-AB1AFA1F45F1}"/>
              </a:ext>
            </a:extLst>
          </p:cNvPr>
          <p:cNvSpPr txBox="1"/>
          <p:nvPr/>
        </p:nvSpPr>
        <p:spPr>
          <a:xfrm>
            <a:off x="1199456" y="2613392"/>
            <a:ext cx="338437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随着人工智能的发展，词元调用量呈现出指数级增长。截至3月底，日均值已突破140万亿，和2024年底相比增长超千倍。</a:t>
            </a:r>
          </a:p>
        </p:txBody>
      </p:sp>
    </p:spTree>
    <p:extLst>
      <p:ext uri="{BB962C8B-B14F-4D97-AF65-F5344CB8AC3E}">
        <p14:creationId xmlns:p14="http://schemas.microsoft.com/office/powerpoint/2010/main" val="360628767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B096ED37-C727-435A-A8F0-9688F668DB42}"/>
              </a:ext>
            </a:extLst>
          </p:cNvPr>
          <p:cNvSpPr txBox="1"/>
          <p:nvPr/>
        </p:nvSpPr>
        <p:spPr>
          <a:xfrm>
            <a:off x="479376" y="222417"/>
            <a:ext cx="12529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BP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</a:t>
            </a:r>
          </a:p>
        </p:txBody>
      </p:sp>
      <p:pic>
        <p:nvPicPr>
          <p:cNvPr id="4100" name="Picture 4" descr="https://timgsa.baidu.com/timg?image&amp;quality=80&amp;size=b9999_10000&amp;sec=1605069944532&amp;di=fadb1258c81e7ea265d2bcbdc8fcc0c7&amp;imgtype=0&amp;src=http%3A%2F%2Fi.cqnews.net%2Fcqtoday%2Fattachement%2Fjpg%2Fsite82%2F20130227%2F002564c0b87d1297a69a4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38100" cy="7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28CFFBE9-913D-4462-B6EB-5BFEF7CDBC93}"/>
              </a:ext>
            </a:extLst>
          </p:cNvPr>
          <p:cNvSpPr/>
          <p:nvPr/>
        </p:nvSpPr>
        <p:spPr>
          <a:xfrm>
            <a:off x="551384" y="764704"/>
            <a:ext cx="1006638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FF0000"/>
              </a:buClr>
              <a:buSzPct val="100000"/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要素</a:t>
            </a:r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B965C0C-15A0-CE78-B259-255279A0854C}"/>
              </a:ext>
            </a:extLst>
          </p:cNvPr>
          <p:cNvSpPr txBox="1"/>
          <p:nvPr/>
        </p:nvSpPr>
        <p:spPr>
          <a:xfrm>
            <a:off x="2135560" y="1412776"/>
            <a:ext cx="903427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lain"/>
            </a:pPr>
            <a:r>
              <a:rPr lang="zh-CN" altLang="en-US" dirty="0"/>
              <a:t>数据集：标签</a:t>
            </a:r>
            <a:r>
              <a:rPr lang="en-US" altLang="zh-CN" dirty="0"/>
              <a:t>-</a:t>
            </a:r>
            <a:r>
              <a:rPr lang="zh-CN" altLang="en-US" dirty="0"/>
              <a:t>参数对，形成一个矩阵</a:t>
            </a:r>
            <a:endParaRPr lang="en-US" altLang="zh-CN" dirty="0"/>
          </a:p>
          <a:p>
            <a:pPr marL="342900" indent="-342900">
              <a:buAutoNum type="arabicPlain"/>
            </a:pPr>
            <a:endParaRPr lang="en-US" altLang="zh-CN" dirty="0"/>
          </a:p>
          <a:p>
            <a:pPr marL="342900" indent="-342900">
              <a:buAutoNum type="arabicPlain" startAt="2"/>
            </a:pPr>
            <a:r>
              <a:rPr lang="zh-CN" altLang="en-US" dirty="0"/>
              <a:t>模型（训练）：</a:t>
            </a:r>
            <a:endParaRPr lang="en-US" altLang="zh-CN" dirty="0"/>
          </a:p>
          <a:p>
            <a:r>
              <a:rPr lang="en-US" altLang="zh-CN" dirty="0"/>
              <a:t>      1</a:t>
            </a:r>
            <a:r>
              <a:rPr lang="zh-CN" altLang="en-US" dirty="0"/>
              <a:t>）模型结构：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zh-CN" altLang="en-US" b="0" dirty="0">
                <a:solidFill>
                  <a:srgbClr val="008000"/>
                </a:solidFill>
                <a:latin typeface="Consolas" panose="020B0609020204030204" pitchFamily="49" charset="0"/>
              </a:rPr>
              <a:t>输入层、隐藏层、输出层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，参数</a:t>
            </a:r>
            <a:endParaRPr lang="en-US" altLang="zh-C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endParaRPr lang="en-US" altLang="zh-CN" dirty="0"/>
          </a:p>
          <a:p>
            <a:r>
              <a:rPr lang="en-US" altLang="zh-CN" dirty="0"/>
              <a:t>      2</a:t>
            </a:r>
            <a:r>
              <a:rPr lang="zh-CN" altLang="en-US" dirty="0"/>
              <a:t>）模型参数：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W1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，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W2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，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b1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，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b2</a:t>
            </a:r>
          </a:p>
          <a:p>
            <a:endParaRPr lang="en-US" altLang="zh-CN" dirty="0"/>
          </a:p>
          <a:p>
            <a:r>
              <a:rPr lang="en-US" altLang="zh-CN" dirty="0"/>
              <a:t>      3</a:t>
            </a:r>
            <a:r>
              <a:rPr lang="zh-CN" altLang="en-US" dirty="0"/>
              <a:t>）损失函数：交叉熵损失</a:t>
            </a:r>
            <a:endParaRPr lang="en-US" altLang="zh-CN" dirty="0"/>
          </a:p>
          <a:p>
            <a:r>
              <a:rPr lang="en-US" altLang="zh-CN" dirty="0"/>
              <a:t>     </a:t>
            </a:r>
          </a:p>
          <a:p>
            <a:r>
              <a:rPr lang="en-US" altLang="zh-CN" dirty="0"/>
              <a:t>      4</a:t>
            </a:r>
            <a:r>
              <a:rPr lang="zh-CN" altLang="en-US" dirty="0"/>
              <a:t>）最优化算法：梯度下降</a:t>
            </a:r>
            <a:r>
              <a:rPr lang="en-US" altLang="zh-CN" dirty="0"/>
              <a:t>+</a:t>
            </a:r>
            <a:r>
              <a:rPr lang="zh-CN" altLang="en-US" dirty="0"/>
              <a:t>反向传播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  </a:t>
            </a:r>
            <a:r>
              <a:rPr lang="en-US" altLang="zh-CN" b="1" dirty="0"/>
              <a:t>5</a:t>
            </a:r>
            <a:r>
              <a:rPr lang="zh-CN" altLang="en-US" b="1" dirty="0"/>
              <a:t>）训练</a:t>
            </a:r>
            <a:endParaRPr lang="en-US" altLang="zh-CN" b="1" dirty="0"/>
          </a:p>
          <a:p>
            <a:r>
              <a:rPr lang="en-US" altLang="zh-CN" dirty="0"/>
              <a:t>     </a:t>
            </a:r>
          </a:p>
          <a:p>
            <a:pPr marL="342900" indent="-342900">
              <a:buAutoNum type="arabicPlain" startAt="3"/>
            </a:pPr>
            <a:r>
              <a:rPr lang="zh-CN" altLang="en-US" dirty="0"/>
              <a:t>应用（推理）</a:t>
            </a:r>
            <a:endParaRPr lang="en-US" altLang="zh-CN" dirty="0"/>
          </a:p>
          <a:p>
            <a:endParaRPr lang="en-US" altLang="zh-CN" dirty="0"/>
          </a:p>
          <a:p>
            <a:pPr marL="342900" indent="-342900">
              <a:buAutoNum type="arabicPlain" startAt="2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38703701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B096ED37-C727-435A-A8F0-9688F668DB42}"/>
              </a:ext>
            </a:extLst>
          </p:cNvPr>
          <p:cNvSpPr txBox="1"/>
          <p:nvPr/>
        </p:nvSpPr>
        <p:spPr>
          <a:xfrm>
            <a:off x="479376" y="222417"/>
            <a:ext cx="12529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BP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</a:t>
            </a:r>
          </a:p>
        </p:txBody>
      </p:sp>
      <p:pic>
        <p:nvPicPr>
          <p:cNvPr id="4100" name="Picture 4" descr="https://timgsa.baidu.com/timg?image&amp;quality=80&amp;size=b9999_10000&amp;sec=1605069944532&amp;di=fadb1258c81e7ea265d2bcbdc8fcc0c7&amp;imgtype=0&amp;src=http%3A%2F%2Fi.cqnews.net%2Fcqtoday%2Fattachement%2Fjpg%2Fsite82%2F20130227%2F002564c0b87d1297a69a4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38100" cy="7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28CFFBE9-913D-4462-B6EB-5BFEF7CDBC93}"/>
              </a:ext>
            </a:extLst>
          </p:cNvPr>
          <p:cNvSpPr/>
          <p:nvPr/>
        </p:nvSpPr>
        <p:spPr>
          <a:xfrm>
            <a:off x="551384" y="764704"/>
            <a:ext cx="1006638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FF0000"/>
              </a:buClr>
              <a:buSzPct val="100000"/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数据集</a:t>
            </a:r>
            <a:r>
              <a:rPr lang="en-US" altLang="zh-CN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en-US" altLang="zh-CN" dirty="0" err="1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lris</a:t>
            </a:r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11C2F57-A5EF-C945-30DF-B6D0CF9CB4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9576" y="1914449"/>
            <a:ext cx="7056784" cy="4682903"/>
          </a:xfrm>
          <a:prstGeom prst="rect">
            <a:avLst/>
          </a:prstGeom>
        </p:spPr>
      </p:pic>
      <p:sp>
        <p:nvSpPr>
          <p:cNvPr id="4" name="右大括号 3">
            <a:extLst>
              <a:ext uri="{FF2B5EF4-FFF2-40B4-BE49-F238E27FC236}">
                <a16:creationId xmlns:a16="http://schemas.microsoft.com/office/drawing/2014/main" id="{8EB8E300-1977-5D7B-499D-56D1FCFC32DC}"/>
              </a:ext>
            </a:extLst>
          </p:cNvPr>
          <p:cNvSpPr/>
          <p:nvPr/>
        </p:nvSpPr>
        <p:spPr>
          <a:xfrm rot="16200000">
            <a:off x="5519936" y="-565131"/>
            <a:ext cx="576064" cy="4624481"/>
          </a:xfrm>
          <a:prstGeom prst="rightBrace">
            <a:avLst>
              <a:gd name="adj1" fmla="val 8333"/>
              <a:gd name="adj2" fmla="val 51001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5609418-2565-705F-441A-EB800DAEAAEF}"/>
              </a:ext>
            </a:extLst>
          </p:cNvPr>
          <p:cNvSpPr txBox="1"/>
          <p:nvPr/>
        </p:nvSpPr>
        <p:spPr>
          <a:xfrm>
            <a:off x="5709482" y="1067454"/>
            <a:ext cx="18678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X</a:t>
            </a:r>
            <a:r>
              <a:rPr kumimoji="1" lang="zh-CN" altLang="en-US" dirty="0"/>
              <a:t>（</a:t>
            </a:r>
            <a:r>
              <a:rPr kumimoji="1" lang="en-US" altLang="zh-CN" dirty="0"/>
              <a:t>4 </a:t>
            </a:r>
            <a:r>
              <a:rPr kumimoji="1" lang="zh-CN" altLang="en-US" dirty="0"/>
              <a:t>个特征）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223828D-1F55-9002-D4DA-349519345D1C}"/>
              </a:ext>
            </a:extLst>
          </p:cNvPr>
          <p:cNvSpPr txBox="1"/>
          <p:nvPr/>
        </p:nvSpPr>
        <p:spPr>
          <a:xfrm>
            <a:off x="8400256" y="1714394"/>
            <a:ext cx="19944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y</a:t>
            </a:r>
            <a:r>
              <a:rPr kumimoji="1" lang="zh-CN" altLang="en-US" dirty="0"/>
              <a:t>（共有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类）</a:t>
            </a:r>
          </a:p>
        </p:txBody>
      </p:sp>
    </p:spTree>
    <p:extLst>
      <p:ext uri="{BB962C8B-B14F-4D97-AF65-F5344CB8AC3E}">
        <p14:creationId xmlns:p14="http://schemas.microsoft.com/office/powerpoint/2010/main" val="2463615491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B096ED37-C727-435A-A8F0-9688F668DB42}"/>
              </a:ext>
            </a:extLst>
          </p:cNvPr>
          <p:cNvSpPr txBox="1"/>
          <p:nvPr/>
        </p:nvSpPr>
        <p:spPr>
          <a:xfrm>
            <a:off x="479376" y="222417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24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100" name="Picture 4" descr="https://timgsa.baidu.com/timg?image&amp;quality=80&amp;size=b9999_10000&amp;sec=1605069944532&amp;di=fadb1258c81e7ea265d2bcbdc8fcc0c7&amp;imgtype=0&amp;src=http%3A%2F%2Fi.cqnews.net%2Fcqtoday%2Fattachement%2Fjpg%2Fsite82%2F20130227%2F002564c0b87d1297a69a4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38100" cy="7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28CFFBE9-913D-4462-B6EB-5BFEF7CDBC93}"/>
              </a:ext>
            </a:extLst>
          </p:cNvPr>
          <p:cNvSpPr/>
          <p:nvPr/>
        </p:nvSpPr>
        <p:spPr>
          <a:xfrm>
            <a:off x="551384" y="764704"/>
            <a:ext cx="1006638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FF0000"/>
              </a:buClr>
              <a:buSzPct val="100000"/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模型结构</a:t>
            </a:r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76809F7-671D-68A4-C010-BEC20C423F65}"/>
              </a:ext>
            </a:extLst>
          </p:cNvPr>
          <p:cNvSpPr txBox="1"/>
          <p:nvPr/>
        </p:nvSpPr>
        <p:spPr>
          <a:xfrm>
            <a:off x="479376" y="222417"/>
            <a:ext cx="12529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BP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108F43A7-6B87-AB0C-F723-E3EC28CC1258}"/>
              </a:ext>
            </a:extLst>
          </p:cNvPr>
          <p:cNvSpPr/>
          <p:nvPr/>
        </p:nvSpPr>
        <p:spPr>
          <a:xfrm>
            <a:off x="1013868" y="1340768"/>
            <a:ext cx="1339381" cy="7920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输入层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B0288B46-FD4F-B0A1-A455-B834C50FE746}"/>
              </a:ext>
            </a:extLst>
          </p:cNvPr>
          <p:cNvSpPr/>
          <p:nvPr/>
        </p:nvSpPr>
        <p:spPr>
          <a:xfrm>
            <a:off x="5146129" y="1340768"/>
            <a:ext cx="1339381" cy="7920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隐藏层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1FAA106D-46C8-6221-22D8-C59BE925EA9B}"/>
              </a:ext>
            </a:extLst>
          </p:cNvPr>
          <p:cNvSpPr/>
          <p:nvPr/>
        </p:nvSpPr>
        <p:spPr>
          <a:xfrm>
            <a:off x="9278390" y="1340768"/>
            <a:ext cx="1339381" cy="7920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输出层</a:t>
            </a: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8E712F70-ADEC-DA5D-9D9B-7C8574AF569C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2353249" y="1736812"/>
            <a:ext cx="2792880" cy="0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51857C56-5B91-D72E-7D0C-EDEF876A94AD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6485510" y="1736812"/>
            <a:ext cx="2792880" cy="0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9FA367F-C809-E960-03ED-87AA682FC7C2}"/>
                  </a:ext>
                </a:extLst>
              </p:cNvPr>
              <p:cNvSpPr txBox="1"/>
              <p:nvPr/>
            </p:nvSpPr>
            <p:spPr>
              <a:xfrm>
                <a:off x="4176243" y="2492896"/>
                <a:ext cx="3839513" cy="32305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p"/>
                </a:pPr>
                <a:r>
                  <a:rPr kumimoji="1" lang="zh-CN" altLang="en-US" dirty="0"/>
                  <a:t>包含三个元素：</a:t>
                </a:r>
                <a:endParaRPr kumimoji="1" lang="en-US" altLang="zh-CN" dirty="0"/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CN" altLang="en-US" dirty="0"/>
                  <a:t>权重</a:t>
                </a:r>
                <a:r>
                  <a:rPr kumimoji="1" lang="en-US" altLang="zh-CN" dirty="0"/>
                  <a:t> W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CN" altLang="en-US" dirty="0"/>
                  <a:t>偏置 </a:t>
                </a:r>
                <a:r>
                  <a:rPr kumimoji="1" lang="en-US" altLang="zh-CN" dirty="0"/>
                  <a:t>b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CN" altLang="en-US" dirty="0"/>
                  <a:t>激活函数</a:t>
                </a:r>
                <a:r>
                  <a:rPr kumimoji="1" lang="en-US" altLang="zh-CN" dirty="0"/>
                  <a:t>(</a:t>
                </a:r>
                <a:r>
                  <a:rPr kumimoji="1" lang="zh-CN" altLang="en-US" dirty="0"/>
                  <a:t>例如</a:t>
                </a:r>
                <a:r>
                  <a:rPr kumimoji="1" lang="en-US" altLang="zh-CN" dirty="0"/>
                  <a:t> sigmoid)</a:t>
                </a: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p"/>
                </a:pPr>
                <a:r>
                  <a:rPr kumimoji="1" lang="zh-CN" altLang="en-US" dirty="0"/>
                  <a:t>这一层的计算过程为：</a:t>
                </a:r>
                <a:endParaRPr kumimoji="1" lang="en-US" altLang="zh-CN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zh-CN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&amp;</m:t>
                          </m:r>
                          <m:sSub>
                            <m:sSubPr>
                              <m:ctrlPr>
                                <a:rPr lang="zh-CN" altLang="zh-CN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1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𝐙</m:t>
                              </m:r>
                            </m:e>
                            <m:sub>
                              <m:r>
                                <a:rPr lang="en-US" altLang="zh-CN" sz="1800" b="1" i="1" smtClean="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𝒉</m:t>
                              </m:r>
                            </m:sub>
                          </m:s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=</m:t>
                          </m:r>
                          <m:r>
                            <a:rPr lang="en-US" altLang="zh-CN" sz="1800" b="1" i="1" smtClean="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𝑿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⋅</m:t>
                          </m:r>
                          <m:sSub>
                            <m:sSubPr>
                              <m:ctrlPr>
                                <a:rPr lang="zh-CN" altLang="zh-CN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1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𝐖</m:t>
                              </m:r>
                            </m:e>
                            <m:sub>
                              <m:r>
                                <a:rPr lang="en-US" altLang="zh-CN" sz="1800" b="1" i="1" smtClean="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𝒉</m:t>
                              </m:r>
                            </m:sub>
                          </m:s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zh-CN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1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𝐛</m:t>
                              </m:r>
                            </m:e>
                            <m:sub>
                              <m:r>
                                <a:rPr lang="en-US" altLang="zh-CN" sz="1800" b="1" i="1" smtClean="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𝒉</m:t>
                              </m:r>
                            </m:sub>
                          </m:sSub>
                        </m:e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&amp;</m:t>
                          </m:r>
                          <m:sSub>
                            <m:sSubPr>
                              <m:ctrlPr>
                                <a:rPr lang="zh-CN" altLang="zh-CN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1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en-US" altLang="zh-CN" sz="1800" b="1" i="1" smtClean="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𝒉</m:t>
                              </m:r>
                            </m:sub>
                          </m:s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=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𝜎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1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𝐙</m:t>
                              </m:r>
                            </m:e>
                            <m:sub>
                              <m:r>
                                <a:rPr lang="en-US" altLang="zh-CN" sz="1800" b="1" i="1" smtClean="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𝒉</m:t>
                              </m:r>
                            </m:sub>
                          </m:s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)</m:t>
                          </m:r>
                        </m:e>
                      </m:eqAr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9FA367F-C809-E960-03ED-87AA682FC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6243" y="2492896"/>
                <a:ext cx="3839513" cy="3230500"/>
              </a:xfrm>
              <a:prstGeom prst="rect">
                <a:avLst/>
              </a:prstGeom>
              <a:blipFill>
                <a:blip r:embed="rId4"/>
                <a:stretch>
                  <a:fillRect l="-1316" r="-6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02495BF7-DB6F-6F5D-D2CF-415E6DC5AECB}"/>
                  </a:ext>
                </a:extLst>
              </p:cNvPr>
              <p:cNvSpPr txBox="1"/>
              <p:nvPr/>
            </p:nvSpPr>
            <p:spPr>
              <a:xfrm>
                <a:off x="344178" y="2492896"/>
                <a:ext cx="2949334" cy="9551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zh-CN" altLang="en-US" dirty="0"/>
                  <a:t>代表输入的数据</a:t>
                </a:r>
                <a:endParaRPr kumimoji="1"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kumimoji="1" lang="zh-CN" altLang="en-US" dirty="0"/>
                  <a:t>例如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𝑿</m:t>
                    </m:r>
                    <m:r>
                      <a:rPr lang="en-US" altLang="zh-CN" sz="20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=[</m:t>
                    </m:r>
                    <m:sSub>
                      <m:sSubPr>
                        <m:ctrlPr>
                          <a:rPr lang="zh-CN" altLang="zh-CN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,</m:t>
                    </m:r>
                    <m:sSub>
                      <m:sSubPr>
                        <m:ctrlPr>
                          <a:rPr lang="zh-CN" altLang="zh-CN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,</m:t>
                    </m:r>
                    <m:sSub>
                      <m:sSubPr>
                        <m:ctrlPr>
                          <a:rPr lang="zh-CN" altLang="zh-CN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3</m:t>
                        </m:r>
                      </m:sub>
                    </m:sSub>
                    <m:r>
                      <a:rPr lang="en-US" altLang="zh-CN" sz="20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,</m:t>
                    </m:r>
                    <m:sSub>
                      <m:sSubPr>
                        <m:ctrlPr>
                          <a:rPr lang="zh-CN" altLang="zh-CN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4</m:t>
                        </m:r>
                      </m:sub>
                    </m:sSub>
                    <m:sSup>
                      <m:sSupPr>
                        <m:ctrlPr>
                          <a:rPr lang="zh-CN" altLang="zh-CN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pPr>
                      <m:e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]</m:t>
                        </m:r>
                      </m:e>
                      <m:sup>
                        <m:r>
                          <a:rPr lang="en-US" altLang="zh-CN" sz="2000" i="1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𝑇</m:t>
                        </m:r>
                      </m:sup>
                    </m:sSup>
                  </m:oMath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02495BF7-DB6F-6F5D-D2CF-415E6DC5AE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178" y="2492896"/>
                <a:ext cx="2949334" cy="955133"/>
              </a:xfrm>
              <a:prstGeom prst="rect">
                <a:avLst/>
              </a:prstGeom>
              <a:blipFill>
                <a:blip r:embed="rId5"/>
                <a:stretch>
                  <a:fillRect l="-1709" b="-78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A25AB1DC-CD7D-E1C3-EE3B-FFD9A2B5DEEA}"/>
                  </a:ext>
                </a:extLst>
              </p:cNvPr>
              <p:cNvSpPr txBox="1"/>
              <p:nvPr/>
            </p:nvSpPr>
            <p:spPr>
              <a:xfrm>
                <a:off x="8352487" y="2492896"/>
                <a:ext cx="3839513" cy="32305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p"/>
                </a:pPr>
                <a:r>
                  <a:rPr kumimoji="1" lang="zh-CN" altLang="en-US" dirty="0"/>
                  <a:t>包含三个元素：</a:t>
                </a:r>
                <a:endParaRPr kumimoji="1" lang="en-US" altLang="zh-CN" dirty="0"/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CN" altLang="en-US" dirty="0"/>
                  <a:t>权重</a:t>
                </a:r>
                <a:r>
                  <a:rPr kumimoji="1" lang="en-US" altLang="zh-CN" dirty="0"/>
                  <a:t> W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CN" altLang="en-US" dirty="0"/>
                  <a:t>偏置 </a:t>
                </a:r>
                <a:r>
                  <a:rPr kumimoji="1" lang="en-US" altLang="zh-CN" dirty="0"/>
                  <a:t>b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CN" altLang="en-US" dirty="0"/>
                  <a:t>激活函数</a:t>
                </a:r>
                <a:r>
                  <a:rPr kumimoji="1" lang="en-US" altLang="zh-CN" dirty="0"/>
                  <a:t>(</a:t>
                </a:r>
                <a:r>
                  <a:rPr kumimoji="1" lang="zh-CN" altLang="en-US" dirty="0"/>
                  <a:t>例如</a:t>
                </a:r>
                <a:r>
                  <a:rPr kumimoji="1" lang="en-US" altLang="zh-CN" dirty="0"/>
                  <a:t> sigmoid)</a:t>
                </a: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p"/>
                </a:pPr>
                <a:r>
                  <a:rPr kumimoji="1" lang="zh-CN" altLang="en-US" dirty="0"/>
                  <a:t>这一层的计算过程为：</a:t>
                </a:r>
                <a:endParaRPr kumimoji="1" lang="en-US" altLang="zh-CN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zh-CN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&amp;</m:t>
                          </m:r>
                          <m:sSub>
                            <m:sSubPr>
                              <m:ctrlPr>
                                <a:rPr lang="zh-CN" altLang="zh-CN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1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𝐙</m:t>
                              </m:r>
                            </m:e>
                            <m:sub>
                              <m:r>
                                <a:rPr lang="en-US" altLang="zh-CN" sz="1800" b="1" i="1" smtClean="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𝒐</m:t>
                              </m:r>
                            </m:sub>
                          </m:s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𝒉</m:t>
                              </m:r>
                            </m:sub>
                          </m:s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⋅</m:t>
                          </m:r>
                          <m:sSub>
                            <m:sSubPr>
                              <m:ctrlPr>
                                <a:rPr lang="zh-CN" altLang="zh-CN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1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𝐖</m:t>
                              </m:r>
                            </m:e>
                            <m:sub>
                              <m:r>
                                <a:rPr lang="en-US" altLang="zh-CN" sz="1800" b="1" i="1" smtClean="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𝒐</m:t>
                              </m:r>
                            </m:sub>
                          </m:s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zh-CN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1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𝐛</m:t>
                              </m:r>
                            </m:e>
                            <m:sub>
                              <m:r>
                                <a:rPr lang="en-US" altLang="zh-CN" sz="1800" b="1" i="1" smtClean="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𝒐</m:t>
                              </m:r>
                            </m:sub>
                          </m:sSub>
                        </m:e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&amp;</m:t>
                          </m:r>
                          <m:sSub>
                            <m:sSubPr>
                              <m:ctrlPr>
                                <a:rPr lang="zh-CN" altLang="zh-CN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1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en-US" altLang="zh-CN" sz="1800" b="1" i="1" smtClean="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𝒐</m:t>
                              </m:r>
                            </m:sub>
                          </m:s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=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𝜎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1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𝐙</m:t>
                              </m:r>
                            </m:e>
                            <m:sub>
                              <m:r>
                                <a:rPr lang="en-US" altLang="zh-CN" sz="1800" b="1" i="1" smtClean="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𝒐</m:t>
                              </m:r>
                            </m:sub>
                          </m:s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)</m:t>
                          </m:r>
                        </m:e>
                      </m:eqAr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A25AB1DC-CD7D-E1C3-EE3B-FFD9A2B5DE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2487" y="2492896"/>
                <a:ext cx="3839513" cy="3230500"/>
              </a:xfrm>
              <a:prstGeom prst="rect">
                <a:avLst/>
              </a:prstGeom>
              <a:blipFill>
                <a:blip r:embed="rId6"/>
                <a:stretch>
                  <a:fillRect l="-1316" r="-3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本框 23">
            <a:extLst>
              <a:ext uri="{FF2B5EF4-FFF2-40B4-BE49-F238E27FC236}">
                <a16:creationId xmlns:a16="http://schemas.microsoft.com/office/drawing/2014/main" id="{303F0DC5-6580-3183-71C7-8B9E5EC5A81D}"/>
              </a:ext>
            </a:extLst>
          </p:cNvPr>
          <p:cNvSpPr txBox="1"/>
          <p:nvPr/>
        </p:nvSpPr>
        <p:spPr>
          <a:xfrm>
            <a:off x="852978" y="6235473"/>
            <a:ext cx="10249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输入层是没有任何计算的，只代表输入的数据；隐藏层可以多次堆叠，即为深度神经网络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681246AC-68F4-3DFC-43C4-6D6BE37FC396}"/>
                  </a:ext>
                </a:extLst>
              </p:cNvPr>
              <p:cNvSpPr txBox="1"/>
              <p:nvPr/>
            </p:nvSpPr>
            <p:spPr>
              <a:xfrm>
                <a:off x="3446408" y="1340768"/>
                <a:ext cx="49244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𝑿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681246AC-68F4-3DFC-43C4-6D6BE37FC3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6408" y="1340768"/>
                <a:ext cx="492443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9C1BD3EC-4631-7569-CBFB-DE12470126AD}"/>
                  </a:ext>
                </a:extLst>
              </p:cNvPr>
              <p:cNvSpPr txBox="1"/>
              <p:nvPr/>
            </p:nvSpPr>
            <p:spPr>
              <a:xfrm>
                <a:off x="7746280" y="1340768"/>
                <a:ext cx="62600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𝐀</m:t>
                          </m:r>
                        </m:e>
                        <m:sub>
                          <m:r>
                            <a:rPr lang="en-US" altLang="zh-CN" sz="2000" b="1" i="1" smtClean="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𝒉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9C1BD3EC-4631-7569-CBFB-DE12470126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6280" y="1340768"/>
                <a:ext cx="626005" cy="400110"/>
              </a:xfrm>
              <a:prstGeom prst="rect">
                <a:avLst/>
              </a:prstGeom>
              <a:blipFill>
                <a:blip r:embed="rId8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E8D335FE-CCD2-B203-1B75-27852E24F450}"/>
                  </a:ext>
                </a:extLst>
              </p:cNvPr>
              <p:cNvSpPr txBox="1"/>
              <p:nvPr/>
            </p:nvSpPr>
            <p:spPr>
              <a:xfrm>
                <a:off x="10795508" y="1334670"/>
                <a:ext cx="61478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𝐀</m:t>
                          </m:r>
                        </m:e>
                        <m:sub>
                          <m:r>
                            <a:rPr lang="en-US" altLang="zh-CN" sz="2000" b="1" i="1" smtClean="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𝒐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E8D335FE-CCD2-B203-1B75-27852E24F4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5508" y="1334670"/>
                <a:ext cx="614784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379811CF-1DCB-A174-13DA-76E6B2FDD822}"/>
              </a:ext>
            </a:extLst>
          </p:cNvPr>
          <p:cNvCxnSpPr>
            <a:cxnSpLocks/>
          </p:cNvCxnSpPr>
          <p:nvPr/>
        </p:nvCxnSpPr>
        <p:spPr>
          <a:xfrm>
            <a:off x="10617771" y="1736812"/>
            <a:ext cx="970258" cy="0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5852265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https://timgsa.baidu.com/timg?image&amp;quality=80&amp;size=b9999_10000&amp;sec=1605069944532&amp;di=fadb1258c81e7ea265d2bcbdc8fcc0c7&amp;imgtype=0&amp;src=http%3A%2F%2Fi.cqnews.net%2Fcqtoday%2Fattachement%2Fjpg%2Fsite82%2F20130227%2F002564c0b87d1297a69a4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38100" cy="7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28CFFBE9-913D-4462-B6EB-5BFEF7CDBC93}"/>
              </a:ext>
            </a:extLst>
          </p:cNvPr>
          <p:cNvSpPr/>
          <p:nvPr/>
        </p:nvSpPr>
        <p:spPr>
          <a:xfrm>
            <a:off x="551384" y="764704"/>
            <a:ext cx="1006638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FF0000"/>
              </a:buClr>
              <a:buSzPct val="100000"/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模型</a:t>
            </a:r>
            <a:r>
              <a:rPr lang="en-US" altLang="zh-CN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例子</a:t>
            </a:r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74D4D4F-F286-9F5E-F561-24B8DE9E746D}"/>
              </a:ext>
            </a:extLst>
          </p:cNvPr>
          <p:cNvSpPr txBox="1"/>
          <p:nvPr/>
        </p:nvSpPr>
        <p:spPr>
          <a:xfrm>
            <a:off x="479376" y="222417"/>
            <a:ext cx="12529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BP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6EF276EF-2BEC-79EA-62D5-7C0D1A63BF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7857" y="1261019"/>
            <a:ext cx="6800880" cy="50067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9AF553A5-E811-AB8E-942A-95E3B16E8A7D}"/>
                  </a:ext>
                </a:extLst>
              </p:cNvPr>
              <p:cNvSpPr txBox="1"/>
              <p:nvPr/>
            </p:nvSpPr>
            <p:spPr>
              <a:xfrm>
                <a:off x="7376602" y="2494671"/>
                <a:ext cx="3600400" cy="25394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800" b="1" dirty="0">
                    <a:effectLst/>
                    <a:ea typeface="宋体" panose="02010600030101010101" pitchFamily="2" charset="-122"/>
                    <a:cs typeface="宋体" panose="02010600030101010101" pitchFamily="2" charset="-122"/>
                  </a:rPr>
                  <a:t>输入层 </a:t>
                </a:r>
                <a14:m>
                  <m:oMath xmlns:m="http://schemas.openxmlformats.org/officeDocument/2006/math">
                    <m:r>
                      <a:rPr lang="en-US" altLang="zh-CN" sz="1800" b="1" i="1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𝑿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=[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,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,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3</m:t>
                        </m:r>
                      </m:sub>
                    </m:sSub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,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4</m:t>
                        </m:r>
                      </m:sub>
                    </m:sSub>
                    <m:sSup>
                      <m:sSup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p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]</m:t>
                        </m:r>
                      </m:e>
                      <m:sup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𝑇</m:t>
                        </m:r>
                      </m:sup>
                    </m:sSup>
                  </m:oMath>
                </a14:m>
                <a:endParaRPr lang="en-US" altLang="zh-CN" sz="1800" dirty="0">
                  <a:effectLst/>
                  <a:ea typeface="宋体" panose="02010600030101010101" pitchFamily="2" charset="-122"/>
                  <a:cs typeface="宋体" panose="02010600030101010101" pitchFamily="2" charset="-122"/>
                </a:endParaRPr>
              </a:p>
              <a:p>
                <a:endParaRPr lang="en-US" altLang="zh-CN" sz="18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  <a:p>
                <a:r>
                  <a:rPr lang="zh-CN" altLang="en-US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隐藏层输出结果</a:t>
                </a:r>
                <a:r>
                  <a:rPr lang="zh-CN" altLang="en-US" sz="1800" dirty="0">
                    <a:latin typeface="Times New Roman" panose="02020603050405020304" pitchFamily="18" charset="0"/>
                    <a:cs typeface="宋体" panose="02010600030101010101" pitchFamily="2" charset="-122"/>
                  </a:rPr>
                  <a:t>：</a:t>
                </a:r>
                <a:endParaRPr lang="en-US" altLang="zh-CN" sz="1800" dirty="0">
                  <a:latin typeface="Times New Roman" panose="02020603050405020304" pitchFamily="18" charset="0"/>
                  <a:cs typeface="宋体" panose="02010600030101010101" pitchFamily="2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zh-CN" sz="180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&amp;</m:t>
                          </m:r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1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𝐙</m:t>
                              </m:r>
                            </m:e>
                            <m:sub>
                              <m:r>
                                <a:rPr lang="en-US" altLang="zh-CN" sz="1800" b="1" i="1" smtClean="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=</m:t>
                          </m:r>
                          <m:r>
                            <a:rPr lang="en-US" altLang="zh-CN" sz="1800" b="1" i="1" smtClean="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𝑿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⋅</m:t>
                          </m:r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1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𝐖</m:t>
                              </m:r>
                            </m:e>
                            <m:sub>
                              <m:r>
                                <a:rPr lang="en-US" altLang="zh-CN" sz="1800" b="1" i="1" smtClean="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1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𝐛</m:t>
                              </m:r>
                            </m:e>
                            <m:sub>
                              <m:r>
                                <a:rPr lang="en-US" altLang="zh-CN" sz="1800" b="1" i="1" smtClean="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𝟏</m:t>
                              </m:r>
                            </m:sub>
                          </m:sSub>
                        </m:e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&amp;</m:t>
                          </m:r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1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en-US" altLang="zh-CN" sz="1800" b="1" i="1" smtClean="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=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𝜎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sz="1800" i="1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1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𝐙</m:t>
                              </m:r>
                            </m:e>
                            <m:sub>
                              <m:r>
                                <a:rPr lang="en-US" altLang="zh-CN" sz="1800" b="1" i="1" smtClean="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)</m:t>
                          </m:r>
                        </m:e>
                      </m:eqArr>
                    </m:oMath>
                  </m:oMathPara>
                </a14:m>
                <a:endParaRPr lang="en-US" altLang="zh-CN" sz="18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  <a:p>
                <a:endParaRPr lang="en-US" altLang="zh-CN" sz="1800" dirty="0">
                  <a:latin typeface="Times New Roman" panose="02020603050405020304" pitchFamily="18" charset="0"/>
                  <a:cs typeface="宋体" panose="02010600030101010101" pitchFamily="2" charset="-122"/>
                </a:endParaRPr>
              </a:p>
              <a:p>
                <a:r>
                  <a:rPr lang="zh-CN" altLang="en-US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输出层输出结果：</a:t>
                </a:r>
                <a:endParaRPr lang="en-US" altLang="zh-CN" sz="18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zh-CN" sz="180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&amp;</m:t>
                          </m:r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1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𝐙</m:t>
                              </m:r>
                            </m:e>
                            <m:sub>
                              <m:r>
                                <a:rPr lang="en-US" altLang="zh-CN" sz="1800" b="1" i="1" smtClean="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en-US" altLang="zh-CN" sz="1800" b="1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⋅</m:t>
                          </m:r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1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𝐖</m:t>
                              </m:r>
                            </m:e>
                            <m:sub>
                              <m:r>
                                <a:rPr lang="en-US" altLang="zh-CN" sz="1800" b="1" i="1" smtClean="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1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𝐛</m:t>
                              </m:r>
                            </m:e>
                            <m:sub>
                              <m:r>
                                <a:rPr lang="en-US" altLang="zh-CN" sz="1800" b="1" i="1" smtClean="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𝟐</m:t>
                              </m:r>
                            </m:sub>
                          </m:sSub>
                        </m:e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&amp;</m:t>
                          </m:r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1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en-US" altLang="zh-CN" sz="1800" b="1" i="1" smtClean="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=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𝜎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1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𝐙</m:t>
                              </m:r>
                            </m:e>
                            <m:sub>
                              <m:r>
                                <a:rPr lang="en-US" altLang="zh-CN" sz="1800" b="1" i="1" smtClean="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)</m:t>
                          </m:r>
                        </m:e>
                      </m:eqArr>
                    </m:oMath>
                  </m:oMathPara>
                </a14:m>
                <a:endParaRPr lang="en-US" altLang="zh-CN" sz="18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9AF553A5-E811-AB8E-942A-95E3B16E8A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6602" y="2494671"/>
                <a:ext cx="3600400" cy="2539478"/>
              </a:xfrm>
              <a:prstGeom prst="rect">
                <a:avLst/>
              </a:prstGeom>
              <a:blipFill>
                <a:blip r:embed="rId6"/>
                <a:stretch>
                  <a:fillRect l="-1404" t="-1493" b="-14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9758897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DBC88172-DEFB-4D95-A4AF-816063734CE6}"/>
              </a:ext>
            </a:extLst>
          </p:cNvPr>
          <p:cNvGrpSpPr/>
          <p:nvPr/>
        </p:nvGrpSpPr>
        <p:grpSpPr>
          <a:xfrm>
            <a:off x="918854" y="1193932"/>
            <a:ext cx="4925685" cy="2730547"/>
            <a:chOff x="6793875" y="4638172"/>
            <a:chExt cx="4207912" cy="2230935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AC5ED1F0-E6AF-4A5F-B1D1-52FB8A5DF3D0}"/>
                </a:ext>
              </a:extLst>
            </p:cNvPr>
            <p:cNvGrpSpPr/>
            <p:nvPr/>
          </p:nvGrpSpPr>
          <p:grpSpPr>
            <a:xfrm>
              <a:off x="6813995" y="4996471"/>
              <a:ext cx="4187792" cy="1744978"/>
              <a:chOff x="3712769" y="3363640"/>
              <a:chExt cx="4187792" cy="1744978"/>
            </a:xfrm>
          </p:grpSpPr>
          <p:pic>
            <p:nvPicPr>
              <p:cNvPr id="18" name="图片 17">
                <a:extLst>
                  <a:ext uri="{FF2B5EF4-FFF2-40B4-BE49-F238E27FC236}">
                    <a16:creationId xmlns:a16="http://schemas.microsoft.com/office/drawing/2014/main" id="{8D3C2E33-A93C-4802-B133-120F606ACB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12769" y="3363640"/>
                <a:ext cx="2910568" cy="1744978"/>
              </a:xfrm>
              <a:prstGeom prst="rect">
                <a:avLst/>
              </a:prstGeom>
            </p:spPr>
          </p:pic>
          <p:pic>
            <p:nvPicPr>
              <p:cNvPr id="19" name="图片 18">
                <a:extLst>
                  <a:ext uri="{FF2B5EF4-FFF2-40B4-BE49-F238E27FC236}">
                    <a16:creationId xmlns:a16="http://schemas.microsoft.com/office/drawing/2014/main" id="{15265F25-95EC-471D-AEEE-B4BBC21109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623338" y="3363640"/>
                <a:ext cx="1277223" cy="1709722"/>
              </a:xfrm>
              <a:prstGeom prst="rect">
                <a:avLst/>
              </a:prstGeom>
            </p:spPr>
          </p:pic>
        </p:grp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45F8D654-C91C-4107-9837-0DE54A7BFBA6}"/>
                </a:ext>
              </a:extLst>
            </p:cNvPr>
            <p:cNvSpPr txBox="1"/>
            <p:nvPr/>
          </p:nvSpPr>
          <p:spPr>
            <a:xfrm>
              <a:off x="6793875" y="4643583"/>
              <a:ext cx="647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+ΔW</a:t>
              </a:r>
              <a:endParaRPr lang="zh-CN" altLang="en-US" dirty="0"/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91850A00-05DD-4609-82FF-B727259E84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85315" y="5335240"/>
              <a:ext cx="432696" cy="208132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69ECDCF5-5818-4B4A-8143-A7701DB100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92935" y="5640041"/>
              <a:ext cx="432696" cy="208132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D6C45B8D-8E44-456A-8587-039CB64A8C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92935" y="6016545"/>
              <a:ext cx="432696" cy="208132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303BBBC7-32E9-4293-AFA6-A5D1918C99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46275" y="6349576"/>
              <a:ext cx="432696" cy="208132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6F90E76C-4719-4C68-A639-8D8023C747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92935" y="6660975"/>
              <a:ext cx="432696" cy="208132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1C1AE46-16DC-4397-B0DF-2E498E043D49}"/>
                </a:ext>
              </a:extLst>
            </p:cNvPr>
            <p:cNvSpPr txBox="1"/>
            <p:nvPr/>
          </p:nvSpPr>
          <p:spPr>
            <a:xfrm>
              <a:off x="7441575" y="4638172"/>
              <a:ext cx="647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+</a:t>
              </a:r>
              <a:r>
                <a:rPr lang="en-US" altLang="zh-CN" dirty="0" err="1"/>
                <a:t>Δb</a:t>
              </a:r>
              <a:endParaRPr lang="zh-CN" altLang="en-US" dirty="0"/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F7537CF2-4191-4717-B113-0F5ED95E71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891902" y="5258912"/>
              <a:ext cx="394304" cy="197152"/>
            </a:xfrm>
            <a:prstGeom prst="rect">
              <a:avLst/>
            </a:prstGeom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FCEF6265-4871-4BCB-92A3-E568A9E1273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04568" y="5588586"/>
              <a:ext cx="394304" cy="197152"/>
            </a:xfrm>
            <a:prstGeom prst="rect">
              <a:avLst/>
            </a:prstGeom>
          </p:spPr>
        </p:pic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A7F0DEF1-83AB-42C7-A8A2-DCB4330A2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891902" y="5946885"/>
              <a:ext cx="394304" cy="197152"/>
            </a:xfrm>
            <a:prstGeom prst="rect">
              <a:avLst/>
            </a:prstGeom>
          </p:spPr>
        </p:pic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34DE0689-37F6-4207-B2C9-3B8DDF35025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25307" y="6262268"/>
              <a:ext cx="394304" cy="197152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80D29A7C-2407-4931-A55A-8FEF40A4B80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62577" y="6560820"/>
              <a:ext cx="394304" cy="197152"/>
            </a:xfrm>
            <a:prstGeom prst="rect">
              <a:avLst/>
            </a:prstGeom>
          </p:spPr>
        </p:pic>
      </p:grpSp>
      <p:pic>
        <p:nvPicPr>
          <p:cNvPr id="20" name="Picture 4" descr="https://img-blog.csdnimg.cn/20190203114555894.png?x-oss-process=image/watermark,type_ZmFuZ3poZW5naGVpdGk,shadow_10,text_aHR0cHM6Ly9ibG9nLmNzZG4ubmV0L2ptdTIwMTUyMTEyMTAyMQ==,size_16,color_FFFFFF,t_70">
            <a:extLst>
              <a:ext uri="{FF2B5EF4-FFF2-40B4-BE49-F238E27FC236}">
                <a16:creationId xmlns:a16="http://schemas.microsoft.com/office/drawing/2014/main" id="{2C4BC538-7FEB-492D-ACD7-335494B488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55" t="2337" r="17441" b="34598"/>
          <a:stretch/>
        </p:blipFill>
        <p:spPr bwMode="auto">
          <a:xfrm>
            <a:off x="6390503" y="1093988"/>
            <a:ext cx="4539612" cy="2674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094CEB3F-2422-4FBF-9763-2400C188D590}"/>
              </a:ext>
            </a:extLst>
          </p:cNvPr>
          <p:cNvSpPr/>
          <p:nvPr/>
        </p:nvSpPr>
        <p:spPr>
          <a:xfrm>
            <a:off x="8272952" y="2067617"/>
            <a:ext cx="754380" cy="1720839"/>
          </a:xfrm>
          <a:prstGeom prst="rect">
            <a:avLst/>
          </a:prstGeom>
          <a:noFill/>
          <a:ln w="539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281A03F9-A7A2-7A1E-0F42-D71AA3A946F4}"/>
              </a:ext>
            </a:extLst>
          </p:cNvPr>
          <p:cNvSpPr txBox="1"/>
          <p:nvPr/>
        </p:nvSpPr>
        <p:spPr>
          <a:xfrm>
            <a:off x="1085930" y="4117480"/>
            <a:ext cx="98441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前向传播 → 算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损失函数</a:t>
            </a:r>
            <a:r>
              <a:rPr lang="zh-CN" altLang="en-US" dirty="0"/>
              <a:t> → 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反向传播求梯度</a:t>
            </a:r>
            <a:r>
              <a:rPr lang="zh-CN" altLang="en-US" dirty="0"/>
              <a:t> → 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梯度下降更新参数</a:t>
            </a:r>
            <a:r>
              <a:rPr lang="zh-CN" altLang="en-US" dirty="0"/>
              <a:t> → 循环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7877F54B-3C45-E2F4-385A-32CCC3EEE1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68404" y="5049726"/>
            <a:ext cx="2619048" cy="1428571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2E09FBFC-4101-2B24-808D-F1CA7A57BE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2064" y="5063418"/>
            <a:ext cx="2800000" cy="1485714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3B7BB191-F1EA-7D17-3D3C-EB50E99F98D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28448" y="5049726"/>
            <a:ext cx="1761905" cy="1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510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28ADDF0A-C438-A13C-9B49-6FA176169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08" y="219476"/>
            <a:ext cx="5561905" cy="64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752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https://timgsa.baidu.com/timg?image&amp;quality=80&amp;size=b9999_10000&amp;sec=1605069944532&amp;di=fadb1258c81e7ea265d2bcbdc8fcc0c7&amp;imgtype=0&amp;src=http%3A%2F%2Fi.cqnews.net%2Fcqtoday%2Fattachement%2Fjpg%2Fsite82%2F20130227%2F002564c0b87d1297a69a4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38100" cy="7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28CFFBE9-913D-4462-B6EB-5BFEF7CDBC93}"/>
              </a:ext>
            </a:extLst>
          </p:cNvPr>
          <p:cNvSpPr/>
          <p:nvPr/>
        </p:nvSpPr>
        <p:spPr>
          <a:xfrm>
            <a:off x="551384" y="764704"/>
            <a:ext cx="1006638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FF0000"/>
              </a:buClr>
              <a:buSzPct val="100000"/>
              <a:buFont typeface="Wingdings" panose="05000000000000000000" pitchFamily="2" charset="2"/>
              <a:buChar char="p"/>
            </a:pPr>
            <a:r>
              <a:rPr lang="en-US" altLang="zh-CN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One-hot</a:t>
            </a:r>
            <a:r>
              <a:rPr lang="zh-CN" altLang="en-US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Encoding</a:t>
            </a:r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376313F-1E57-E462-ADA3-61CF281A0536}"/>
              </a:ext>
            </a:extLst>
          </p:cNvPr>
          <p:cNvSpPr txBox="1"/>
          <p:nvPr/>
        </p:nvSpPr>
        <p:spPr>
          <a:xfrm>
            <a:off x="479376" y="22241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逻辑回归</a:t>
            </a:r>
            <a:endParaRPr lang="zh-CN" altLang="en-US" sz="24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4198" name="object 38">
            <a:extLst>
              <a:ext uri="{FF2B5EF4-FFF2-40B4-BE49-F238E27FC236}">
                <a16:creationId xmlns:a16="http://schemas.microsoft.com/office/drawing/2014/main" id="{23CF0C00-00D7-DC9C-5BC0-2425B2D94E24}"/>
              </a:ext>
            </a:extLst>
          </p:cNvPr>
          <p:cNvGrpSpPr/>
          <p:nvPr/>
        </p:nvGrpSpPr>
        <p:grpSpPr>
          <a:xfrm>
            <a:off x="3143672" y="2466549"/>
            <a:ext cx="1176541" cy="338455"/>
            <a:chOff x="3774909" y="4566158"/>
            <a:chExt cx="1176541" cy="338455"/>
          </a:xfrm>
        </p:grpSpPr>
        <p:sp>
          <p:nvSpPr>
            <p:cNvPr id="4199" name="object 39">
              <a:extLst>
                <a:ext uri="{FF2B5EF4-FFF2-40B4-BE49-F238E27FC236}">
                  <a16:creationId xmlns:a16="http://schemas.microsoft.com/office/drawing/2014/main" id="{44AC704A-8727-B733-ACEE-3C34728C6BC2}"/>
                </a:ext>
              </a:extLst>
            </p:cNvPr>
            <p:cNvSpPr/>
            <p:nvPr/>
          </p:nvSpPr>
          <p:spPr>
            <a:xfrm>
              <a:off x="3781043" y="4572000"/>
              <a:ext cx="388620" cy="326390"/>
            </a:xfrm>
            <a:custGeom>
              <a:avLst/>
              <a:gdLst/>
              <a:ahLst/>
              <a:cxnLst/>
              <a:rect l="l" t="t" r="r" b="b"/>
              <a:pathLst>
                <a:path w="388620" h="326389">
                  <a:moveTo>
                    <a:pt x="388620" y="326136"/>
                  </a:moveTo>
                  <a:lnTo>
                    <a:pt x="0" y="326136"/>
                  </a:lnTo>
                  <a:lnTo>
                    <a:pt x="0" y="0"/>
                  </a:lnTo>
                  <a:lnTo>
                    <a:pt x="388620" y="0"/>
                  </a:lnTo>
                  <a:lnTo>
                    <a:pt x="388620" y="32613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200" name="object 40">
              <a:extLst>
                <a:ext uri="{FF2B5EF4-FFF2-40B4-BE49-F238E27FC236}">
                  <a16:creationId xmlns:a16="http://schemas.microsoft.com/office/drawing/2014/main" id="{733D7E21-5EC0-23F9-B8B7-62D0E4D4FA21}"/>
                </a:ext>
              </a:extLst>
            </p:cNvPr>
            <p:cNvSpPr/>
            <p:nvPr/>
          </p:nvSpPr>
          <p:spPr>
            <a:xfrm>
              <a:off x="3774909" y="4566158"/>
              <a:ext cx="400685" cy="338455"/>
            </a:xfrm>
            <a:custGeom>
              <a:avLst/>
              <a:gdLst/>
              <a:ahLst/>
              <a:cxnLst/>
              <a:rect l="l" t="t" r="r" b="b"/>
              <a:pathLst>
                <a:path w="400685" h="338454">
                  <a:moveTo>
                    <a:pt x="400634" y="337908"/>
                  </a:moveTo>
                  <a:lnTo>
                    <a:pt x="0" y="337908"/>
                  </a:lnTo>
                  <a:lnTo>
                    <a:pt x="0" y="0"/>
                  </a:lnTo>
                  <a:lnTo>
                    <a:pt x="400634" y="0"/>
                  </a:lnTo>
                  <a:lnTo>
                    <a:pt x="400634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325208"/>
                  </a:lnTo>
                  <a:lnTo>
                    <a:pt x="6350" y="325208"/>
                  </a:lnTo>
                  <a:lnTo>
                    <a:pt x="12700" y="331558"/>
                  </a:lnTo>
                  <a:lnTo>
                    <a:pt x="400634" y="331558"/>
                  </a:lnTo>
                  <a:lnTo>
                    <a:pt x="400634" y="337908"/>
                  </a:lnTo>
                  <a:close/>
                </a:path>
                <a:path w="400685" h="338454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400685" h="338454">
                  <a:moveTo>
                    <a:pt x="387934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387934" y="6350"/>
                  </a:lnTo>
                  <a:lnTo>
                    <a:pt x="387934" y="12700"/>
                  </a:lnTo>
                  <a:close/>
                </a:path>
                <a:path w="400685" h="338454">
                  <a:moveTo>
                    <a:pt x="387934" y="331558"/>
                  </a:moveTo>
                  <a:lnTo>
                    <a:pt x="387934" y="6350"/>
                  </a:lnTo>
                  <a:lnTo>
                    <a:pt x="394284" y="12700"/>
                  </a:lnTo>
                  <a:lnTo>
                    <a:pt x="400634" y="12700"/>
                  </a:lnTo>
                  <a:lnTo>
                    <a:pt x="400634" y="325208"/>
                  </a:lnTo>
                  <a:lnTo>
                    <a:pt x="394284" y="325208"/>
                  </a:lnTo>
                  <a:lnTo>
                    <a:pt x="387934" y="331558"/>
                  </a:lnTo>
                  <a:close/>
                </a:path>
                <a:path w="400685" h="338454">
                  <a:moveTo>
                    <a:pt x="400634" y="12700"/>
                  </a:moveTo>
                  <a:lnTo>
                    <a:pt x="394284" y="12700"/>
                  </a:lnTo>
                  <a:lnTo>
                    <a:pt x="387934" y="6350"/>
                  </a:lnTo>
                  <a:lnTo>
                    <a:pt x="400634" y="6350"/>
                  </a:lnTo>
                  <a:lnTo>
                    <a:pt x="400634" y="12700"/>
                  </a:lnTo>
                  <a:close/>
                </a:path>
                <a:path w="400685" h="338454">
                  <a:moveTo>
                    <a:pt x="12700" y="331558"/>
                  </a:moveTo>
                  <a:lnTo>
                    <a:pt x="6350" y="325208"/>
                  </a:lnTo>
                  <a:lnTo>
                    <a:pt x="12700" y="325208"/>
                  </a:lnTo>
                  <a:lnTo>
                    <a:pt x="12700" y="331558"/>
                  </a:lnTo>
                  <a:close/>
                </a:path>
                <a:path w="400685" h="338454">
                  <a:moveTo>
                    <a:pt x="387934" y="331558"/>
                  </a:moveTo>
                  <a:lnTo>
                    <a:pt x="12700" y="331558"/>
                  </a:lnTo>
                  <a:lnTo>
                    <a:pt x="12700" y="325208"/>
                  </a:lnTo>
                  <a:lnTo>
                    <a:pt x="387934" y="325208"/>
                  </a:lnTo>
                  <a:lnTo>
                    <a:pt x="387934" y="331558"/>
                  </a:lnTo>
                  <a:close/>
                </a:path>
                <a:path w="400685" h="338454">
                  <a:moveTo>
                    <a:pt x="400634" y="331558"/>
                  </a:moveTo>
                  <a:lnTo>
                    <a:pt x="387934" y="331558"/>
                  </a:lnTo>
                  <a:lnTo>
                    <a:pt x="394284" y="325208"/>
                  </a:lnTo>
                  <a:lnTo>
                    <a:pt x="400634" y="325208"/>
                  </a:lnTo>
                  <a:lnTo>
                    <a:pt x="400634" y="331558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201" name="object 41">
              <a:extLst>
                <a:ext uri="{FF2B5EF4-FFF2-40B4-BE49-F238E27FC236}">
                  <a16:creationId xmlns:a16="http://schemas.microsoft.com/office/drawing/2014/main" id="{5D10D68B-031B-DFF8-5E77-3DE25F6133D9}"/>
                </a:ext>
              </a:extLst>
            </p:cNvPr>
            <p:cNvSpPr/>
            <p:nvPr/>
          </p:nvSpPr>
          <p:spPr>
            <a:xfrm>
              <a:off x="4169663" y="4572000"/>
              <a:ext cx="387350" cy="326390"/>
            </a:xfrm>
            <a:custGeom>
              <a:avLst/>
              <a:gdLst/>
              <a:ahLst/>
              <a:cxnLst/>
              <a:rect l="l" t="t" r="r" b="b"/>
              <a:pathLst>
                <a:path w="387350" h="326389">
                  <a:moveTo>
                    <a:pt x="387096" y="326136"/>
                  </a:moveTo>
                  <a:lnTo>
                    <a:pt x="0" y="326136"/>
                  </a:lnTo>
                  <a:lnTo>
                    <a:pt x="0" y="0"/>
                  </a:lnTo>
                  <a:lnTo>
                    <a:pt x="387096" y="0"/>
                  </a:lnTo>
                  <a:lnTo>
                    <a:pt x="387096" y="32613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202" name="object 42">
              <a:extLst>
                <a:ext uri="{FF2B5EF4-FFF2-40B4-BE49-F238E27FC236}">
                  <a16:creationId xmlns:a16="http://schemas.microsoft.com/office/drawing/2014/main" id="{026C781D-4FFD-7052-2CFF-A0BD8491C8B1}"/>
                </a:ext>
              </a:extLst>
            </p:cNvPr>
            <p:cNvSpPr/>
            <p:nvPr/>
          </p:nvSpPr>
          <p:spPr>
            <a:xfrm>
              <a:off x="4162844" y="4566158"/>
              <a:ext cx="400685" cy="338455"/>
            </a:xfrm>
            <a:custGeom>
              <a:avLst/>
              <a:gdLst/>
              <a:ahLst/>
              <a:cxnLst/>
              <a:rect l="l" t="t" r="r" b="b"/>
              <a:pathLst>
                <a:path w="400685" h="338454">
                  <a:moveTo>
                    <a:pt x="400621" y="337908"/>
                  </a:moveTo>
                  <a:lnTo>
                    <a:pt x="0" y="337908"/>
                  </a:lnTo>
                  <a:lnTo>
                    <a:pt x="0" y="0"/>
                  </a:lnTo>
                  <a:lnTo>
                    <a:pt x="400621" y="0"/>
                  </a:lnTo>
                  <a:lnTo>
                    <a:pt x="400621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325208"/>
                  </a:lnTo>
                  <a:lnTo>
                    <a:pt x="6350" y="325208"/>
                  </a:lnTo>
                  <a:lnTo>
                    <a:pt x="12700" y="331558"/>
                  </a:lnTo>
                  <a:lnTo>
                    <a:pt x="400621" y="331558"/>
                  </a:lnTo>
                  <a:lnTo>
                    <a:pt x="400621" y="337908"/>
                  </a:lnTo>
                  <a:close/>
                </a:path>
                <a:path w="400685" h="338454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400685" h="338454">
                  <a:moveTo>
                    <a:pt x="387921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387921" y="6350"/>
                  </a:lnTo>
                  <a:lnTo>
                    <a:pt x="387921" y="12700"/>
                  </a:lnTo>
                  <a:close/>
                </a:path>
                <a:path w="400685" h="338454">
                  <a:moveTo>
                    <a:pt x="387921" y="331558"/>
                  </a:moveTo>
                  <a:lnTo>
                    <a:pt x="387921" y="6350"/>
                  </a:lnTo>
                  <a:lnTo>
                    <a:pt x="394271" y="12700"/>
                  </a:lnTo>
                  <a:lnTo>
                    <a:pt x="400621" y="12700"/>
                  </a:lnTo>
                  <a:lnTo>
                    <a:pt x="400621" y="325208"/>
                  </a:lnTo>
                  <a:lnTo>
                    <a:pt x="394271" y="325208"/>
                  </a:lnTo>
                  <a:lnTo>
                    <a:pt x="387921" y="331558"/>
                  </a:lnTo>
                  <a:close/>
                </a:path>
                <a:path w="400685" h="338454">
                  <a:moveTo>
                    <a:pt x="400621" y="12700"/>
                  </a:moveTo>
                  <a:lnTo>
                    <a:pt x="394271" y="12700"/>
                  </a:lnTo>
                  <a:lnTo>
                    <a:pt x="387921" y="6350"/>
                  </a:lnTo>
                  <a:lnTo>
                    <a:pt x="400621" y="6350"/>
                  </a:lnTo>
                  <a:lnTo>
                    <a:pt x="400621" y="12700"/>
                  </a:lnTo>
                  <a:close/>
                </a:path>
                <a:path w="400685" h="338454">
                  <a:moveTo>
                    <a:pt x="12700" y="331558"/>
                  </a:moveTo>
                  <a:lnTo>
                    <a:pt x="6350" y="325208"/>
                  </a:lnTo>
                  <a:lnTo>
                    <a:pt x="12700" y="325208"/>
                  </a:lnTo>
                  <a:lnTo>
                    <a:pt x="12700" y="331558"/>
                  </a:lnTo>
                  <a:close/>
                </a:path>
                <a:path w="400685" h="338454">
                  <a:moveTo>
                    <a:pt x="387921" y="331558"/>
                  </a:moveTo>
                  <a:lnTo>
                    <a:pt x="12700" y="331558"/>
                  </a:lnTo>
                  <a:lnTo>
                    <a:pt x="12700" y="325208"/>
                  </a:lnTo>
                  <a:lnTo>
                    <a:pt x="387921" y="325208"/>
                  </a:lnTo>
                  <a:lnTo>
                    <a:pt x="387921" y="331558"/>
                  </a:lnTo>
                  <a:close/>
                </a:path>
                <a:path w="400685" h="338454">
                  <a:moveTo>
                    <a:pt x="400621" y="331558"/>
                  </a:moveTo>
                  <a:lnTo>
                    <a:pt x="387921" y="331558"/>
                  </a:lnTo>
                  <a:lnTo>
                    <a:pt x="394271" y="325208"/>
                  </a:lnTo>
                  <a:lnTo>
                    <a:pt x="400621" y="325208"/>
                  </a:lnTo>
                  <a:lnTo>
                    <a:pt x="400621" y="331558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203" name="object 43">
              <a:extLst>
                <a:ext uri="{FF2B5EF4-FFF2-40B4-BE49-F238E27FC236}">
                  <a16:creationId xmlns:a16="http://schemas.microsoft.com/office/drawing/2014/main" id="{F255F2F3-0E63-5AED-1594-B7BDB0168D74}"/>
                </a:ext>
              </a:extLst>
            </p:cNvPr>
            <p:cNvSpPr/>
            <p:nvPr/>
          </p:nvSpPr>
          <p:spPr>
            <a:xfrm>
              <a:off x="4556759" y="4572000"/>
              <a:ext cx="388620" cy="326390"/>
            </a:xfrm>
            <a:custGeom>
              <a:avLst/>
              <a:gdLst/>
              <a:ahLst/>
              <a:cxnLst/>
              <a:rect l="l" t="t" r="r" b="b"/>
              <a:pathLst>
                <a:path w="388620" h="326389">
                  <a:moveTo>
                    <a:pt x="388620" y="326136"/>
                  </a:moveTo>
                  <a:lnTo>
                    <a:pt x="0" y="326136"/>
                  </a:lnTo>
                  <a:lnTo>
                    <a:pt x="0" y="0"/>
                  </a:lnTo>
                  <a:lnTo>
                    <a:pt x="388620" y="0"/>
                  </a:lnTo>
                  <a:lnTo>
                    <a:pt x="388620" y="32613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204" name="object 44">
              <a:extLst>
                <a:ext uri="{FF2B5EF4-FFF2-40B4-BE49-F238E27FC236}">
                  <a16:creationId xmlns:a16="http://schemas.microsoft.com/office/drawing/2014/main" id="{2C35BAAD-20A3-F262-6C2F-0E286C9E3EB4}"/>
                </a:ext>
              </a:extLst>
            </p:cNvPr>
            <p:cNvSpPr/>
            <p:nvPr/>
          </p:nvSpPr>
          <p:spPr>
            <a:xfrm>
              <a:off x="4550765" y="4566158"/>
              <a:ext cx="400685" cy="338455"/>
            </a:xfrm>
            <a:custGeom>
              <a:avLst/>
              <a:gdLst/>
              <a:ahLst/>
              <a:cxnLst/>
              <a:rect l="l" t="t" r="r" b="b"/>
              <a:pathLst>
                <a:path w="400685" h="338454">
                  <a:moveTo>
                    <a:pt x="400634" y="337908"/>
                  </a:moveTo>
                  <a:lnTo>
                    <a:pt x="0" y="337908"/>
                  </a:lnTo>
                  <a:lnTo>
                    <a:pt x="0" y="0"/>
                  </a:lnTo>
                  <a:lnTo>
                    <a:pt x="400634" y="0"/>
                  </a:lnTo>
                  <a:lnTo>
                    <a:pt x="400634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325208"/>
                  </a:lnTo>
                  <a:lnTo>
                    <a:pt x="6350" y="325208"/>
                  </a:lnTo>
                  <a:lnTo>
                    <a:pt x="12700" y="331558"/>
                  </a:lnTo>
                  <a:lnTo>
                    <a:pt x="400634" y="331558"/>
                  </a:lnTo>
                  <a:lnTo>
                    <a:pt x="400634" y="337908"/>
                  </a:lnTo>
                  <a:close/>
                </a:path>
                <a:path w="400685" h="338454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400685" h="338454">
                  <a:moveTo>
                    <a:pt x="387934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387934" y="6350"/>
                  </a:lnTo>
                  <a:lnTo>
                    <a:pt x="387934" y="12700"/>
                  </a:lnTo>
                  <a:close/>
                </a:path>
                <a:path w="400685" h="338454">
                  <a:moveTo>
                    <a:pt x="387934" y="331558"/>
                  </a:moveTo>
                  <a:lnTo>
                    <a:pt x="387934" y="6350"/>
                  </a:lnTo>
                  <a:lnTo>
                    <a:pt x="394284" y="12700"/>
                  </a:lnTo>
                  <a:lnTo>
                    <a:pt x="400634" y="12700"/>
                  </a:lnTo>
                  <a:lnTo>
                    <a:pt x="400634" y="325208"/>
                  </a:lnTo>
                  <a:lnTo>
                    <a:pt x="394284" y="325208"/>
                  </a:lnTo>
                  <a:lnTo>
                    <a:pt x="387934" y="331558"/>
                  </a:lnTo>
                  <a:close/>
                </a:path>
                <a:path w="400685" h="338454">
                  <a:moveTo>
                    <a:pt x="400634" y="12700"/>
                  </a:moveTo>
                  <a:lnTo>
                    <a:pt x="394284" y="12700"/>
                  </a:lnTo>
                  <a:lnTo>
                    <a:pt x="387934" y="6350"/>
                  </a:lnTo>
                  <a:lnTo>
                    <a:pt x="400634" y="6350"/>
                  </a:lnTo>
                  <a:lnTo>
                    <a:pt x="400634" y="12700"/>
                  </a:lnTo>
                  <a:close/>
                </a:path>
                <a:path w="400685" h="338454">
                  <a:moveTo>
                    <a:pt x="12700" y="331558"/>
                  </a:moveTo>
                  <a:lnTo>
                    <a:pt x="6350" y="325208"/>
                  </a:lnTo>
                  <a:lnTo>
                    <a:pt x="12700" y="325208"/>
                  </a:lnTo>
                  <a:lnTo>
                    <a:pt x="12700" y="331558"/>
                  </a:lnTo>
                  <a:close/>
                </a:path>
                <a:path w="400685" h="338454">
                  <a:moveTo>
                    <a:pt x="387934" y="331558"/>
                  </a:moveTo>
                  <a:lnTo>
                    <a:pt x="12700" y="331558"/>
                  </a:lnTo>
                  <a:lnTo>
                    <a:pt x="12700" y="325208"/>
                  </a:lnTo>
                  <a:lnTo>
                    <a:pt x="387934" y="325208"/>
                  </a:lnTo>
                  <a:lnTo>
                    <a:pt x="387934" y="331558"/>
                  </a:lnTo>
                  <a:close/>
                </a:path>
                <a:path w="400685" h="338454">
                  <a:moveTo>
                    <a:pt x="400634" y="331558"/>
                  </a:moveTo>
                  <a:lnTo>
                    <a:pt x="387934" y="331558"/>
                  </a:lnTo>
                  <a:lnTo>
                    <a:pt x="394284" y="325208"/>
                  </a:lnTo>
                  <a:lnTo>
                    <a:pt x="400634" y="325208"/>
                  </a:lnTo>
                  <a:lnTo>
                    <a:pt x="400634" y="331558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217" name="文本框 4216">
            <a:extLst>
              <a:ext uri="{FF2B5EF4-FFF2-40B4-BE49-F238E27FC236}">
                <a16:creationId xmlns:a16="http://schemas.microsoft.com/office/drawing/2014/main" id="{AD8371C3-D82B-E42E-CD0E-0F9B6CBDE0FB}"/>
              </a:ext>
            </a:extLst>
          </p:cNvPr>
          <p:cNvSpPr txBox="1"/>
          <p:nvPr/>
        </p:nvSpPr>
        <p:spPr>
          <a:xfrm>
            <a:off x="1775520" y="2420888"/>
            <a:ext cx="9605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类别 </a:t>
            </a:r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4218" name="文本框 4217">
            <a:extLst>
              <a:ext uri="{FF2B5EF4-FFF2-40B4-BE49-F238E27FC236}">
                <a16:creationId xmlns:a16="http://schemas.microsoft.com/office/drawing/2014/main" id="{F7E680AB-F91A-0FAF-2FB3-26E93ED9EEE7}"/>
              </a:ext>
            </a:extLst>
          </p:cNvPr>
          <p:cNvSpPr txBox="1"/>
          <p:nvPr/>
        </p:nvSpPr>
        <p:spPr>
          <a:xfrm>
            <a:off x="1775520" y="3040247"/>
            <a:ext cx="9605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类别 </a:t>
            </a:r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4219" name="object 17">
            <a:extLst>
              <a:ext uri="{FF2B5EF4-FFF2-40B4-BE49-F238E27FC236}">
                <a16:creationId xmlns:a16="http://schemas.microsoft.com/office/drawing/2014/main" id="{435EEF75-A03F-1FE6-8921-CB3FFE5722EC}"/>
              </a:ext>
            </a:extLst>
          </p:cNvPr>
          <p:cNvSpPr txBox="1"/>
          <p:nvPr/>
        </p:nvSpPr>
        <p:spPr>
          <a:xfrm>
            <a:off x="3247429" y="2472823"/>
            <a:ext cx="1066713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tabLst>
                <a:tab pos="400050" algn="l"/>
                <a:tab pos="788035" algn="l"/>
                <a:tab pos="1176020" algn="l"/>
              </a:tabLst>
            </a:pPr>
            <a:r>
              <a:rPr sz="1800" b="0" kern="0" spc="-50" dirty="0">
                <a:solidFill>
                  <a:sysClr val="windowText" lastClr="000000"/>
                </a:solidFill>
                <a:latin typeface="Tahoma"/>
                <a:cs typeface="Tahoma"/>
              </a:rPr>
              <a:t>1</a:t>
            </a:r>
            <a:r>
              <a:rPr sz="1800" b="0" kern="0" dirty="0">
                <a:solidFill>
                  <a:sysClr val="windowText" lastClr="000000"/>
                </a:solidFill>
                <a:latin typeface="Tahoma"/>
                <a:cs typeface="Tahoma"/>
              </a:rPr>
              <a:t>	</a:t>
            </a:r>
            <a:r>
              <a:rPr sz="1800" b="0" kern="0" spc="-50" dirty="0">
                <a:solidFill>
                  <a:sysClr val="windowText" lastClr="000000"/>
                </a:solidFill>
                <a:latin typeface="Tahoma"/>
                <a:cs typeface="Tahoma"/>
              </a:rPr>
              <a:t>0</a:t>
            </a:r>
            <a:r>
              <a:rPr sz="1800" b="0" kern="0" dirty="0">
                <a:solidFill>
                  <a:sysClr val="windowText" lastClr="000000"/>
                </a:solidFill>
                <a:latin typeface="Tahoma"/>
                <a:cs typeface="Tahoma"/>
              </a:rPr>
              <a:t>	</a:t>
            </a:r>
            <a:r>
              <a:rPr sz="1800" b="0" kern="0" spc="-50" dirty="0">
                <a:solidFill>
                  <a:sysClr val="windowText" lastClr="000000"/>
                </a:solidFill>
                <a:latin typeface="Tahoma"/>
                <a:cs typeface="Tahoma"/>
              </a:rPr>
              <a:t>0</a:t>
            </a:r>
            <a:endParaRPr sz="1800" b="0" kern="0" dirty="0">
              <a:solidFill>
                <a:sysClr val="windowText" lastClr="000000"/>
              </a:solidFill>
              <a:latin typeface="Tahoma"/>
              <a:cs typeface="Tahoma"/>
            </a:endParaRPr>
          </a:p>
        </p:txBody>
      </p:sp>
      <p:sp>
        <p:nvSpPr>
          <p:cNvPr id="4220" name="文本框 4219">
            <a:extLst>
              <a:ext uri="{FF2B5EF4-FFF2-40B4-BE49-F238E27FC236}">
                <a16:creationId xmlns:a16="http://schemas.microsoft.com/office/drawing/2014/main" id="{BE155349-A10F-4D09-FF93-5C524BB4E5B3}"/>
              </a:ext>
            </a:extLst>
          </p:cNvPr>
          <p:cNvSpPr txBox="1"/>
          <p:nvPr/>
        </p:nvSpPr>
        <p:spPr>
          <a:xfrm>
            <a:off x="4369662" y="1814319"/>
            <a:ext cx="25106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假如我们有三种类别</a:t>
            </a:r>
          </a:p>
        </p:txBody>
      </p:sp>
      <p:grpSp>
        <p:nvGrpSpPr>
          <p:cNvPr id="4222" name="object 38">
            <a:extLst>
              <a:ext uri="{FF2B5EF4-FFF2-40B4-BE49-F238E27FC236}">
                <a16:creationId xmlns:a16="http://schemas.microsoft.com/office/drawing/2014/main" id="{130081A7-A165-AD94-2507-72CD2360D43D}"/>
              </a:ext>
            </a:extLst>
          </p:cNvPr>
          <p:cNvGrpSpPr/>
          <p:nvPr/>
        </p:nvGrpSpPr>
        <p:grpSpPr>
          <a:xfrm>
            <a:off x="3137601" y="3090545"/>
            <a:ext cx="1176541" cy="338455"/>
            <a:chOff x="3774909" y="4566158"/>
            <a:chExt cx="1176541" cy="338455"/>
          </a:xfrm>
        </p:grpSpPr>
        <p:sp>
          <p:nvSpPr>
            <p:cNvPr id="4223" name="object 39">
              <a:extLst>
                <a:ext uri="{FF2B5EF4-FFF2-40B4-BE49-F238E27FC236}">
                  <a16:creationId xmlns:a16="http://schemas.microsoft.com/office/drawing/2014/main" id="{839CE1A7-27C8-27DC-5D78-90F25DEBBD79}"/>
                </a:ext>
              </a:extLst>
            </p:cNvPr>
            <p:cNvSpPr/>
            <p:nvPr/>
          </p:nvSpPr>
          <p:spPr>
            <a:xfrm>
              <a:off x="3781043" y="4572000"/>
              <a:ext cx="388620" cy="326390"/>
            </a:xfrm>
            <a:custGeom>
              <a:avLst/>
              <a:gdLst/>
              <a:ahLst/>
              <a:cxnLst/>
              <a:rect l="l" t="t" r="r" b="b"/>
              <a:pathLst>
                <a:path w="388620" h="326389">
                  <a:moveTo>
                    <a:pt x="388620" y="326136"/>
                  </a:moveTo>
                  <a:lnTo>
                    <a:pt x="0" y="326136"/>
                  </a:lnTo>
                  <a:lnTo>
                    <a:pt x="0" y="0"/>
                  </a:lnTo>
                  <a:lnTo>
                    <a:pt x="388620" y="0"/>
                  </a:lnTo>
                  <a:lnTo>
                    <a:pt x="388620" y="32613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224" name="object 40">
              <a:extLst>
                <a:ext uri="{FF2B5EF4-FFF2-40B4-BE49-F238E27FC236}">
                  <a16:creationId xmlns:a16="http://schemas.microsoft.com/office/drawing/2014/main" id="{3AFE2EBC-5F9B-F1AD-306A-91414B0B8B68}"/>
                </a:ext>
              </a:extLst>
            </p:cNvPr>
            <p:cNvSpPr/>
            <p:nvPr/>
          </p:nvSpPr>
          <p:spPr>
            <a:xfrm>
              <a:off x="3774909" y="4566158"/>
              <a:ext cx="400685" cy="338455"/>
            </a:xfrm>
            <a:custGeom>
              <a:avLst/>
              <a:gdLst/>
              <a:ahLst/>
              <a:cxnLst/>
              <a:rect l="l" t="t" r="r" b="b"/>
              <a:pathLst>
                <a:path w="400685" h="338454">
                  <a:moveTo>
                    <a:pt x="400634" y="337908"/>
                  </a:moveTo>
                  <a:lnTo>
                    <a:pt x="0" y="337908"/>
                  </a:lnTo>
                  <a:lnTo>
                    <a:pt x="0" y="0"/>
                  </a:lnTo>
                  <a:lnTo>
                    <a:pt x="400634" y="0"/>
                  </a:lnTo>
                  <a:lnTo>
                    <a:pt x="400634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325208"/>
                  </a:lnTo>
                  <a:lnTo>
                    <a:pt x="6350" y="325208"/>
                  </a:lnTo>
                  <a:lnTo>
                    <a:pt x="12700" y="331558"/>
                  </a:lnTo>
                  <a:lnTo>
                    <a:pt x="400634" y="331558"/>
                  </a:lnTo>
                  <a:lnTo>
                    <a:pt x="400634" y="337908"/>
                  </a:lnTo>
                  <a:close/>
                </a:path>
                <a:path w="400685" h="338454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400685" h="338454">
                  <a:moveTo>
                    <a:pt x="387934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387934" y="6350"/>
                  </a:lnTo>
                  <a:lnTo>
                    <a:pt x="387934" y="12700"/>
                  </a:lnTo>
                  <a:close/>
                </a:path>
                <a:path w="400685" h="338454">
                  <a:moveTo>
                    <a:pt x="387934" y="331558"/>
                  </a:moveTo>
                  <a:lnTo>
                    <a:pt x="387934" y="6350"/>
                  </a:lnTo>
                  <a:lnTo>
                    <a:pt x="394284" y="12700"/>
                  </a:lnTo>
                  <a:lnTo>
                    <a:pt x="400634" y="12700"/>
                  </a:lnTo>
                  <a:lnTo>
                    <a:pt x="400634" y="325208"/>
                  </a:lnTo>
                  <a:lnTo>
                    <a:pt x="394284" y="325208"/>
                  </a:lnTo>
                  <a:lnTo>
                    <a:pt x="387934" y="331558"/>
                  </a:lnTo>
                  <a:close/>
                </a:path>
                <a:path w="400685" h="338454">
                  <a:moveTo>
                    <a:pt x="400634" y="12700"/>
                  </a:moveTo>
                  <a:lnTo>
                    <a:pt x="394284" y="12700"/>
                  </a:lnTo>
                  <a:lnTo>
                    <a:pt x="387934" y="6350"/>
                  </a:lnTo>
                  <a:lnTo>
                    <a:pt x="400634" y="6350"/>
                  </a:lnTo>
                  <a:lnTo>
                    <a:pt x="400634" y="12700"/>
                  </a:lnTo>
                  <a:close/>
                </a:path>
                <a:path w="400685" h="338454">
                  <a:moveTo>
                    <a:pt x="12700" y="331558"/>
                  </a:moveTo>
                  <a:lnTo>
                    <a:pt x="6350" y="325208"/>
                  </a:lnTo>
                  <a:lnTo>
                    <a:pt x="12700" y="325208"/>
                  </a:lnTo>
                  <a:lnTo>
                    <a:pt x="12700" y="331558"/>
                  </a:lnTo>
                  <a:close/>
                </a:path>
                <a:path w="400685" h="338454">
                  <a:moveTo>
                    <a:pt x="387934" y="331558"/>
                  </a:moveTo>
                  <a:lnTo>
                    <a:pt x="12700" y="331558"/>
                  </a:lnTo>
                  <a:lnTo>
                    <a:pt x="12700" y="325208"/>
                  </a:lnTo>
                  <a:lnTo>
                    <a:pt x="387934" y="325208"/>
                  </a:lnTo>
                  <a:lnTo>
                    <a:pt x="387934" y="331558"/>
                  </a:lnTo>
                  <a:close/>
                </a:path>
                <a:path w="400685" h="338454">
                  <a:moveTo>
                    <a:pt x="400634" y="331558"/>
                  </a:moveTo>
                  <a:lnTo>
                    <a:pt x="387934" y="331558"/>
                  </a:lnTo>
                  <a:lnTo>
                    <a:pt x="394284" y="325208"/>
                  </a:lnTo>
                  <a:lnTo>
                    <a:pt x="400634" y="325208"/>
                  </a:lnTo>
                  <a:lnTo>
                    <a:pt x="400634" y="331558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225" name="object 41">
              <a:extLst>
                <a:ext uri="{FF2B5EF4-FFF2-40B4-BE49-F238E27FC236}">
                  <a16:creationId xmlns:a16="http://schemas.microsoft.com/office/drawing/2014/main" id="{C78EA76E-24EC-858D-734B-2A204712A950}"/>
                </a:ext>
              </a:extLst>
            </p:cNvPr>
            <p:cNvSpPr/>
            <p:nvPr/>
          </p:nvSpPr>
          <p:spPr>
            <a:xfrm>
              <a:off x="4169663" y="4572000"/>
              <a:ext cx="387350" cy="326390"/>
            </a:xfrm>
            <a:custGeom>
              <a:avLst/>
              <a:gdLst/>
              <a:ahLst/>
              <a:cxnLst/>
              <a:rect l="l" t="t" r="r" b="b"/>
              <a:pathLst>
                <a:path w="387350" h="326389">
                  <a:moveTo>
                    <a:pt x="387096" y="326136"/>
                  </a:moveTo>
                  <a:lnTo>
                    <a:pt x="0" y="326136"/>
                  </a:lnTo>
                  <a:lnTo>
                    <a:pt x="0" y="0"/>
                  </a:lnTo>
                  <a:lnTo>
                    <a:pt x="387096" y="0"/>
                  </a:lnTo>
                  <a:lnTo>
                    <a:pt x="387096" y="32613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226" name="object 42">
              <a:extLst>
                <a:ext uri="{FF2B5EF4-FFF2-40B4-BE49-F238E27FC236}">
                  <a16:creationId xmlns:a16="http://schemas.microsoft.com/office/drawing/2014/main" id="{A09EBF28-8587-BB5B-8AA4-FC9C5780BC9E}"/>
                </a:ext>
              </a:extLst>
            </p:cNvPr>
            <p:cNvSpPr/>
            <p:nvPr/>
          </p:nvSpPr>
          <p:spPr>
            <a:xfrm>
              <a:off x="4162844" y="4566158"/>
              <a:ext cx="400685" cy="338455"/>
            </a:xfrm>
            <a:custGeom>
              <a:avLst/>
              <a:gdLst/>
              <a:ahLst/>
              <a:cxnLst/>
              <a:rect l="l" t="t" r="r" b="b"/>
              <a:pathLst>
                <a:path w="400685" h="338454">
                  <a:moveTo>
                    <a:pt x="400621" y="337908"/>
                  </a:moveTo>
                  <a:lnTo>
                    <a:pt x="0" y="337908"/>
                  </a:lnTo>
                  <a:lnTo>
                    <a:pt x="0" y="0"/>
                  </a:lnTo>
                  <a:lnTo>
                    <a:pt x="400621" y="0"/>
                  </a:lnTo>
                  <a:lnTo>
                    <a:pt x="400621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325208"/>
                  </a:lnTo>
                  <a:lnTo>
                    <a:pt x="6350" y="325208"/>
                  </a:lnTo>
                  <a:lnTo>
                    <a:pt x="12700" y="331558"/>
                  </a:lnTo>
                  <a:lnTo>
                    <a:pt x="400621" y="331558"/>
                  </a:lnTo>
                  <a:lnTo>
                    <a:pt x="400621" y="337908"/>
                  </a:lnTo>
                  <a:close/>
                </a:path>
                <a:path w="400685" h="338454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400685" h="338454">
                  <a:moveTo>
                    <a:pt x="387921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387921" y="6350"/>
                  </a:lnTo>
                  <a:lnTo>
                    <a:pt x="387921" y="12700"/>
                  </a:lnTo>
                  <a:close/>
                </a:path>
                <a:path w="400685" h="338454">
                  <a:moveTo>
                    <a:pt x="387921" y="331558"/>
                  </a:moveTo>
                  <a:lnTo>
                    <a:pt x="387921" y="6350"/>
                  </a:lnTo>
                  <a:lnTo>
                    <a:pt x="394271" y="12700"/>
                  </a:lnTo>
                  <a:lnTo>
                    <a:pt x="400621" y="12700"/>
                  </a:lnTo>
                  <a:lnTo>
                    <a:pt x="400621" y="325208"/>
                  </a:lnTo>
                  <a:lnTo>
                    <a:pt x="394271" y="325208"/>
                  </a:lnTo>
                  <a:lnTo>
                    <a:pt x="387921" y="331558"/>
                  </a:lnTo>
                  <a:close/>
                </a:path>
                <a:path w="400685" h="338454">
                  <a:moveTo>
                    <a:pt x="400621" y="12700"/>
                  </a:moveTo>
                  <a:lnTo>
                    <a:pt x="394271" y="12700"/>
                  </a:lnTo>
                  <a:lnTo>
                    <a:pt x="387921" y="6350"/>
                  </a:lnTo>
                  <a:lnTo>
                    <a:pt x="400621" y="6350"/>
                  </a:lnTo>
                  <a:lnTo>
                    <a:pt x="400621" y="12700"/>
                  </a:lnTo>
                  <a:close/>
                </a:path>
                <a:path w="400685" h="338454">
                  <a:moveTo>
                    <a:pt x="12700" y="331558"/>
                  </a:moveTo>
                  <a:lnTo>
                    <a:pt x="6350" y="325208"/>
                  </a:lnTo>
                  <a:lnTo>
                    <a:pt x="12700" y="325208"/>
                  </a:lnTo>
                  <a:lnTo>
                    <a:pt x="12700" y="331558"/>
                  </a:lnTo>
                  <a:close/>
                </a:path>
                <a:path w="400685" h="338454">
                  <a:moveTo>
                    <a:pt x="387921" y="331558"/>
                  </a:moveTo>
                  <a:lnTo>
                    <a:pt x="12700" y="331558"/>
                  </a:lnTo>
                  <a:lnTo>
                    <a:pt x="12700" y="325208"/>
                  </a:lnTo>
                  <a:lnTo>
                    <a:pt x="387921" y="325208"/>
                  </a:lnTo>
                  <a:lnTo>
                    <a:pt x="387921" y="331558"/>
                  </a:lnTo>
                  <a:close/>
                </a:path>
                <a:path w="400685" h="338454">
                  <a:moveTo>
                    <a:pt x="400621" y="331558"/>
                  </a:moveTo>
                  <a:lnTo>
                    <a:pt x="387921" y="331558"/>
                  </a:lnTo>
                  <a:lnTo>
                    <a:pt x="394271" y="325208"/>
                  </a:lnTo>
                  <a:lnTo>
                    <a:pt x="400621" y="325208"/>
                  </a:lnTo>
                  <a:lnTo>
                    <a:pt x="400621" y="331558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227" name="object 43">
              <a:extLst>
                <a:ext uri="{FF2B5EF4-FFF2-40B4-BE49-F238E27FC236}">
                  <a16:creationId xmlns:a16="http://schemas.microsoft.com/office/drawing/2014/main" id="{1FD8DD9C-B023-D12B-740F-B1225679F855}"/>
                </a:ext>
              </a:extLst>
            </p:cNvPr>
            <p:cNvSpPr/>
            <p:nvPr/>
          </p:nvSpPr>
          <p:spPr>
            <a:xfrm>
              <a:off x="4556759" y="4572000"/>
              <a:ext cx="388620" cy="326390"/>
            </a:xfrm>
            <a:custGeom>
              <a:avLst/>
              <a:gdLst/>
              <a:ahLst/>
              <a:cxnLst/>
              <a:rect l="l" t="t" r="r" b="b"/>
              <a:pathLst>
                <a:path w="388620" h="326389">
                  <a:moveTo>
                    <a:pt x="388620" y="326136"/>
                  </a:moveTo>
                  <a:lnTo>
                    <a:pt x="0" y="326136"/>
                  </a:lnTo>
                  <a:lnTo>
                    <a:pt x="0" y="0"/>
                  </a:lnTo>
                  <a:lnTo>
                    <a:pt x="388620" y="0"/>
                  </a:lnTo>
                  <a:lnTo>
                    <a:pt x="388620" y="32613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228" name="object 44">
              <a:extLst>
                <a:ext uri="{FF2B5EF4-FFF2-40B4-BE49-F238E27FC236}">
                  <a16:creationId xmlns:a16="http://schemas.microsoft.com/office/drawing/2014/main" id="{6F24B810-5D75-D033-3FEA-4E30A169255A}"/>
                </a:ext>
              </a:extLst>
            </p:cNvPr>
            <p:cNvSpPr/>
            <p:nvPr/>
          </p:nvSpPr>
          <p:spPr>
            <a:xfrm>
              <a:off x="4550765" y="4566158"/>
              <a:ext cx="400685" cy="338455"/>
            </a:xfrm>
            <a:custGeom>
              <a:avLst/>
              <a:gdLst/>
              <a:ahLst/>
              <a:cxnLst/>
              <a:rect l="l" t="t" r="r" b="b"/>
              <a:pathLst>
                <a:path w="400685" h="338454">
                  <a:moveTo>
                    <a:pt x="400634" y="337908"/>
                  </a:moveTo>
                  <a:lnTo>
                    <a:pt x="0" y="337908"/>
                  </a:lnTo>
                  <a:lnTo>
                    <a:pt x="0" y="0"/>
                  </a:lnTo>
                  <a:lnTo>
                    <a:pt x="400634" y="0"/>
                  </a:lnTo>
                  <a:lnTo>
                    <a:pt x="400634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325208"/>
                  </a:lnTo>
                  <a:lnTo>
                    <a:pt x="6350" y="325208"/>
                  </a:lnTo>
                  <a:lnTo>
                    <a:pt x="12700" y="331558"/>
                  </a:lnTo>
                  <a:lnTo>
                    <a:pt x="400634" y="331558"/>
                  </a:lnTo>
                  <a:lnTo>
                    <a:pt x="400634" y="337908"/>
                  </a:lnTo>
                  <a:close/>
                </a:path>
                <a:path w="400685" h="338454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400685" h="338454">
                  <a:moveTo>
                    <a:pt x="387934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387934" y="6350"/>
                  </a:lnTo>
                  <a:lnTo>
                    <a:pt x="387934" y="12700"/>
                  </a:lnTo>
                  <a:close/>
                </a:path>
                <a:path w="400685" h="338454">
                  <a:moveTo>
                    <a:pt x="387934" y="331558"/>
                  </a:moveTo>
                  <a:lnTo>
                    <a:pt x="387934" y="6350"/>
                  </a:lnTo>
                  <a:lnTo>
                    <a:pt x="394284" y="12700"/>
                  </a:lnTo>
                  <a:lnTo>
                    <a:pt x="400634" y="12700"/>
                  </a:lnTo>
                  <a:lnTo>
                    <a:pt x="400634" y="325208"/>
                  </a:lnTo>
                  <a:lnTo>
                    <a:pt x="394284" y="325208"/>
                  </a:lnTo>
                  <a:lnTo>
                    <a:pt x="387934" y="331558"/>
                  </a:lnTo>
                  <a:close/>
                </a:path>
                <a:path w="400685" h="338454">
                  <a:moveTo>
                    <a:pt x="400634" y="12700"/>
                  </a:moveTo>
                  <a:lnTo>
                    <a:pt x="394284" y="12700"/>
                  </a:lnTo>
                  <a:lnTo>
                    <a:pt x="387934" y="6350"/>
                  </a:lnTo>
                  <a:lnTo>
                    <a:pt x="400634" y="6350"/>
                  </a:lnTo>
                  <a:lnTo>
                    <a:pt x="400634" y="12700"/>
                  </a:lnTo>
                  <a:close/>
                </a:path>
                <a:path w="400685" h="338454">
                  <a:moveTo>
                    <a:pt x="12700" y="331558"/>
                  </a:moveTo>
                  <a:lnTo>
                    <a:pt x="6350" y="325208"/>
                  </a:lnTo>
                  <a:lnTo>
                    <a:pt x="12700" y="325208"/>
                  </a:lnTo>
                  <a:lnTo>
                    <a:pt x="12700" y="331558"/>
                  </a:lnTo>
                  <a:close/>
                </a:path>
                <a:path w="400685" h="338454">
                  <a:moveTo>
                    <a:pt x="387934" y="331558"/>
                  </a:moveTo>
                  <a:lnTo>
                    <a:pt x="12700" y="331558"/>
                  </a:lnTo>
                  <a:lnTo>
                    <a:pt x="12700" y="325208"/>
                  </a:lnTo>
                  <a:lnTo>
                    <a:pt x="387934" y="325208"/>
                  </a:lnTo>
                  <a:lnTo>
                    <a:pt x="387934" y="331558"/>
                  </a:lnTo>
                  <a:close/>
                </a:path>
                <a:path w="400685" h="338454">
                  <a:moveTo>
                    <a:pt x="400634" y="331558"/>
                  </a:moveTo>
                  <a:lnTo>
                    <a:pt x="387934" y="331558"/>
                  </a:lnTo>
                  <a:lnTo>
                    <a:pt x="394284" y="325208"/>
                  </a:lnTo>
                  <a:lnTo>
                    <a:pt x="400634" y="325208"/>
                  </a:lnTo>
                  <a:lnTo>
                    <a:pt x="400634" y="331558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229" name="object 17">
            <a:extLst>
              <a:ext uri="{FF2B5EF4-FFF2-40B4-BE49-F238E27FC236}">
                <a16:creationId xmlns:a16="http://schemas.microsoft.com/office/drawing/2014/main" id="{85A9E487-8227-EAAE-0EB6-167416FB37F7}"/>
              </a:ext>
            </a:extLst>
          </p:cNvPr>
          <p:cNvSpPr txBox="1"/>
          <p:nvPr/>
        </p:nvSpPr>
        <p:spPr>
          <a:xfrm>
            <a:off x="3241358" y="3096819"/>
            <a:ext cx="1066713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tabLst>
                <a:tab pos="400050" algn="l"/>
                <a:tab pos="788035" algn="l"/>
                <a:tab pos="1176020" algn="l"/>
              </a:tabLst>
            </a:pPr>
            <a:r>
              <a:rPr lang="en-US" altLang="zh-CN" sz="1800" b="0" kern="0" spc="-50" dirty="0">
                <a:solidFill>
                  <a:sysClr val="windowText" lastClr="000000"/>
                </a:solidFill>
                <a:latin typeface="Tahoma"/>
                <a:cs typeface="Tahoma"/>
              </a:rPr>
              <a:t>0</a:t>
            </a:r>
            <a:r>
              <a:rPr sz="1800" b="0" kern="0" dirty="0">
                <a:solidFill>
                  <a:sysClr val="windowText" lastClr="000000"/>
                </a:solidFill>
                <a:latin typeface="Tahoma"/>
                <a:cs typeface="Tahoma"/>
              </a:rPr>
              <a:t>	</a:t>
            </a:r>
            <a:r>
              <a:rPr lang="en-US" altLang="zh-CN" sz="1800" b="0" kern="0" spc="-50" dirty="0">
                <a:solidFill>
                  <a:sysClr val="windowText" lastClr="000000"/>
                </a:solidFill>
                <a:latin typeface="Tahoma"/>
                <a:cs typeface="Tahoma"/>
              </a:rPr>
              <a:t>1</a:t>
            </a:r>
            <a:r>
              <a:rPr sz="1800" b="0" kern="0" dirty="0">
                <a:solidFill>
                  <a:sysClr val="windowText" lastClr="000000"/>
                </a:solidFill>
                <a:latin typeface="Tahoma"/>
                <a:cs typeface="Tahoma"/>
              </a:rPr>
              <a:t>	</a:t>
            </a:r>
            <a:r>
              <a:rPr sz="1800" b="0" kern="0" spc="-50" dirty="0">
                <a:solidFill>
                  <a:sysClr val="windowText" lastClr="000000"/>
                </a:solidFill>
                <a:latin typeface="Tahoma"/>
                <a:cs typeface="Tahoma"/>
              </a:rPr>
              <a:t>0</a:t>
            </a:r>
            <a:endParaRPr sz="1800" b="0" kern="0" dirty="0">
              <a:solidFill>
                <a:sysClr val="windowText" lastClr="000000"/>
              </a:solidFill>
              <a:latin typeface="Tahoma"/>
              <a:cs typeface="Tahoma"/>
            </a:endParaRPr>
          </a:p>
        </p:txBody>
      </p:sp>
      <p:sp>
        <p:nvSpPr>
          <p:cNvPr id="4230" name="文本框 4229">
            <a:extLst>
              <a:ext uri="{FF2B5EF4-FFF2-40B4-BE49-F238E27FC236}">
                <a16:creationId xmlns:a16="http://schemas.microsoft.com/office/drawing/2014/main" id="{22253D37-4B9F-4B9A-F42E-70D9E88A3456}"/>
              </a:ext>
            </a:extLst>
          </p:cNvPr>
          <p:cNvSpPr txBox="1"/>
          <p:nvPr/>
        </p:nvSpPr>
        <p:spPr>
          <a:xfrm>
            <a:off x="1769449" y="3676962"/>
            <a:ext cx="9605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类别 </a:t>
            </a:r>
            <a:r>
              <a:rPr kumimoji="1" lang="en-US" altLang="zh-CN" dirty="0"/>
              <a:t>3</a:t>
            </a:r>
            <a:endParaRPr kumimoji="1" lang="zh-CN" altLang="en-US" dirty="0"/>
          </a:p>
        </p:txBody>
      </p:sp>
      <p:grpSp>
        <p:nvGrpSpPr>
          <p:cNvPr id="4231" name="object 38">
            <a:extLst>
              <a:ext uri="{FF2B5EF4-FFF2-40B4-BE49-F238E27FC236}">
                <a16:creationId xmlns:a16="http://schemas.microsoft.com/office/drawing/2014/main" id="{BC326505-CBB9-F05F-963D-BB312A827DF4}"/>
              </a:ext>
            </a:extLst>
          </p:cNvPr>
          <p:cNvGrpSpPr/>
          <p:nvPr/>
        </p:nvGrpSpPr>
        <p:grpSpPr>
          <a:xfrm>
            <a:off x="3131530" y="3727260"/>
            <a:ext cx="1176541" cy="338455"/>
            <a:chOff x="3774909" y="4566158"/>
            <a:chExt cx="1176541" cy="338455"/>
          </a:xfrm>
        </p:grpSpPr>
        <p:sp>
          <p:nvSpPr>
            <p:cNvPr id="4232" name="object 39">
              <a:extLst>
                <a:ext uri="{FF2B5EF4-FFF2-40B4-BE49-F238E27FC236}">
                  <a16:creationId xmlns:a16="http://schemas.microsoft.com/office/drawing/2014/main" id="{277C806E-5C04-B4FB-966B-720352E48322}"/>
                </a:ext>
              </a:extLst>
            </p:cNvPr>
            <p:cNvSpPr/>
            <p:nvPr/>
          </p:nvSpPr>
          <p:spPr>
            <a:xfrm>
              <a:off x="3781043" y="4572000"/>
              <a:ext cx="388620" cy="326390"/>
            </a:xfrm>
            <a:custGeom>
              <a:avLst/>
              <a:gdLst/>
              <a:ahLst/>
              <a:cxnLst/>
              <a:rect l="l" t="t" r="r" b="b"/>
              <a:pathLst>
                <a:path w="388620" h="326389">
                  <a:moveTo>
                    <a:pt x="388620" y="326136"/>
                  </a:moveTo>
                  <a:lnTo>
                    <a:pt x="0" y="326136"/>
                  </a:lnTo>
                  <a:lnTo>
                    <a:pt x="0" y="0"/>
                  </a:lnTo>
                  <a:lnTo>
                    <a:pt x="388620" y="0"/>
                  </a:lnTo>
                  <a:lnTo>
                    <a:pt x="388620" y="32613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233" name="object 40">
              <a:extLst>
                <a:ext uri="{FF2B5EF4-FFF2-40B4-BE49-F238E27FC236}">
                  <a16:creationId xmlns:a16="http://schemas.microsoft.com/office/drawing/2014/main" id="{81DF695D-B0C4-CA52-9DAB-C5CAD8600602}"/>
                </a:ext>
              </a:extLst>
            </p:cNvPr>
            <p:cNvSpPr/>
            <p:nvPr/>
          </p:nvSpPr>
          <p:spPr>
            <a:xfrm>
              <a:off x="3774909" y="4566158"/>
              <a:ext cx="400685" cy="338455"/>
            </a:xfrm>
            <a:custGeom>
              <a:avLst/>
              <a:gdLst/>
              <a:ahLst/>
              <a:cxnLst/>
              <a:rect l="l" t="t" r="r" b="b"/>
              <a:pathLst>
                <a:path w="400685" h="338454">
                  <a:moveTo>
                    <a:pt x="400634" y="337908"/>
                  </a:moveTo>
                  <a:lnTo>
                    <a:pt x="0" y="337908"/>
                  </a:lnTo>
                  <a:lnTo>
                    <a:pt x="0" y="0"/>
                  </a:lnTo>
                  <a:lnTo>
                    <a:pt x="400634" y="0"/>
                  </a:lnTo>
                  <a:lnTo>
                    <a:pt x="400634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325208"/>
                  </a:lnTo>
                  <a:lnTo>
                    <a:pt x="6350" y="325208"/>
                  </a:lnTo>
                  <a:lnTo>
                    <a:pt x="12700" y="331558"/>
                  </a:lnTo>
                  <a:lnTo>
                    <a:pt x="400634" y="331558"/>
                  </a:lnTo>
                  <a:lnTo>
                    <a:pt x="400634" y="337908"/>
                  </a:lnTo>
                  <a:close/>
                </a:path>
                <a:path w="400685" h="338454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400685" h="338454">
                  <a:moveTo>
                    <a:pt x="387934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387934" y="6350"/>
                  </a:lnTo>
                  <a:lnTo>
                    <a:pt x="387934" y="12700"/>
                  </a:lnTo>
                  <a:close/>
                </a:path>
                <a:path w="400685" h="338454">
                  <a:moveTo>
                    <a:pt x="387934" y="331558"/>
                  </a:moveTo>
                  <a:lnTo>
                    <a:pt x="387934" y="6350"/>
                  </a:lnTo>
                  <a:lnTo>
                    <a:pt x="394284" y="12700"/>
                  </a:lnTo>
                  <a:lnTo>
                    <a:pt x="400634" y="12700"/>
                  </a:lnTo>
                  <a:lnTo>
                    <a:pt x="400634" y="325208"/>
                  </a:lnTo>
                  <a:lnTo>
                    <a:pt x="394284" y="325208"/>
                  </a:lnTo>
                  <a:lnTo>
                    <a:pt x="387934" y="331558"/>
                  </a:lnTo>
                  <a:close/>
                </a:path>
                <a:path w="400685" h="338454">
                  <a:moveTo>
                    <a:pt x="400634" y="12700"/>
                  </a:moveTo>
                  <a:lnTo>
                    <a:pt x="394284" y="12700"/>
                  </a:lnTo>
                  <a:lnTo>
                    <a:pt x="387934" y="6350"/>
                  </a:lnTo>
                  <a:lnTo>
                    <a:pt x="400634" y="6350"/>
                  </a:lnTo>
                  <a:lnTo>
                    <a:pt x="400634" y="12700"/>
                  </a:lnTo>
                  <a:close/>
                </a:path>
                <a:path w="400685" h="338454">
                  <a:moveTo>
                    <a:pt x="12700" y="331558"/>
                  </a:moveTo>
                  <a:lnTo>
                    <a:pt x="6350" y="325208"/>
                  </a:lnTo>
                  <a:lnTo>
                    <a:pt x="12700" y="325208"/>
                  </a:lnTo>
                  <a:lnTo>
                    <a:pt x="12700" y="331558"/>
                  </a:lnTo>
                  <a:close/>
                </a:path>
                <a:path w="400685" h="338454">
                  <a:moveTo>
                    <a:pt x="387934" y="331558"/>
                  </a:moveTo>
                  <a:lnTo>
                    <a:pt x="12700" y="331558"/>
                  </a:lnTo>
                  <a:lnTo>
                    <a:pt x="12700" y="325208"/>
                  </a:lnTo>
                  <a:lnTo>
                    <a:pt x="387934" y="325208"/>
                  </a:lnTo>
                  <a:lnTo>
                    <a:pt x="387934" y="331558"/>
                  </a:lnTo>
                  <a:close/>
                </a:path>
                <a:path w="400685" h="338454">
                  <a:moveTo>
                    <a:pt x="400634" y="331558"/>
                  </a:moveTo>
                  <a:lnTo>
                    <a:pt x="387934" y="331558"/>
                  </a:lnTo>
                  <a:lnTo>
                    <a:pt x="394284" y="325208"/>
                  </a:lnTo>
                  <a:lnTo>
                    <a:pt x="400634" y="325208"/>
                  </a:lnTo>
                  <a:lnTo>
                    <a:pt x="400634" y="331558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234" name="object 41">
              <a:extLst>
                <a:ext uri="{FF2B5EF4-FFF2-40B4-BE49-F238E27FC236}">
                  <a16:creationId xmlns:a16="http://schemas.microsoft.com/office/drawing/2014/main" id="{BB305446-8FBA-D2C6-079B-DC79ABEF3984}"/>
                </a:ext>
              </a:extLst>
            </p:cNvPr>
            <p:cNvSpPr/>
            <p:nvPr/>
          </p:nvSpPr>
          <p:spPr>
            <a:xfrm>
              <a:off x="4169663" y="4572000"/>
              <a:ext cx="387350" cy="326390"/>
            </a:xfrm>
            <a:custGeom>
              <a:avLst/>
              <a:gdLst/>
              <a:ahLst/>
              <a:cxnLst/>
              <a:rect l="l" t="t" r="r" b="b"/>
              <a:pathLst>
                <a:path w="387350" h="326389">
                  <a:moveTo>
                    <a:pt x="387096" y="326136"/>
                  </a:moveTo>
                  <a:lnTo>
                    <a:pt x="0" y="326136"/>
                  </a:lnTo>
                  <a:lnTo>
                    <a:pt x="0" y="0"/>
                  </a:lnTo>
                  <a:lnTo>
                    <a:pt x="387096" y="0"/>
                  </a:lnTo>
                  <a:lnTo>
                    <a:pt x="387096" y="32613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235" name="object 42">
              <a:extLst>
                <a:ext uri="{FF2B5EF4-FFF2-40B4-BE49-F238E27FC236}">
                  <a16:creationId xmlns:a16="http://schemas.microsoft.com/office/drawing/2014/main" id="{053829B4-EF7A-E98D-CCBC-83D4E6F339FE}"/>
                </a:ext>
              </a:extLst>
            </p:cNvPr>
            <p:cNvSpPr/>
            <p:nvPr/>
          </p:nvSpPr>
          <p:spPr>
            <a:xfrm>
              <a:off x="4162844" y="4566158"/>
              <a:ext cx="400685" cy="338455"/>
            </a:xfrm>
            <a:custGeom>
              <a:avLst/>
              <a:gdLst/>
              <a:ahLst/>
              <a:cxnLst/>
              <a:rect l="l" t="t" r="r" b="b"/>
              <a:pathLst>
                <a:path w="400685" h="338454">
                  <a:moveTo>
                    <a:pt x="400621" y="337908"/>
                  </a:moveTo>
                  <a:lnTo>
                    <a:pt x="0" y="337908"/>
                  </a:lnTo>
                  <a:lnTo>
                    <a:pt x="0" y="0"/>
                  </a:lnTo>
                  <a:lnTo>
                    <a:pt x="400621" y="0"/>
                  </a:lnTo>
                  <a:lnTo>
                    <a:pt x="400621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325208"/>
                  </a:lnTo>
                  <a:lnTo>
                    <a:pt x="6350" y="325208"/>
                  </a:lnTo>
                  <a:lnTo>
                    <a:pt x="12700" y="331558"/>
                  </a:lnTo>
                  <a:lnTo>
                    <a:pt x="400621" y="331558"/>
                  </a:lnTo>
                  <a:lnTo>
                    <a:pt x="400621" y="337908"/>
                  </a:lnTo>
                  <a:close/>
                </a:path>
                <a:path w="400685" h="338454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400685" h="338454">
                  <a:moveTo>
                    <a:pt x="387921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387921" y="6350"/>
                  </a:lnTo>
                  <a:lnTo>
                    <a:pt x="387921" y="12700"/>
                  </a:lnTo>
                  <a:close/>
                </a:path>
                <a:path w="400685" h="338454">
                  <a:moveTo>
                    <a:pt x="387921" y="331558"/>
                  </a:moveTo>
                  <a:lnTo>
                    <a:pt x="387921" y="6350"/>
                  </a:lnTo>
                  <a:lnTo>
                    <a:pt x="394271" y="12700"/>
                  </a:lnTo>
                  <a:lnTo>
                    <a:pt x="400621" y="12700"/>
                  </a:lnTo>
                  <a:lnTo>
                    <a:pt x="400621" y="325208"/>
                  </a:lnTo>
                  <a:lnTo>
                    <a:pt x="394271" y="325208"/>
                  </a:lnTo>
                  <a:lnTo>
                    <a:pt x="387921" y="331558"/>
                  </a:lnTo>
                  <a:close/>
                </a:path>
                <a:path w="400685" h="338454">
                  <a:moveTo>
                    <a:pt x="400621" y="12700"/>
                  </a:moveTo>
                  <a:lnTo>
                    <a:pt x="394271" y="12700"/>
                  </a:lnTo>
                  <a:lnTo>
                    <a:pt x="387921" y="6350"/>
                  </a:lnTo>
                  <a:lnTo>
                    <a:pt x="400621" y="6350"/>
                  </a:lnTo>
                  <a:lnTo>
                    <a:pt x="400621" y="12700"/>
                  </a:lnTo>
                  <a:close/>
                </a:path>
                <a:path w="400685" h="338454">
                  <a:moveTo>
                    <a:pt x="12700" y="331558"/>
                  </a:moveTo>
                  <a:lnTo>
                    <a:pt x="6350" y="325208"/>
                  </a:lnTo>
                  <a:lnTo>
                    <a:pt x="12700" y="325208"/>
                  </a:lnTo>
                  <a:lnTo>
                    <a:pt x="12700" y="331558"/>
                  </a:lnTo>
                  <a:close/>
                </a:path>
                <a:path w="400685" h="338454">
                  <a:moveTo>
                    <a:pt x="387921" y="331558"/>
                  </a:moveTo>
                  <a:lnTo>
                    <a:pt x="12700" y="331558"/>
                  </a:lnTo>
                  <a:lnTo>
                    <a:pt x="12700" y="325208"/>
                  </a:lnTo>
                  <a:lnTo>
                    <a:pt x="387921" y="325208"/>
                  </a:lnTo>
                  <a:lnTo>
                    <a:pt x="387921" y="331558"/>
                  </a:lnTo>
                  <a:close/>
                </a:path>
                <a:path w="400685" h="338454">
                  <a:moveTo>
                    <a:pt x="400621" y="331558"/>
                  </a:moveTo>
                  <a:lnTo>
                    <a:pt x="387921" y="331558"/>
                  </a:lnTo>
                  <a:lnTo>
                    <a:pt x="394271" y="325208"/>
                  </a:lnTo>
                  <a:lnTo>
                    <a:pt x="400621" y="325208"/>
                  </a:lnTo>
                  <a:lnTo>
                    <a:pt x="400621" y="331558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236" name="object 43">
              <a:extLst>
                <a:ext uri="{FF2B5EF4-FFF2-40B4-BE49-F238E27FC236}">
                  <a16:creationId xmlns:a16="http://schemas.microsoft.com/office/drawing/2014/main" id="{66C09F32-6D83-B82D-B8C2-6062AC119374}"/>
                </a:ext>
              </a:extLst>
            </p:cNvPr>
            <p:cNvSpPr/>
            <p:nvPr/>
          </p:nvSpPr>
          <p:spPr>
            <a:xfrm>
              <a:off x="4556759" y="4572000"/>
              <a:ext cx="388620" cy="326390"/>
            </a:xfrm>
            <a:custGeom>
              <a:avLst/>
              <a:gdLst/>
              <a:ahLst/>
              <a:cxnLst/>
              <a:rect l="l" t="t" r="r" b="b"/>
              <a:pathLst>
                <a:path w="388620" h="326389">
                  <a:moveTo>
                    <a:pt x="388620" y="326136"/>
                  </a:moveTo>
                  <a:lnTo>
                    <a:pt x="0" y="326136"/>
                  </a:lnTo>
                  <a:lnTo>
                    <a:pt x="0" y="0"/>
                  </a:lnTo>
                  <a:lnTo>
                    <a:pt x="388620" y="0"/>
                  </a:lnTo>
                  <a:lnTo>
                    <a:pt x="388620" y="32613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237" name="object 44">
              <a:extLst>
                <a:ext uri="{FF2B5EF4-FFF2-40B4-BE49-F238E27FC236}">
                  <a16:creationId xmlns:a16="http://schemas.microsoft.com/office/drawing/2014/main" id="{D87BAB1A-F768-7A0E-9ABE-1582A32B846D}"/>
                </a:ext>
              </a:extLst>
            </p:cNvPr>
            <p:cNvSpPr/>
            <p:nvPr/>
          </p:nvSpPr>
          <p:spPr>
            <a:xfrm>
              <a:off x="4550765" y="4566158"/>
              <a:ext cx="400685" cy="338455"/>
            </a:xfrm>
            <a:custGeom>
              <a:avLst/>
              <a:gdLst/>
              <a:ahLst/>
              <a:cxnLst/>
              <a:rect l="l" t="t" r="r" b="b"/>
              <a:pathLst>
                <a:path w="400685" h="338454">
                  <a:moveTo>
                    <a:pt x="400634" y="337908"/>
                  </a:moveTo>
                  <a:lnTo>
                    <a:pt x="0" y="337908"/>
                  </a:lnTo>
                  <a:lnTo>
                    <a:pt x="0" y="0"/>
                  </a:lnTo>
                  <a:lnTo>
                    <a:pt x="400634" y="0"/>
                  </a:lnTo>
                  <a:lnTo>
                    <a:pt x="400634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325208"/>
                  </a:lnTo>
                  <a:lnTo>
                    <a:pt x="6350" y="325208"/>
                  </a:lnTo>
                  <a:lnTo>
                    <a:pt x="12700" y="331558"/>
                  </a:lnTo>
                  <a:lnTo>
                    <a:pt x="400634" y="331558"/>
                  </a:lnTo>
                  <a:lnTo>
                    <a:pt x="400634" y="337908"/>
                  </a:lnTo>
                  <a:close/>
                </a:path>
                <a:path w="400685" h="338454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400685" h="338454">
                  <a:moveTo>
                    <a:pt x="387934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387934" y="6350"/>
                  </a:lnTo>
                  <a:lnTo>
                    <a:pt x="387934" y="12700"/>
                  </a:lnTo>
                  <a:close/>
                </a:path>
                <a:path w="400685" h="338454">
                  <a:moveTo>
                    <a:pt x="387934" y="331558"/>
                  </a:moveTo>
                  <a:lnTo>
                    <a:pt x="387934" y="6350"/>
                  </a:lnTo>
                  <a:lnTo>
                    <a:pt x="394284" y="12700"/>
                  </a:lnTo>
                  <a:lnTo>
                    <a:pt x="400634" y="12700"/>
                  </a:lnTo>
                  <a:lnTo>
                    <a:pt x="400634" y="325208"/>
                  </a:lnTo>
                  <a:lnTo>
                    <a:pt x="394284" y="325208"/>
                  </a:lnTo>
                  <a:lnTo>
                    <a:pt x="387934" y="331558"/>
                  </a:lnTo>
                  <a:close/>
                </a:path>
                <a:path w="400685" h="338454">
                  <a:moveTo>
                    <a:pt x="400634" y="12700"/>
                  </a:moveTo>
                  <a:lnTo>
                    <a:pt x="394284" y="12700"/>
                  </a:lnTo>
                  <a:lnTo>
                    <a:pt x="387934" y="6350"/>
                  </a:lnTo>
                  <a:lnTo>
                    <a:pt x="400634" y="6350"/>
                  </a:lnTo>
                  <a:lnTo>
                    <a:pt x="400634" y="12700"/>
                  </a:lnTo>
                  <a:close/>
                </a:path>
                <a:path w="400685" h="338454">
                  <a:moveTo>
                    <a:pt x="12700" y="331558"/>
                  </a:moveTo>
                  <a:lnTo>
                    <a:pt x="6350" y="325208"/>
                  </a:lnTo>
                  <a:lnTo>
                    <a:pt x="12700" y="325208"/>
                  </a:lnTo>
                  <a:lnTo>
                    <a:pt x="12700" y="331558"/>
                  </a:lnTo>
                  <a:close/>
                </a:path>
                <a:path w="400685" h="338454">
                  <a:moveTo>
                    <a:pt x="387934" y="331558"/>
                  </a:moveTo>
                  <a:lnTo>
                    <a:pt x="12700" y="331558"/>
                  </a:lnTo>
                  <a:lnTo>
                    <a:pt x="12700" y="325208"/>
                  </a:lnTo>
                  <a:lnTo>
                    <a:pt x="387934" y="325208"/>
                  </a:lnTo>
                  <a:lnTo>
                    <a:pt x="387934" y="331558"/>
                  </a:lnTo>
                  <a:close/>
                </a:path>
                <a:path w="400685" h="338454">
                  <a:moveTo>
                    <a:pt x="400634" y="331558"/>
                  </a:moveTo>
                  <a:lnTo>
                    <a:pt x="387934" y="331558"/>
                  </a:lnTo>
                  <a:lnTo>
                    <a:pt x="394284" y="325208"/>
                  </a:lnTo>
                  <a:lnTo>
                    <a:pt x="400634" y="325208"/>
                  </a:lnTo>
                  <a:lnTo>
                    <a:pt x="400634" y="331558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238" name="object 17">
            <a:extLst>
              <a:ext uri="{FF2B5EF4-FFF2-40B4-BE49-F238E27FC236}">
                <a16:creationId xmlns:a16="http://schemas.microsoft.com/office/drawing/2014/main" id="{91586AD5-53C6-CB54-6087-65605D499A11}"/>
              </a:ext>
            </a:extLst>
          </p:cNvPr>
          <p:cNvSpPr txBox="1"/>
          <p:nvPr/>
        </p:nvSpPr>
        <p:spPr>
          <a:xfrm>
            <a:off x="3235287" y="3733534"/>
            <a:ext cx="1066713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tabLst>
                <a:tab pos="400050" algn="l"/>
                <a:tab pos="788035" algn="l"/>
                <a:tab pos="1176020" algn="l"/>
              </a:tabLst>
            </a:pPr>
            <a:r>
              <a:rPr lang="en-US" altLang="zh-CN" sz="1800" b="0" kern="0" spc="-50" dirty="0">
                <a:solidFill>
                  <a:sysClr val="windowText" lastClr="000000"/>
                </a:solidFill>
                <a:latin typeface="Tahoma"/>
                <a:cs typeface="Tahoma"/>
              </a:rPr>
              <a:t>0</a:t>
            </a:r>
            <a:r>
              <a:rPr sz="1800" b="0" kern="0" dirty="0">
                <a:solidFill>
                  <a:sysClr val="windowText" lastClr="000000"/>
                </a:solidFill>
                <a:latin typeface="Tahoma"/>
                <a:cs typeface="Tahoma"/>
              </a:rPr>
              <a:t>	</a:t>
            </a:r>
            <a:r>
              <a:rPr sz="1800" b="0" kern="0" spc="-50" dirty="0">
                <a:solidFill>
                  <a:sysClr val="windowText" lastClr="000000"/>
                </a:solidFill>
                <a:latin typeface="Tahoma"/>
                <a:cs typeface="Tahoma"/>
              </a:rPr>
              <a:t>0</a:t>
            </a:r>
            <a:r>
              <a:rPr sz="1800" b="0" kern="0" dirty="0">
                <a:solidFill>
                  <a:sysClr val="windowText" lastClr="000000"/>
                </a:solidFill>
                <a:latin typeface="Tahoma"/>
                <a:cs typeface="Tahoma"/>
              </a:rPr>
              <a:t>	</a:t>
            </a:r>
            <a:r>
              <a:rPr lang="en-US" altLang="zh-CN" sz="1800" b="0" kern="0" spc="-50" dirty="0">
                <a:solidFill>
                  <a:sysClr val="windowText" lastClr="000000"/>
                </a:solidFill>
                <a:latin typeface="Tahoma"/>
                <a:cs typeface="Tahoma"/>
              </a:rPr>
              <a:t>1</a:t>
            </a:r>
            <a:endParaRPr sz="1800" b="0" kern="0" dirty="0">
              <a:solidFill>
                <a:sysClr val="windowText" lastClr="000000"/>
              </a:solidFill>
              <a:latin typeface="Tahoma"/>
              <a:cs typeface="Tahoma"/>
            </a:endParaRPr>
          </a:p>
        </p:txBody>
      </p:sp>
      <p:sp>
        <p:nvSpPr>
          <p:cNvPr id="4239" name="文本框 4238">
            <a:extLst>
              <a:ext uri="{FF2B5EF4-FFF2-40B4-BE49-F238E27FC236}">
                <a16:creationId xmlns:a16="http://schemas.microsoft.com/office/drawing/2014/main" id="{D793D4E7-E61F-FAAA-0F81-416B6A8AD83F}"/>
              </a:ext>
            </a:extLst>
          </p:cNvPr>
          <p:cNvSpPr txBox="1"/>
          <p:nvPr/>
        </p:nvSpPr>
        <p:spPr>
          <a:xfrm>
            <a:off x="5303912" y="3047927"/>
            <a:ext cx="56188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N </a:t>
            </a:r>
            <a:r>
              <a:rPr kumimoji="1" lang="zh-CN" altLang="en-US" dirty="0"/>
              <a:t>位长的</a:t>
            </a:r>
            <a:r>
              <a:rPr kumimoji="1" lang="en-US" altLang="zh-CN" dirty="0"/>
              <a:t> One-hot </a:t>
            </a:r>
            <a:r>
              <a:rPr kumimoji="1" lang="zh-CN" altLang="en-US" dirty="0"/>
              <a:t>编码可以表示</a:t>
            </a:r>
            <a:r>
              <a:rPr kumimoji="1" lang="en-US" altLang="zh-CN" dirty="0"/>
              <a:t> N </a:t>
            </a:r>
            <a:r>
              <a:rPr kumimoji="1" lang="zh-CN" altLang="en-US" dirty="0"/>
              <a:t>个不同类别</a:t>
            </a:r>
          </a:p>
        </p:txBody>
      </p:sp>
      <p:sp>
        <p:nvSpPr>
          <p:cNvPr id="4241" name="文本框 4240">
            <a:extLst>
              <a:ext uri="{FF2B5EF4-FFF2-40B4-BE49-F238E27FC236}">
                <a16:creationId xmlns:a16="http://schemas.microsoft.com/office/drawing/2014/main" id="{6E10444B-1932-3AEE-2C4B-89F58F920920}"/>
              </a:ext>
            </a:extLst>
          </p:cNvPr>
          <p:cNvSpPr txBox="1"/>
          <p:nvPr/>
        </p:nvSpPr>
        <p:spPr>
          <a:xfrm>
            <a:off x="839416" y="1279277"/>
            <a:ext cx="67730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One-hot 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编码是一种将分类变量转换为二进制向量的方法</a:t>
            </a:r>
          </a:p>
        </p:txBody>
      </p:sp>
      <p:sp>
        <p:nvSpPr>
          <p:cNvPr id="4243" name="文本框 4242">
            <a:extLst>
              <a:ext uri="{FF2B5EF4-FFF2-40B4-BE49-F238E27FC236}">
                <a16:creationId xmlns:a16="http://schemas.microsoft.com/office/drawing/2014/main" id="{7418A2B0-A857-355E-459D-1AAB66CF7780}"/>
              </a:ext>
            </a:extLst>
          </p:cNvPr>
          <p:cNvSpPr txBox="1"/>
          <p:nvPr/>
        </p:nvSpPr>
        <p:spPr>
          <a:xfrm>
            <a:off x="479376" y="4636787"/>
            <a:ext cx="115451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每个向量中只有一个位置是 </a:t>
            </a:r>
            <a:r>
              <a:rPr kumimoji="1" lang="en-US" altLang="zh-CN" dirty="0"/>
              <a:t>1 </a:t>
            </a:r>
            <a:r>
              <a:rPr kumimoji="1" lang="zh-CN" altLang="en-US" dirty="0"/>
              <a:t>，其余都是 </a:t>
            </a:r>
            <a:r>
              <a:rPr kumimoji="1" lang="en-US" altLang="zh-CN" dirty="0"/>
              <a:t>0</a:t>
            </a:r>
          </a:p>
          <a:p>
            <a:r>
              <a:rPr kumimoji="1" lang="zh-CN" altLang="en-US" dirty="0"/>
              <a:t>这代表了一个“独热”状态 </a:t>
            </a:r>
            <a:r>
              <a:rPr kumimoji="1" lang="en-US" altLang="zh-CN" dirty="0"/>
              <a:t>—— </a:t>
            </a:r>
            <a:r>
              <a:rPr kumimoji="1" lang="zh-CN" altLang="en-US" dirty="0"/>
              <a:t>只有一个神经元被激活（值为 </a:t>
            </a:r>
            <a:r>
              <a:rPr kumimoji="1" lang="en-US" altLang="zh-CN" dirty="0"/>
              <a:t>1</a:t>
            </a:r>
            <a:r>
              <a:rPr kumimoji="1" lang="zh-CN" altLang="en-US" dirty="0"/>
              <a:t>），其他都为抑制状态（值为 </a:t>
            </a:r>
            <a:r>
              <a:rPr kumimoji="1" lang="en-US" altLang="zh-CN" dirty="0"/>
              <a:t>0</a:t>
            </a:r>
            <a:r>
              <a:rPr kumimoji="1"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319596945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B096ED37-C727-435A-A8F0-9688F668DB42}"/>
              </a:ext>
            </a:extLst>
          </p:cNvPr>
          <p:cNvSpPr txBox="1"/>
          <p:nvPr/>
        </p:nvSpPr>
        <p:spPr>
          <a:xfrm>
            <a:off x="479376" y="222417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24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100" name="Picture 4" descr="https://timgsa.baidu.com/timg?image&amp;quality=80&amp;size=b9999_10000&amp;sec=1605069944532&amp;di=fadb1258c81e7ea265d2bcbdc8fcc0c7&amp;imgtype=0&amp;src=http%3A%2F%2Fi.cqnews.net%2Fcqtoday%2Fattachement%2Fjpg%2Fsite82%2F20130227%2F002564c0b87d1297a69a4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38100" cy="7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28CFFBE9-913D-4462-B6EB-5BFEF7CDBC93}"/>
              </a:ext>
            </a:extLst>
          </p:cNvPr>
          <p:cNvSpPr/>
          <p:nvPr/>
        </p:nvSpPr>
        <p:spPr>
          <a:xfrm>
            <a:off x="551384" y="764704"/>
            <a:ext cx="1006638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FF0000"/>
              </a:buClr>
              <a:buSzPct val="100000"/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激活函数</a:t>
            </a:r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7F8420C-674E-0ED9-8F15-60008F646ED3}"/>
              </a:ext>
            </a:extLst>
          </p:cNvPr>
          <p:cNvSpPr txBox="1"/>
          <p:nvPr/>
        </p:nvSpPr>
        <p:spPr>
          <a:xfrm>
            <a:off x="479376" y="22241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逻辑回归</a:t>
            </a:r>
            <a:endParaRPr lang="zh-CN" altLang="en-US" sz="24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159163C-A3A3-00FB-96FA-8BE3782C53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975" y="2276872"/>
            <a:ext cx="6384032" cy="2742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015A367F-4C8A-422B-5555-281DAF7E3821}"/>
              </a:ext>
            </a:extLst>
          </p:cNvPr>
          <p:cNvSpPr txBox="1"/>
          <p:nvPr/>
        </p:nvSpPr>
        <p:spPr>
          <a:xfrm>
            <a:off x="839416" y="1377059"/>
            <a:ext cx="79528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altLang="zh-CN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函数将输入值映射为</a:t>
            </a:r>
            <a:r>
              <a:rPr lang="en-US" altLang="zh-CN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0-1</a:t>
            </a:r>
            <a:r>
              <a:rPr lang="zh-CN" altLang="en-US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之间的概率实数，适用于多分类任务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9874734-66A6-7466-57D9-13AF06A2A1F9}"/>
                  </a:ext>
                </a:extLst>
              </p:cNvPr>
              <p:cNvSpPr txBox="1"/>
              <p:nvPr/>
            </p:nvSpPr>
            <p:spPr>
              <a:xfrm>
                <a:off x="7464152" y="2276872"/>
                <a:ext cx="4176464" cy="28368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dirty="0"/>
                  <a:t>例子</a:t>
                </a:r>
                <a:endParaRPr kumimoji="1" lang="en-US" altLang="zh-CN" dirty="0"/>
              </a:p>
              <a:p>
                <a:endParaRPr kumimoji="1" lang="en-US" altLang="zh-CN" dirty="0"/>
              </a:p>
              <a:p>
                <a:r>
                  <a:rPr lang="zh-CN" altLang="en-US" sz="20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输出层输出结果：</a:t>
                </a:r>
                <a:endParaRPr lang="en-US" altLang="zh-CN" sz="20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&amp;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𝐙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⋅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𝐖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𝐛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𝟐</m:t>
                              </m:r>
                            </m:sub>
                          </m:sSub>
                        </m: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&amp;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𝜎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𝐙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)</m:t>
                          </m:r>
                        </m:e>
                      </m:eqArr>
                    </m:oMath>
                  </m:oMathPara>
                </a14:m>
                <a:endParaRPr lang="en-US" altLang="zh-CN" sz="20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  <a:p>
                <a:endParaRPr lang="en-US" altLang="zh-CN" sz="20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  <a:p>
                <a:r>
                  <a:rPr lang="zh-CN" altLang="en-US" dirty="0">
                    <a:latin typeface="Times New Roman" panose="02020603050405020304" pitchFamily="18" charset="0"/>
                    <a:cs typeface="宋体" panose="02010600030101010101" pitchFamily="2" charset="-122"/>
                  </a:rPr>
                  <a:t>其中，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𝐙</m:t>
                        </m:r>
                      </m:e>
                      <m:sub>
                        <m:r>
                          <a:rPr lang="en-US" altLang="zh-CN" sz="2000" b="1" i="1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𝟐</m:t>
                        </m:r>
                      </m:sub>
                    </m:sSub>
                    <m:r>
                      <a:rPr lang="en-US" altLang="zh-CN" sz="2000" b="1" i="1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=[</m:t>
                    </m:r>
                    <m:r>
                      <a:rPr lang="en-US" altLang="zh-CN" sz="2000" b="1" i="1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𝟐</m:t>
                    </m:r>
                    <m:r>
                      <a:rPr lang="en-US" altLang="zh-CN" sz="2000" b="1" i="1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.</m:t>
                    </m:r>
                    <m:r>
                      <a:rPr lang="en-US" altLang="zh-CN" sz="2000" b="1" i="1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𝟎</m:t>
                    </m:r>
                    <m:r>
                      <a:rPr lang="en-US" altLang="zh-CN" sz="2000" b="1" i="1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, </m:t>
                    </m:r>
                    <m:r>
                      <a:rPr lang="en-US" altLang="zh-CN" sz="2000" b="1" i="1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𝟏</m:t>
                    </m:r>
                    <m:r>
                      <a:rPr lang="en-US" altLang="zh-CN" sz="2000" b="1" i="1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.</m:t>
                    </m:r>
                    <m:r>
                      <a:rPr lang="en-US" altLang="zh-CN" sz="2000" b="1" i="1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𝟎</m:t>
                    </m:r>
                    <m:r>
                      <a:rPr lang="en-US" altLang="zh-CN" sz="2000" b="1" i="1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, </m:t>
                    </m:r>
                    <m:r>
                      <a:rPr lang="en-US" altLang="zh-CN" sz="2000" b="1" i="1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𝟎</m:t>
                    </m:r>
                    <m:r>
                      <a:rPr lang="en-US" altLang="zh-CN" sz="2000" b="1" i="1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.</m:t>
                    </m:r>
                    <m:r>
                      <a:rPr lang="en-US" altLang="zh-CN" sz="2000" b="1" i="1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𝟏</m:t>
                    </m:r>
                    <m:r>
                      <a:rPr lang="en-US" altLang="zh-CN" sz="2000" b="1" i="1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]</m:t>
                    </m:r>
                  </m:oMath>
                </a14:m>
                <a:endParaRPr lang="en-US" altLang="zh-CN" sz="20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  <a:p>
                <a:r>
                  <a:rPr lang="zh-CN" altLang="en-US" sz="20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则</a:t>
                </a:r>
                <a:r>
                  <a:rPr lang="zh-CN" altLang="en-US" dirty="0">
                    <a:latin typeface="Times New Roman" panose="02020603050405020304" pitchFamily="18" charset="0"/>
                    <a:cs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𝐀</m:t>
                        </m:r>
                      </m:e>
                      <m:sub>
                        <m:r>
                          <a:rPr lang="en-US" altLang="zh-CN" sz="2000" b="1" i="1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𝟐</m:t>
                        </m:r>
                      </m:sub>
                    </m:sSub>
                    <m:r>
                      <a:rPr lang="en-US" altLang="zh-CN" sz="2000" b="1" i="1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宋体" panose="02010600030101010101" pitchFamily="2" charset="-122"/>
                      </a:rPr>
                      <m:t>[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cs typeface="宋体" panose="02010600030101010101" pitchFamily="2" charset="-122"/>
                      </a:rPr>
                      <m:t>𝟎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cs typeface="宋体" panose="02010600030101010101" pitchFamily="2" charset="-122"/>
                      </a:rPr>
                      <m:t>.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cs typeface="宋体" panose="02010600030101010101" pitchFamily="2" charset="-122"/>
                      </a:rPr>
                      <m:t>𝟕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cs typeface="宋体" panose="02010600030101010101" pitchFamily="2" charset="-122"/>
                      </a:rPr>
                      <m:t>, 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cs typeface="宋体" panose="02010600030101010101" pitchFamily="2" charset="-122"/>
                      </a:rPr>
                      <m:t>𝟎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cs typeface="宋体" panose="02010600030101010101" pitchFamily="2" charset="-122"/>
                      </a:rPr>
                      <m:t>.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cs typeface="宋体" panose="02010600030101010101" pitchFamily="2" charset="-122"/>
                      </a:rPr>
                      <m:t>𝟐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cs typeface="宋体" panose="02010600030101010101" pitchFamily="2" charset="-122"/>
                      </a:rPr>
                      <m:t>, 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cs typeface="宋体" panose="02010600030101010101" pitchFamily="2" charset="-122"/>
                      </a:rPr>
                      <m:t>𝟎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cs typeface="宋体" panose="02010600030101010101" pitchFamily="2" charset="-122"/>
                      </a:rPr>
                      <m:t>.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cs typeface="宋体" panose="02010600030101010101" pitchFamily="2" charset="-122"/>
                      </a:rPr>
                      <m:t>𝟏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cs typeface="宋体" panose="02010600030101010101" pitchFamily="2" charset="-122"/>
                      </a:rPr>
                      <m:t>]</m:t>
                    </m:r>
                  </m:oMath>
                </a14:m>
                <a:endParaRPr lang="en-US" altLang="zh-CN" sz="20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  <a:p>
                <a:r>
                  <a:rPr lang="zh-CN" altLang="en-US" sz="20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其中 </a:t>
                </a:r>
                <a:r>
                  <a:rPr lang="en-US" altLang="zh-CN" sz="20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0.7</a:t>
                </a:r>
                <a:r>
                  <a:rPr lang="zh-CN" altLang="en-US" sz="20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最大，所以结果为 </a:t>
                </a:r>
                <a:r>
                  <a:rPr lang="zh-CN" altLang="en-US" sz="20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类别 </a:t>
                </a:r>
                <a:r>
                  <a:rPr lang="en-US" altLang="zh-CN" sz="20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1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9874734-66A6-7466-57D9-13AF06A2A1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4152" y="2276872"/>
                <a:ext cx="4176464" cy="2836802"/>
              </a:xfrm>
              <a:prstGeom prst="rect">
                <a:avLst/>
              </a:prstGeom>
              <a:blipFill>
                <a:blip r:embed="rId5"/>
                <a:stretch>
                  <a:fillRect l="-1515" t="-1339" b="-26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311490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https://timgsa.baidu.com/timg?image&amp;quality=80&amp;size=b9999_10000&amp;sec=1605069944532&amp;di=fadb1258c81e7ea265d2bcbdc8fcc0c7&amp;imgtype=0&amp;src=http%3A%2F%2Fi.cqnews.net%2Fcqtoday%2Fattachement%2Fjpg%2Fsite82%2F20130227%2F002564c0b87d1297a69a4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38100" cy="7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28CFFBE9-913D-4462-B6EB-5BFEF7CDBC93}"/>
              </a:ext>
            </a:extLst>
          </p:cNvPr>
          <p:cNvSpPr/>
          <p:nvPr/>
        </p:nvSpPr>
        <p:spPr>
          <a:xfrm>
            <a:off x="551384" y="764704"/>
            <a:ext cx="1006638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FF0000"/>
              </a:buClr>
              <a:buSzPct val="100000"/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交叉熵损失函数</a:t>
            </a:r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63BAD464-D731-C70C-2AEE-DA30DF693928}"/>
              </a:ext>
            </a:extLst>
          </p:cNvPr>
          <p:cNvSpPr txBox="1"/>
          <p:nvPr/>
        </p:nvSpPr>
        <p:spPr>
          <a:xfrm>
            <a:off x="479376" y="22241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逻辑回归</a:t>
            </a:r>
            <a:endParaRPr lang="zh-CN" altLang="en-US" sz="24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2F82DFC-5B9A-01DA-ED2A-1EBD7BDD2D8E}"/>
                  </a:ext>
                </a:extLst>
              </p:cNvPr>
              <p:cNvSpPr txBox="1"/>
              <p:nvPr/>
            </p:nvSpPr>
            <p:spPr>
              <a:xfrm>
                <a:off x="839416" y="1772816"/>
                <a:ext cx="8568952" cy="18668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zh-CN" altLang="en-US" dirty="0"/>
                  <a:t>针对多分类任务</a:t>
                </a:r>
                <a:r>
                  <a:rPr kumimoji="1" lang="en-US" altLang="zh-CN" dirty="0"/>
                  <a:t>: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CN" altLang="en-US" dirty="0"/>
                  <a:t>输入样本有 </a:t>
                </a:r>
                <a:r>
                  <a:rPr kumimoji="1" lang="en-US" altLang="zh-CN" dirty="0"/>
                  <a:t>C</a:t>
                </a:r>
                <a:r>
                  <a:rPr kumimoji="1" lang="zh-CN" altLang="en-US" dirty="0"/>
                  <a:t> 个类别</a:t>
                </a:r>
                <a:endParaRPr kumimoji="1" lang="en-US" altLang="zh-CN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CN" altLang="en-US" dirty="0"/>
                  <a:t>神经网络输出是一个概率分布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zh-CN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800" b="1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𝐲</m:t>
                        </m:r>
                      </m:e>
                    </m:acc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=[</m:t>
                    </m:r>
                    <m:sSub>
                      <m:sSubPr>
                        <m:ctrlPr>
                          <a:rPr lang="zh-CN" altLang="zh-CN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zh-CN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宋体" panose="02010600030101010101" pitchFamily="2" charset="-122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,</m:t>
                    </m:r>
                    <m:sSub>
                      <m:sSubPr>
                        <m:ctrlPr>
                          <a:rPr lang="zh-CN" altLang="zh-CN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zh-CN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宋体" panose="02010600030101010101" pitchFamily="2" charset="-122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,...,</m:t>
                    </m:r>
                    <m:sSub>
                      <m:sSubPr>
                        <m:ctrlPr>
                          <a:rPr lang="zh-CN" altLang="zh-CN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zh-CN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宋体" panose="02010600030101010101" pitchFamily="2" charset="-122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𝐶</m:t>
                        </m:r>
                      </m:sub>
                    </m:sSub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]</m:t>
                    </m:r>
                  </m:oMath>
                </a14:m>
                <a:endParaRPr kumimoji="1" lang="en-US" altLang="zh-CN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CN" altLang="en-US" dirty="0"/>
                  <a:t>真实标签是 </a:t>
                </a:r>
                <a:r>
                  <a:rPr kumimoji="1" lang="en-US" altLang="zh-CN" dirty="0"/>
                  <a:t>One-hot </a:t>
                </a:r>
                <a:r>
                  <a:rPr kumimoji="1" lang="zh-CN" altLang="en-US" dirty="0"/>
                  <a:t>向量 </a:t>
                </a:r>
                <a14:m>
                  <m:oMath xmlns:m="http://schemas.openxmlformats.org/officeDocument/2006/math">
                    <m:r>
                      <a:rPr lang="en-US" altLang="zh-CN" sz="1800" b="1" i="1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𝐲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=[</m:t>
                    </m:r>
                    <m:sSub>
                      <m:sSubPr>
                        <m:ctrlPr>
                          <a:rPr lang="zh-CN" altLang="zh-CN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𝑦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,</m:t>
                    </m:r>
                    <m:sSub>
                      <m:sSubPr>
                        <m:ctrlPr>
                          <a:rPr lang="zh-CN" altLang="zh-CN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𝑦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,...,</m:t>
                    </m:r>
                    <m:sSub>
                      <m:sSubPr>
                        <m:ctrlPr>
                          <a:rPr lang="zh-CN" altLang="zh-CN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𝑦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𝐶</m:t>
                        </m:r>
                      </m:sub>
                    </m:sSub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]</m:t>
                    </m:r>
                  </m:oMath>
                </a14:m>
                <a:r>
                  <a:rPr kumimoji="1" lang="zh-CN" altLang="en-US" dirty="0"/>
                  <a:t>，其中</a:t>
                </a:r>
                <a:r>
                  <a:rPr kumimoji="1"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宋体" panose="02010600030101010101" pitchFamily="2" charset="-122"/>
                          </a:rPr>
                          <m:t>𝑦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  <a:cs typeface="宋体" panose="02010600030101010101" pitchFamily="2" charset="-122"/>
                          </a:rPr>
                          <m:t>i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  <a:cs typeface="宋体" panose="02010600030101010101" pitchFamily="2" charset="-122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宋体" panose="02010600030101010101" pitchFamily="2" charset="-122"/>
                      </a:rPr>
                      <m:t>0</m:t>
                    </m:r>
                    <m:r>
                      <a:rPr lang="zh-CN" altLang="en-US" b="1" i="1" smtClean="0">
                        <a:latin typeface="Cambria Math" panose="02040503050406030204" pitchFamily="18" charset="0"/>
                        <a:cs typeface="宋体" panose="02010600030101010101" pitchFamily="2" charset="-122"/>
                      </a:rPr>
                      <m:t> </m:t>
                    </m:r>
                    <m:r>
                      <a:rPr lang="zh-CN" altLang="en-US" i="1">
                        <a:latin typeface="Cambria Math" panose="02040503050406030204" pitchFamily="18" charset="0"/>
                        <a:cs typeface="宋体" panose="02010600030101010101" pitchFamily="2" charset="-122"/>
                      </a:rPr>
                      <m:t>或</m:t>
                    </m:r>
                    <m:r>
                      <a:rPr lang="zh-CN" altLang="en-US" i="1" smtClean="0">
                        <a:latin typeface="Cambria Math" panose="02040503050406030204" pitchFamily="18" charset="0"/>
                        <a:cs typeface="宋体" panose="02010600030101010101" pitchFamily="2" charset="-122"/>
                      </a:rPr>
                      <m:t> 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cs typeface="宋体" panose="02010600030101010101" pitchFamily="2" charset="-122"/>
                      </a:rPr>
                      <m:t>1</m:t>
                    </m:r>
                  </m:oMath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2F82DFC-5B9A-01DA-ED2A-1EBD7BDD2D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416" y="1772816"/>
                <a:ext cx="8568952" cy="1866858"/>
              </a:xfrm>
              <a:prstGeom prst="rect">
                <a:avLst/>
              </a:prstGeom>
              <a:blipFill>
                <a:blip r:embed="rId4"/>
                <a:stretch>
                  <a:fillRect l="-889" b="-47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09E6F60-0F63-6C16-3171-A8D75B66E537}"/>
                  </a:ext>
                </a:extLst>
              </p:cNvPr>
              <p:cNvSpPr txBox="1"/>
              <p:nvPr/>
            </p:nvSpPr>
            <p:spPr>
              <a:xfrm>
                <a:off x="839416" y="3716761"/>
                <a:ext cx="6877011" cy="15535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ea typeface="Cambria Math" panose="02040503050406030204" pitchFamily="18" charset="0"/>
                  </a:rPr>
                  <a:t>那么交叉熵损失函数表达式为：</a:t>
                </a:r>
                <a:endParaRPr lang="en-US" altLang="zh-CN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ea typeface="Cambria Math" panose="02040503050406030204" pitchFamily="18" charset="0"/>
                  </a:rPr>
                  <a:t>单个样本：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ℒ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𝑖</m:t>
                        </m:r>
                      </m:sub>
                    </m:sSub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=−</m:t>
                    </m:r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zh-CN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𝑐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𝐶</m:t>
                        </m:r>
                      </m:sup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 </m:t>
                        </m:r>
                      </m:e>
                    </m:nary>
                    <m:sSub>
                      <m:sSubPr>
                        <m:ctrlPr>
                          <a:rPr lang="zh-CN" altLang="zh-CN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𝑦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𝑖𝑐</m:t>
                        </m:r>
                      </m:sub>
                    </m:sSub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⋅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log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⁡(</m:t>
                    </m:r>
                    <m:sSub>
                      <m:sSubPr>
                        <m:ctrlPr>
                          <a:rPr lang="zh-CN" altLang="zh-CN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zh-CN" sz="20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宋体" panose="02010600030101010101" pitchFamily="2" charset="-122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𝑖𝑐</m:t>
                        </m:r>
                      </m:sub>
                    </m:sSub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)</m:t>
                    </m:r>
                  </m:oMath>
                </a14:m>
                <a:r>
                  <a:rPr kumimoji="1" lang="zh-CN" altLang="en-US" dirty="0"/>
                  <a:t>，其中</a:t>
                </a:r>
                <a:r>
                  <a:rPr kumimoji="1" lang="en-US" altLang="zh-CN" dirty="0"/>
                  <a:t> </a:t>
                </a:r>
                <a:r>
                  <a:rPr kumimoji="1" lang="en-US" altLang="zh-CN" dirty="0" err="1"/>
                  <a:t>i</a:t>
                </a:r>
                <a:r>
                  <a:rPr kumimoji="1" lang="en-US" altLang="zh-CN" dirty="0"/>
                  <a:t> </a:t>
                </a:r>
                <a:r>
                  <a:rPr kumimoji="1" lang="zh-CN" altLang="en-US" dirty="0"/>
                  <a:t>表示第</a:t>
                </a:r>
                <a:r>
                  <a:rPr kumimoji="1" lang="en-US" altLang="zh-CN" dirty="0" err="1"/>
                  <a:t>i</a:t>
                </a:r>
                <a:r>
                  <a:rPr kumimoji="1" lang="zh-CN" altLang="en-US" dirty="0"/>
                  <a:t>个样本</a:t>
                </a:r>
                <a:endParaRPr kumimoji="1"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kumimoji="1" lang="zh-CN" altLang="en-US" dirty="0"/>
                  <a:t>总体：</a:t>
                </a:r>
                <a:r>
                  <a:rPr lang="en-US" altLang="zh-CN" sz="1800" dirty="0">
                    <a:effectLst/>
                    <a:ea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ℒ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=−</m:t>
                    </m:r>
                    <m:f>
                      <m:f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fPr>
                      <m:num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naryPr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𝑖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𝑁</m:t>
                        </m:r>
                      </m:sup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 </m:t>
                        </m:r>
                      </m:e>
                    </m:nary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naryPr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𝑐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𝐶</m:t>
                        </m:r>
                      </m:sup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 </m:t>
                        </m:r>
                      </m:e>
                    </m:nary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𝑦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𝑖𝑐</m:t>
                        </m:r>
                      </m:sub>
                    </m:sSub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⋅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log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⁡(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zh-CN" sz="18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宋体" panose="0201060003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宋体" panose="02010600030101010101" pitchFamily="2" charset="-122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𝑖𝑐</m:t>
                        </m:r>
                      </m:sub>
                    </m:sSub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)</m:t>
                    </m:r>
                  </m:oMath>
                </a14:m>
                <a:endParaRPr lang="zh-CN" altLang="zh-CN" sz="18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09E6F60-0F63-6C16-3171-A8D75B66E5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416" y="3716761"/>
                <a:ext cx="6877011" cy="1553502"/>
              </a:xfrm>
              <a:prstGeom prst="rect">
                <a:avLst/>
              </a:prstGeom>
              <a:blipFill>
                <a:blip r:embed="rId5"/>
                <a:stretch>
                  <a:fillRect l="-1107" b="-354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7454744A-5BDF-573E-CA8A-A4CB5AB28CEB}"/>
              </a:ext>
            </a:extLst>
          </p:cNvPr>
          <p:cNvSpPr txBox="1"/>
          <p:nvPr/>
        </p:nvSpPr>
        <p:spPr>
          <a:xfrm>
            <a:off x="2328717" y="5589240"/>
            <a:ext cx="65117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loss = -</a:t>
            </a:r>
            <a:r>
              <a:rPr kumimoji="1" lang="en-US" altLang="zh-CN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np.mean</a:t>
            </a:r>
            <a:r>
              <a:rPr kumimoji="1" lang="en-US" altLang="zh-C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np.sum</a:t>
            </a:r>
            <a:r>
              <a:rPr kumimoji="1" lang="en-US" altLang="zh-C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(y * </a:t>
            </a:r>
            <a:r>
              <a:rPr kumimoji="1" lang="en-US" altLang="zh-CN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np.log</a:t>
            </a:r>
            <a:r>
              <a:rPr kumimoji="1" lang="en-US" altLang="zh-C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(self.a2 + 1e-9), axis=1))</a:t>
            </a:r>
          </a:p>
        </p:txBody>
      </p:sp>
    </p:spTree>
    <p:extLst>
      <p:ext uri="{BB962C8B-B14F-4D97-AF65-F5344CB8AC3E}">
        <p14:creationId xmlns:p14="http://schemas.microsoft.com/office/powerpoint/2010/main" val="896756967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https://timgsa.baidu.com/timg?image&amp;quality=80&amp;size=b9999_10000&amp;sec=1605069944532&amp;di=fadb1258c81e7ea265d2bcbdc8fcc0c7&amp;imgtype=0&amp;src=http%3A%2F%2Fi.cqnews.net%2Fcqtoday%2Fattachement%2Fjpg%2Fsite82%2F20130227%2F002564c0b87d1297a69a4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38100" cy="7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28CFFBE9-913D-4462-B6EB-5BFEF7CDBC93}"/>
              </a:ext>
            </a:extLst>
          </p:cNvPr>
          <p:cNvSpPr/>
          <p:nvPr/>
        </p:nvSpPr>
        <p:spPr>
          <a:xfrm>
            <a:off x="551384" y="764704"/>
            <a:ext cx="1006638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FF0000"/>
              </a:buClr>
              <a:buSzPct val="100000"/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最优化算法</a:t>
            </a:r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63BAD464-D731-C70C-2AEE-DA30DF693928}"/>
              </a:ext>
            </a:extLst>
          </p:cNvPr>
          <p:cNvSpPr txBox="1"/>
          <p:nvPr/>
        </p:nvSpPr>
        <p:spPr>
          <a:xfrm>
            <a:off x="479376" y="22241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逻辑回归</a:t>
            </a:r>
            <a:endParaRPr lang="zh-CN" altLang="en-US" sz="24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5B6C88E-9540-83F6-1784-6240DF53DB1A}"/>
                  </a:ext>
                </a:extLst>
              </p:cNvPr>
              <p:cNvSpPr txBox="1"/>
              <p:nvPr/>
            </p:nvSpPr>
            <p:spPr>
              <a:xfrm>
                <a:off x="4799856" y="1412776"/>
                <a:ext cx="4116191" cy="50115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zh-CN" sz="180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eqArrPr>
                        <m:e>
                          <m:f>
                            <m:f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18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𝜕</m:t>
                              </m:r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ℒ</m:t>
                              </m:r>
                            </m:num>
                            <m:den>
                              <m:r>
                                <a:rPr lang="en-US" altLang="zh-CN" sz="18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CN" altLang="zh-CN" sz="18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b="1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宋体" panose="02010600030101010101" pitchFamily="2" charset="-122"/>
                                    </a:rPr>
                                    <m:t>𝐙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宋体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&amp;=</m:t>
                          </m:r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800" b="1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−</m:t>
                          </m:r>
                          <m:r>
                            <a:rPr lang="en-US" altLang="zh-CN" sz="1800" b="1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𝐘</m:t>
                          </m:r>
                        </m:e>
                        <m:e>
                          <m:f>
                            <m:f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18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𝜕</m:t>
                              </m:r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ℒ</m:t>
                              </m:r>
                            </m:num>
                            <m:den>
                              <m:r>
                                <a:rPr lang="en-US" altLang="zh-CN" sz="18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CN" altLang="zh-CN" sz="18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b="1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宋体" panose="02010600030101010101" pitchFamily="2" charset="-122"/>
                                    </a:rPr>
                                    <m:t>𝐖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宋体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&amp;=</m:t>
                          </m:r>
                          <m:f>
                            <m:f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𝑚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1800" b="1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18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⊤</m:t>
                              </m:r>
                            </m:sup>
                          </m:sSubSup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800" b="1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−</m:t>
                          </m:r>
                          <m:r>
                            <a:rPr lang="en-US" altLang="zh-CN" sz="1800" b="1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𝐘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)</m:t>
                          </m:r>
                        </m:e>
                        <m:e>
                          <m:f>
                            <m:f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18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𝜕</m:t>
                              </m:r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ℒ</m:t>
                              </m:r>
                            </m:num>
                            <m:den>
                              <m:r>
                                <a:rPr lang="en-US" altLang="zh-CN" sz="18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CN" altLang="zh-CN" sz="18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b="1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宋体" panose="02010600030101010101" pitchFamily="2" charset="-122"/>
                                    </a:rPr>
                                    <m:t>𝐛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宋体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&amp;=</m:t>
                          </m:r>
                          <m:f>
                            <m:f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𝑚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grow m:val="on"/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𝑖</m:t>
                              </m:r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𝑚</m:t>
                              </m:r>
                            </m:sup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 </m:t>
                              </m:r>
                            </m:e>
                          </m:nary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1800" b="1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(</m:t>
                              </m:r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𝑖</m:t>
                              </m:r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1800" b="1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𝐘</m:t>
                              </m:r>
                            </m:e>
                            <m:sup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(</m:t>
                              </m:r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𝑖</m:t>
                              </m:r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)</m:t>
                          </m:r>
                        </m:e>
                        <m:e>
                          <m:f>
                            <m:f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18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𝜕</m:t>
                              </m:r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ℒ</m:t>
                              </m:r>
                            </m:num>
                            <m:den>
                              <m:r>
                                <a:rPr lang="en-US" altLang="zh-CN" sz="18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CN" altLang="zh-CN" sz="18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b="1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宋体" panose="02010600030101010101" pitchFamily="2" charset="-122"/>
                                    </a:rPr>
                                    <m:t>𝐀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宋体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&amp;=(</m:t>
                          </m:r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800" b="1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−</m:t>
                          </m:r>
                          <m:r>
                            <a:rPr lang="en-US" altLang="zh-CN" sz="1800" b="1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𝐘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)</m:t>
                          </m:r>
                          <m:sSubSup>
                            <m:sSubSup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1800" b="1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𝐖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18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⊤</m:t>
                              </m:r>
                            </m:sup>
                          </m:sSubSup>
                        </m:e>
                        <m:e>
                          <m:f>
                            <m:f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18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𝜕</m:t>
                              </m:r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ℒ</m:t>
                              </m:r>
                            </m:num>
                            <m:den>
                              <m:r>
                                <a:rPr lang="en-US" altLang="zh-CN" sz="18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CN" altLang="zh-CN" sz="18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b="1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宋体" panose="02010600030101010101" pitchFamily="2" charset="-122"/>
                                    </a:rPr>
                                    <m:t>𝐙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宋体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&amp;=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zh-CN" sz="18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b="1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宋体" panose="02010600030101010101" pitchFamily="2" charset="-122"/>
                                    </a:rPr>
                                    <m:t>𝐀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宋体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−</m:t>
                              </m:r>
                              <m:r>
                                <a:rPr lang="en-US" altLang="zh-CN" sz="1800" b="1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𝐘</m:t>
                              </m:r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)</m:t>
                              </m:r>
                              <m:sSubSup>
                                <m:sSubSupPr>
                                  <m:ctrlPr>
                                    <a:rPr lang="zh-CN" altLang="zh-CN" sz="18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800" b="1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宋体" panose="02010600030101010101" pitchFamily="2" charset="-122"/>
                                    </a:rPr>
                                    <m:t>𝐖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宋体" panose="02010600030101010101" pitchFamily="2" charset="-122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18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宋体" panose="02010600030101010101" pitchFamily="2" charset="-122"/>
                                    </a:rPr>
                                    <m:t>⊤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∘</m:t>
                          </m:r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800" b="1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∘(1−</m:t>
                          </m:r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800" b="1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)</m:t>
                          </m:r>
                        </m:e>
                        <m:e>
                          <m:f>
                            <m:f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18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𝜕</m:t>
                              </m:r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ℒ</m:t>
                              </m:r>
                            </m:num>
                            <m:den>
                              <m:r>
                                <a:rPr lang="en-US" altLang="zh-CN" sz="18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CN" altLang="zh-CN" sz="18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b="1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宋体" panose="02010600030101010101" pitchFamily="2" charset="-122"/>
                                    </a:rPr>
                                    <m:t>𝐖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宋体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&amp;=</m:t>
                          </m:r>
                          <m:f>
                            <m:f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𝑚</m:t>
                              </m:r>
                            </m:den>
                          </m:f>
                          <m:sSup>
                            <m:sSup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1800" b="1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𝐗</m:t>
                              </m:r>
                            </m:e>
                            <m:sup>
                              <m:r>
                                <a:rPr lang="en-US" altLang="zh-CN" sz="18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⊤</m:t>
                              </m:r>
                            </m:sup>
                          </m:sSup>
                          <m:d>
                            <m:d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zh-CN" sz="18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8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宋体" panose="02010600030101010101" pitchFamily="2" charset="-122"/>
                                    </a:rPr>
                                    <m:t>𝜕</m:t>
                                  </m:r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宋体" panose="02010600030101010101" pitchFamily="2" charset="-122"/>
                                    </a:rPr>
                                    <m:t>ℒ</m:t>
                                  </m:r>
                                </m:num>
                                <m:den>
                                  <m:r>
                                    <a:rPr lang="en-US" altLang="zh-CN" sz="18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宋体" panose="02010600030101010101" pitchFamily="2" charset="-122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18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b="1" i="1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宋体" panose="02010600030101010101" pitchFamily="2" charset="-122"/>
                                        </a:rPr>
                                        <m:t>𝐙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宋体" panose="02010600030101010101" pitchFamily="2" charset="-122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e>
                          <m:f>
                            <m:f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18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𝜕</m:t>
                              </m:r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ℒ</m:t>
                              </m:r>
                            </m:num>
                            <m:den>
                              <m:r>
                                <a:rPr lang="en-US" altLang="zh-CN" sz="18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CN" altLang="zh-CN" sz="18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b="1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宋体" panose="02010600030101010101" pitchFamily="2" charset="-122"/>
                                    </a:rPr>
                                    <m:t>𝐛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宋体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&amp;=</m:t>
                          </m:r>
                          <m:f>
                            <m:f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𝑚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grow m:val="on"/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𝑖</m:t>
                              </m:r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𝑚</m:t>
                              </m:r>
                            </m:sup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 </m:t>
                              </m:r>
                            </m:e>
                          </m:nary>
                          <m:d>
                            <m:d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zh-CN" sz="18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8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宋体" panose="02010600030101010101" pitchFamily="2" charset="-122"/>
                                    </a:rPr>
                                    <m:t>𝜕</m:t>
                                  </m:r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宋体" panose="02010600030101010101" pitchFamily="2" charset="-122"/>
                                    </a:rPr>
                                    <m:t>ℒ</m:t>
                                  </m:r>
                                </m:num>
                                <m:den>
                                  <m:r>
                                    <a:rPr lang="en-US" altLang="zh-CN" sz="18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宋体" panose="02010600030101010101" pitchFamily="2" charset="-122"/>
                                    </a:rPr>
                                    <m:t>𝜕</m:t>
                                  </m:r>
                                  <m:sSubSup>
                                    <m:sSubSupPr>
                                      <m:ctrlPr>
                                        <a:rPr lang="zh-CN" altLang="zh-CN" sz="18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800" b="1" i="1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宋体" panose="02010600030101010101" pitchFamily="2" charset="-122"/>
                                        </a:rPr>
                                        <m:t>𝐙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宋体" panose="02010600030101010101" pitchFamily="2" charset="-122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altLang="zh-CN" sz="1800" i="1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宋体" panose="02010600030101010101" pitchFamily="2" charset="-122"/>
                                        </a:rPr>
                                        <m:t>(</m:t>
                                      </m:r>
                                      <m:r>
                                        <a:rPr lang="en-US" altLang="zh-CN" sz="1800" i="1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宋体" panose="02010600030101010101" pitchFamily="2" charset="-122"/>
                                        </a:rPr>
                                        <m:t>𝑖</m:t>
                                      </m:r>
                                      <m:r>
                                        <a:rPr lang="en-US" altLang="zh-CN" sz="1800" i="1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宋体" panose="02010600030101010101" pitchFamily="2" charset="-122"/>
                                        </a:rPr>
                                        <m:t>)</m:t>
                                      </m:r>
                                    </m:sup>
                                  </m:sSubSup>
                                </m:den>
                              </m:f>
                            </m:e>
                          </m:d>
                        </m:e>
                      </m:eqArr>
                    </m:oMath>
                  </m:oMathPara>
                </a14:m>
                <a:endParaRPr lang="zh-CN" altLang="zh-CN" sz="18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  <a:p>
                <a:endParaRPr kumimoji="1"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5B6C88E-9540-83F6-1784-6240DF53DB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9856" y="1412776"/>
                <a:ext cx="4116191" cy="5011565"/>
              </a:xfrm>
              <a:prstGeom prst="rect">
                <a:avLst/>
              </a:prstGeom>
              <a:blipFill>
                <a:blip r:embed="rId4"/>
                <a:stretch>
                  <a:fillRect b="-194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1F8F90C5-FCA6-7382-3FEB-775E55DEBF1F}"/>
              </a:ext>
            </a:extLst>
          </p:cNvPr>
          <p:cNvSpPr txBox="1"/>
          <p:nvPr/>
        </p:nvSpPr>
        <p:spPr>
          <a:xfrm>
            <a:off x="767408" y="1412776"/>
            <a:ext cx="4060727" cy="23285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>
                <a:highlight>
                  <a:srgbClr val="FFFF00"/>
                </a:highlight>
              </a:rPr>
              <a:t>梯度下降</a:t>
            </a:r>
            <a:r>
              <a:rPr kumimoji="1" lang="en-US" altLang="zh-CN" dirty="0">
                <a:highlight>
                  <a:srgbClr val="FFFF00"/>
                </a:highlight>
              </a:rPr>
              <a:t>+</a:t>
            </a:r>
            <a:r>
              <a:rPr kumimoji="1" lang="zh-CN" altLang="en-US" dirty="0">
                <a:highlight>
                  <a:srgbClr val="FFFF00"/>
                </a:highlight>
              </a:rPr>
              <a:t>反向传播</a:t>
            </a:r>
            <a:endParaRPr kumimoji="1" lang="en-US" altLang="zh-CN" dirty="0">
              <a:highlight>
                <a:srgbClr val="FFFF00"/>
              </a:highlight>
            </a:endParaRPr>
          </a:p>
          <a:p>
            <a:pPr>
              <a:lnSpc>
                <a:spcPct val="150000"/>
              </a:lnSpc>
            </a:pPr>
            <a:endParaRPr kumimoji="1" lang="en-US" altLang="zh-CN" dirty="0"/>
          </a:p>
          <a:p>
            <a:pPr>
              <a:lnSpc>
                <a:spcPct val="150000"/>
              </a:lnSpc>
            </a:pPr>
            <a:r>
              <a:rPr kumimoji="1" lang="zh-CN" altLang="en-US" dirty="0"/>
              <a:t>偏导数计算</a:t>
            </a:r>
            <a:r>
              <a:rPr kumimoji="1" lang="en-US" altLang="zh-CN" dirty="0"/>
              <a:t>-</a:t>
            </a:r>
            <a:r>
              <a:rPr kumimoji="1" lang="zh-CN" altLang="en-US" dirty="0"/>
              <a:t>链式法则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r>
              <a:rPr kumimoji="1" lang="zh-CN" altLang="en-US" dirty="0"/>
              <a:t>首先对输出层参数</a:t>
            </a:r>
            <a:r>
              <a:rPr kumimoji="1" lang="en-US" altLang="zh-CN" dirty="0"/>
              <a:t> W2</a:t>
            </a:r>
            <a:r>
              <a:rPr kumimoji="1" lang="zh-CN" altLang="en-US" dirty="0"/>
              <a:t>，</a:t>
            </a:r>
            <a:r>
              <a:rPr kumimoji="1" lang="en-US" altLang="zh-CN" dirty="0"/>
              <a:t>b2 </a:t>
            </a:r>
            <a:r>
              <a:rPr kumimoji="1" lang="zh-CN" altLang="en-US" dirty="0"/>
              <a:t>求偏导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r>
              <a:rPr kumimoji="1" lang="zh-CN" altLang="en-US" dirty="0"/>
              <a:t>然后对隐藏层参数</a:t>
            </a:r>
            <a:r>
              <a:rPr kumimoji="1" lang="en-US" altLang="zh-CN" dirty="0"/>
              <a:t> W1</a:t>
            </a:r>
            <a:r>
              <a:rPr kumimoji="1" lang="zh-CN" altLang="en-US" dirty="0"/>
              <a:t>，</a:t>
            </a:r>
            <a:r>
              <a:rPr kumimoji="1" lang="en-US" altLang="zh-CN" dirty="0"/>
              <a:t>b1 </a:t>
            </a:r>
            <a:r>
              <a:rPr kumimoji="1" lang="zh-CN" altLang="en-US" dirty="0"/>
              <a:t>求偏导</a:t>
            </a:r>
            <a:endParaRPr kumimoji="1" lang="en-US" altLang="zh-CN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E24E333-0BC4-A9F0-42B6-C3922E808E35}"/>
              </a:ext>
            </a:extLst>
          </p:cNvPr>
          <p:cNvSpPr txBox="1"/>
          <p:nvPr/>
        </p:nvSpPr>
        <p:spPr>
          <a:xfrm>
            <a:off x="4799856" y="1268760"/>
            <a:ext cx="1800200" cy="79208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72898F9-DA5A-37FC-DED2-FA7C701BC3CA}"/>
              </a:ext>
            </a:extLst>
          </p:cNvPr>
          <p:cNvSpPr txBox="1"/>
          <p:nvPr/>
        </p:nvSpPr>
        <p:spPr>
          <a:xfrm>
            <a:off x="6574984" y="1292800"/>
            <a:ext cx="56170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Softmax</a:t>
            </a:r>
            <a:r>
              <a:rPr kumimoji="1" lang="en-US" altLang="zh-CN" dirty="0"/>
              <a:t> + Cross-Entropy</a:t>
            </a:r>
            <a:r>
              <a:rPr kumimoji="1" lang="zh-CN" altLang="en-US" dirty="0"/>
              <a:t>的联合梯度简化形式</a:t>
            </a:r>
            <a:endParaRPr kumimoji="1" lang="en-US" altLang="zh-CN" dirty="0"/>
          </a:p>
          <a:p>
            <a:r>
              <a:rPr kumimoji="1" lang="zh-CN" altLang="en-US" dirty="0"/>
              <a:t>不需要计算损失值也能求梯度</a:t>
            </a:r>
          </a:p>
        </p:txBody>
      </p:sp>
    </p:spTree>
    <p:extLst>
      <p:ext uri="{BB962C8B-B14F-4D97-AF65-F5344CB8AC3E}">
        <p14:creationId xmlns:p14="http://schemas.microsoft.com/office/powerpoint/2010/main" val="513892263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B096ED37-C727-435A-A8F0-9688F668DB42}"/>
              </a:ext>
            </a:extLst>
          </p:cNvPr>
          <p:cNvSpPr txBox="1"/>
          <p:nvPr/>
        </p:nvSpPr>
        <p:spPr>
          <a:xfrm>
            <a:off x="479376" y="222417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24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100" name="Picture 4" descr="https://timgsa.baidu.com/timg?image&amp;quality=80&amp;size=b9999_10000&amp;sec=1605069944532&amp;di=fadb1258c81e7ea265d2bcbdc8fcc0c7&amp;imgtype=0&amp;src=http%3A%2F%2Fi.cqnews.net%2Fcqtoday%2Fattachement%2Fjpg%2Fsite82%2F20130227%2F002564c0b87d1297a69a4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38100" cy="7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28CFFBE9-913D-4462-B6EB-5BFEF7CDBC93}"/>
              </a:ext>
            </a:extLst>
          </p:cNvPr>
          <p:cNvSpPr/>
          <p:nvPr/>
        </p:nvSpPr>
        <p:spPr>
          <a:xfrm>
            <a:off x="551384" y="764704"/>
            <a:ext cx="1006638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FF0000"/>
              </a:buClr>
              <a:buSzPct val="100000"/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训练</a:t>
            </a:r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49C0DFF-A291-16BD-8791-5427468D9445}"/>
              </a:ext>
            </a:extLst>
          </p:cNvPr>
          <p:cNvSpPr txBox="1"/>
          <p:nvPr/>
        </p:nvSpPr>
        <p:spPr>
          <a:xfrm>
            <a:off x="839416" y="2132856"/>
            <a:ext cx="137799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1800" b="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超参数：</a:t>
            </a:r>
            <a:endParaRPr lang="en-US" altLang="zh-CN" sz="1800" b="0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1800" b="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轮数</a:t>
            </a:r>
            <a:endParaRPr lang="en-US" altLang="zh-CN" sz="1800" b="0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dirty="0" err="1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Bachsize</a:t>
            </a:r>
            <a:endParaRPr lang="en-US" altLang="zh-CN" sz="1800" b="0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………</a:t>
            </a:r>
            <a:endParaRPr lang="zh-CN" altLang="en-US" sz="1800" b="0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D4CF721-2800-B075-E203-FB7BBF8F6A44}"/>
              </a:ext>
            </a:extLst>
          </p:cNvPr>
          <p:cNvSpPr txBox="1"/>
          <p:nvPr/>
        </p:nvSpPr>
        <p:spPr>
          <a:xfrm>
            <a:off x="479376" y="22241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逻辑回归</a:t>
            </a:r>
            <a:endParaRPr lang="zh-CN" altLang="en-US" sz="24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88CF478-C993-C954-7147-8A89B91C93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5148" y="1214006"/>
            <a:ext cx="9349224" cy="322480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87367CFC-275B-69D9-B883-6D0B52BEE12F}"/>
              </a:ext>
            </a:extLst>
          </p:cNvPr>
          <p:cNvSpPr txBox="1"/>
          <p:nvPr/>
        </p:nvSpPr>
        <p:spPr>
          <a:xfrm>
            <a:off x="5879976" y="1804754"/>
            <a:ext cx="23807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</a:rPr>
              <a:t>计算输出层输出</a:t>
            </a:r>
            <a:r>
              <a:rPr kumimoji="1" lang="en-US" altLang="zh-CN" dirty="0">
                <a:solidFill>
                  <a:schemeClr val="bg1"/>
                </a:solidFill>
              </a:rPr>
              <a:t> Z</a:t>
            </a:r>
            <a:r>
              <a:rPr kumimoji="1" lang="en-US" altLang="zh-CN" baseline="-25000" dirty="0">
                <a:solidFill>
                  <a:schemeClr val="bg1"/>
                </a:solidFill>
              </a:rPr>
              <a:t>2</a:t>
            </a:r>
            <a:endParaRPr kumimoji="1" lang="zh-CN" altLang="en-US" baseline="-25000" dirty="0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5DF54B7-72D7-41CD-1F1C-DF8BB3B919B7}"/>
              </a:ext>
            </a:extLst>
          </p:cNvPr>
          <p:cNvSpPr txBox="1"/>
          <p:nvPr/>
        </p:nvSpPr>
        <p:spPr>
          <a:xfrm>
            <a:off x="6312024" y="2181543"/>
            <a:ext cx="17331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</a:rPr>
              <a:t>更新模型参数</a:t>
            </a:r>
            <a:endParaRPr kumimoji="1" lang="zh-CN" altLang="en-US" baseline="-25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1181825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B096ED37-C727-435A-A8F0-9688F668DB42}"/>
              </a:ext>
            </a:extLst>
          </p:cNvPr>
          <p:cNvSpPr txBox="1"/>
          <p:nvPr/>
        </p:nvSpPr>
        <p:spPr>
          <a:xfrm>
            <a:off x="479376" y="222417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24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100" name="Picture 4" descr="https://timgsa.baidu.com/timg?image&amp;quality=80&amp;size=b9999_10000&amp;sec=1605069944532&amp;di=fadb1258c81e7ea265d2bcbdc8fcc0c7&amp;imgtype=0&amp;src=http%3A%2F%2Fi.cqnews.net%2Fcqtoday%2Fattachement%2Fjpg%2Fsite82%2F20130227%2F002564c0b87d1297a69a4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38100" cy="7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28CFFBE9-913D-4462-B6EB-5BFEF7CDBC93}"/>
              </a:ext>
            </a:extLst>
          </p:cNvPr>
          <p:cNvSpPr/>
          <p:nvPr/>
        </p:nvSpPr>
        <p:spPr>
          <a:xfrm>
            <a:off x="551384" y="764704"/>
            <a:ext cx="1006638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FF0000"/>
              </a:buClr>
              <a:buSzPct val="100000"/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推理</a:t>
            </a:r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8898524-A4D4-AC3A-8B02-E331658D5F1D}"/>
              </a:ext>
            </a:extLst>
          </p:cNvPr>
          <p:cNvSpPr txBox="1"/>
          <p:nvPr/>
        </p:nvSpPr>
        <p:spPr>
          <a:xfrm>
            <a:off x="664107" y="4984072"/>
            <a:ext cx="203199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1800" b="0" dirty="0">
                <a:solidFill>
                  <a:prstClr val="black"/>
                </a:solidFill>
                <a:latin typeface="等线" panose="02110004020202020204"/>
                <a:ea typeface="等线" panose="02010600030101010101" pitchFamily="2" charset="-122"/>
              </a:rPr>
              <a:t>超参数：</a:t>
            </a:r>
            <a:endParaRPr lang="en-US" altLang="zh-CN" sz="1800" b="0" dirty="0">
              <a:solidFill>
                <a:prstClr val="black"/>
              </a:solidFill>
              <a:latin typeface="等线" panose="02110004020202020204"/>
              <a:ea typeface="等线" panose="02010600030101010101" pitchFamily="2" charset="-12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dirty="0">
                <a:solidFill>
                  <a:prstClr val="black"/>
                </a:solidFill>
                <a:latin typeface="等线" panose="02110004020202020204"/>
                <a:ea typeface="等线" panose="02010600030101010101" pitchFamily="2" charset="-122"/>
              </a:rPr>
              <a:t>LR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1800" b="0" dirty="0">
                <a:solidFill>
                  <a:prstClr val="black"/>
                </a:solidFill>
                <a:latin typeface="等线" panose="02110004020202020204"/>
                <a:ea typeface="等线" panose="02010600030101010101" pitchFamily="2" charset="-122"/>
              </a:rPr>
              <a:t>轮数</a:t>
            </a:r>
            <a:endParaRPr lang="en-US" altLang="zh-CN" sz="1800" b="0" dirty="0">
              <a:solidFill>
                <a:prstClr val="black"/>
              </a:solidFill>
              <a:latin typeface="等线" panose="02110004020202020204"/>
              <a:ea typeface="等线" panose="02010600030101010101" pitchFamily="2" charset="-12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dirty="0" err="1">
                <a:solidFill>
                  <a:prstClr val="black"/>
                </a:solidFill>
                <a:latin typeface="等线" panose="02110004020202020204"/>
                <a:ea typeface="等线" panose="02010600030101010101" pitchFamily="2" charset="-122"/>
              </a:rPr>
              <a:t>Bachsize</a:t>
            </a:r>
            <a:endParaRPr lang="en-US" altLang="zh-CN" sz="1800" b="0" dirty="0">
              <a:solidFill>
                <a:prstClr val="black"/>
              </a:solidFill>
              <a:latin typeface="等线" panose="02110004020202020204"/>
              <a:ea typeface="等线" panose="02010600030101010101" pitchFamily="2" charset="-12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dirty="0">
                <a:solidFill>
                  <a:prstClr val="black"/>
                </a:solidFill>
                <a:latin typeface="等线" panose="02110004020202020204"/>
                <a:ea typeface="等线" panose="02010600030101010101" pitchFamily="2" charset="-122"/>
              </a:rPr>
              <a:t>………</a:t>
            </a:r>
            <a:endParaRPr lang="zh-CN" altLang="en-US" sz="1800" b="0" dirty="0">
              <a:solidFill>
                <a:prstClr val="black"/>
              </a:solidFill>
              <a:latin typeface="等线" panose="02110004020202020204"/>
              <a:ea typeface="等线" panose="02010600030101010101" pitchFamily="2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D5A8BE4-5E6A-97DA-68C2-E1A863C46A1F}"/>
              </a:ext>
            </a:extLst>
          </p:cNvPr>
          <p:cNvSpPr txBox="1"/>
          <p:nvPr/>
        </p:nvSpPr>
        <p:spPr>
          <a:xfrm>
            <a:off x="479376" y="22241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逻辑回归</a:t>
            </a:r>
            <a:endParaRPr lang="zh-CN" altLang="en-US" sz="24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3298EC9-0A4B-C6B8-3E8E-2F6AA53E62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60" y="1065837"/>
            <a:ext cx="6520542" cy="3314309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A9A59C9-8F1F-40E5-405B-E0B1751C1D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6248" y="1065837"/>
            <a:ext cx="7772400" cy="4417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059739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B096ED37-C727-435A-A8F0-9688F668DB42}"/>
              </a:ext>
            </a:extLst>
          </p:cNvPr>
          <p:cNvSpPr txBox="1"/>
          <p:nvPr/>
        </p:nvSpPr>
        <p:spPr>
          <a:xfrm>
            <a:off x="479376" y="222417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24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100" name="Picture 4" descr="https://timgsa.baidu.com/timg?image&amp;quality=80&amp;size=b9999_10000&amp;sec=1605069944532&amp;di=fadb1258c81e7ea265d2bcbdc8fcc0c7&amp;imgtype=0&amp;src=http%3A%2F%2Fi.cqnews.net%2Fcqtoday%2Fattachement%2Fjpg%2Fsite82%2F20130227%2F002564c0b87d1297a69a4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38100" cy="7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28CFFBE9-913D-4462-B6EB-5BFEF7CDBC93}"/>
              </a:ext>
            </a:extLst>
          </p:cNvPr>
          <p:cNvSpPr/>
          <p:nvPr/>
        </p:nvSpPr>
        <p:spPr>
          <a:xfrm>
            <a:off x="551384" y="764704"/>
            <a:ext cx="1006638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FF0000"/>
              </a:buClr>
              <a:buSzPct val="100000"/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调试</a:t>
            </a:r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F524330-9332-D619-E309-941E474820A9}"/>
              </a:ext>
            </a:extLst>
          </p:cNvPr>
          <p:cNvSpPr txBox="1"/>
          <p:nvPr/>
        </p:nvSpPr>
        <p:spPr>
          <a:xfrm>
            <a:off x="5080000" y="2717555"/>
            <a:ext cx="2031999" cy="1422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加断点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观察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控制台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D5523F1-9BBC-D271-6CCB-A3F4B500E1FD}"/>
              </a:ext>
            </a:extLst>
          </p:cNvPr>
          <p:cNvSpPr txBox="1"/>
          <p:nvPr/>
        </p:nvSpPr>
        <p:spPr>
          <a:xfrm>
            <a:off x="479376" y="22241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逻辑回归</a:t>
            </a:r>
            <a:endParaRPr lang="zh-CN" altLang="en-US" sz="24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469886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20_默认设计模板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33024</TotalTime>
  <Words>1510</Words>
  <Application>Microsoft Office PowerPoint</Application>
  <PresentationFormat>宽屏</PresentationFormat>
  <Paragraphs>207</Paragraphs>
  <Slides>15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1" baseType="lpstr">
      <vt:lpstr>ui-sans-serif</vt:lpstr>
      <vt:lpstr>等线</vt:lpstr>
      <vt:lpstr>黑体</vt:lpstr>
      <vt:lpstr>宋体</vt:lpstr>
      <vt:lpstr>Microsoft YaHei</vt:lpstr>
      <vt:lpstr>Microsoft YaHei</vt:lpstr>
      <vt:lpstr>Arial</vt:lpstr>
      <vt:lpstr>Calibri</vt:lpstr>
      <vt:lpstr>Calibri Light</vt:lpstr>
      <vt:lpstr>Cambria</vt:lpstr>
      <vt:lpstr>Cambria Math</vt:lpstr>
      <vt:lpstr>Consolas</vt:lpstr>
      <vt:lpstr>Tahoma</vt:lpstr>
      <vt:lpstr>Times New Roman</vt:lpstr>
      <vt:lpstr>Wingdings</vt:lpstr>
      <vt:lpstr>20_默认设计模板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cqu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ljc</dc:creator>
  <cp:lastModifiedBy>翊 王</cp:lastModifiedBy>
  <cp:revision>3606</cp:revision>
  <dcterms:created xsi:type="dcterms:W3CDTF">2011-11-29T15:11:00Z</dcterms:created>
  <dcterms:modified xsi:type="dcterms:W3CDTF">2026-05-10T10:40:29Z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2052-11.1.0.8696</vt:lpwstr>
  </property>
</Properties>
</file>
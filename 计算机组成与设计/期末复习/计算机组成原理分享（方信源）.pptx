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7" r:id="rId3"/>
    <p:sldId id="286" r:id="rId4"/>
    <p:sldId id="304" r:id="rId5"/>
    <p:sldId id="305" r:id="rId6"/>
    <p:sldId id="309" r:id="rId7"/>
    <p:sldId id="310" r:id="rId8"/>
    <p:sldId id="311" r:id="rId9"/>
    <p:sldId id="312" r:id="rId10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一均 邵" initials="一邵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2" autoAdjust="0"/>
  </p:normalViewPr>
  <p:slideViewPr>
    <p:cSldViewPr showGuides="1">
      <p:cViewPr varScale="1">
        <p:scale>
          <a:sx n="80" d="100"/>
          <a:sy n="80" d="100"/>
        </p:scale>
        <p:origin x="754" y="67"/>
      </p:cViewPr>
      <p:guideLst>
        <p:guide orient="horz" pos="220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32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1">
    <p:pos x="10" y="10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3">
    <p:pos x="10" y="10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4">
    <p:pos x="10" y="10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8">
    <p:pos x="10" y="10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9">
    <p:pos x="10" y="10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10">
    <p:pos x="10" y="10"/>
    <p:text/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5-14T15:05:51.977" idx="1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2B47D-E51A-4C41-80FF-D9626BE960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CCFDAD-997A-495A-82FA-180A190DF1D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t="-6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comments" Target="../comments/comment5.x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3.png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1" Type="http://schemas.openxmlformats.org/officeDocument/2006/relationships/comments" Target="../comments/comment7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9" Type="http://schemas.openxmlformats.org/officeDocument/2006/relationships/tags" Target="../tags/tag31.xml"/><Relationship Id="rId28" Type="http://schemas.openxmlformats.org/officeDocument/2006/relationships/tags" Target="../tags/tag30.xml"/><Relationship Id="rId27" Type="http://schemas.openxmlformats.org/officeDocument/2006/relationships/tags" Target="../tags/tag29.xml"/><Relationship Id="rId26" Type="http://schemas.openxmlformats.org/officeDocument/2006/relationships/image" Target="../media/image22.svg"/><Relationship Id="rId25" Type="http://schemas.openxmlformats.org/officeDocument/2006/relationships/image" Target="../media/image21.png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12.xml"/><Relationship Id="rId19" Type="http://schemas.openxmlformats.org/officeDocument/2006/relationships/image" Target="../media/image20.svg"/><Relationship Id="rId18" Type="http://schemas.openxmlformats.org/officeDocument/2006/relationships/image" Target="../media/image19.png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tags" Target="../tags/tag18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509159" y="2294638"/>
            <a:ext cx="11038043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4800" b="1" i="0" dirty="0">
                <a:solidFill>
                  <a:srgbClr val="000000"/>
                </a:solidFill>
                <a:latin typeface="微软雅黑" panose="020B0503020204020204" charset="-122"/>
              </a:rPr>
              <a:t>计算机组成原理题目</a:t>
            </a:r>
            <a:r>
              <a:rPr lang="zh-CN" sz="4800" b="1" i="0" dirty="0">
                <a:solidFill>
                  <a:srgbClr val="000000"/>
                </a:solidFill>
                <a:latin typeface="微软雅黑" panose="020B0503020204020204" charset="-122"/>
              </a:rPr>
              <a:t>分享</a:t>
            </a:r>
            <a:endParaRPr lang="zh-CN" sz="4800" b="1" i="0" dirty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New shape"/>
          <p:cNvSpPr/>
          <p:nvPr/>
        </p:nvSpPr>
        <p:spPr>
          <a:xfrm>
            <a:off x="622800" y="3101012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/>
        </p:txBody>
      </p:sp>
      <p:sp>
        <p:nvSpPr>
          <p:cNvPr id="5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/>
        </p:txBody>
      </p:sp>
      <p:sp>
        <p:nvSpPr>
          <p:cNvPr id="6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/>
        </p:txBody>
      </p:sp>
      <p:sp>
        <p:nvSpPr>
          <p:cNvPr id="7" name="New shape"/>
          <p:cNvSpPr/>
          <p:nvPr/>
        </p:nvSpPr>
        <p:spPr>
          <a:xfrm>
            <a:off x="622800" y="4138369"/>
            <a:ext cx="1101600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/>
        </p:txBody>
      </p:sp>
      <p:sp>
        <p:nvSpPr>
          <p:cNvPr id="4" name="文本框 3"/>
          <p:cNvSpPr txBox="1"/>
          <p:nvPr/>
        </p:nvSpPr>
        <p:spPr>
          <a:xfrm>
            <a:off x="7967980" y="3452495"/>
            <a:ext cx="3405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</a:t>
            </a:r>
            <a:r>
              <a:rPr lang="en-US" altLang="zh-CN"/>
              <a:t>2025</a:t>
            </a:r>
            <a:r>
              <a:rPr lang="zh-CN" altLang="en-US"/>
              <a:t>年计组回忆版</a:t>
            </a:r>
            <a:r>
              <a:rPr lang="zh-CN" altLang="en-US"/>
              <a:t>选题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47665" y="5373370"/>
            <a:ext cx="1636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方信</a:t>
            </a:r>
            <a:r>
              <a:rPr lang="zh-CN" altLang="en-US"/>
              <a:t>源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第1题 - 加速比计算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962025" y="595630"/>
            <a:ext cx="10668000" cy="5588000"/>
            <a:chOff x="1200" y="800"/>
            <a:chExt cx="16800" cy="8800"/>
          </a:xfrm>
        </p:grpSpPr>
        <p:sp>
          <p:nvSpPr>
            <p:cNvPr id="9" name="AutoShape 2"/>
            <p:cNvSpPr/>
            <p:nvPr/>
          </p:nvSpPr>
          <p:spPr>
            <a:xfrm>
              <a:off x="1200" y="80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sp>
          <p:nvSpPr>
            <p:cNvPr id="10" name="AutoShape 3"/>
            <p:cNvSpPr/>
            <p:nvPr/>
          </p:nvSpPr>
          <p:spPr>
            <a:xfrm>
              <a:off x="1200" y="2200"/>
              <a:ext cx="5200" cy="74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1" name="AutoShape 4"/>
            <p:cNvSpPr/>
            <p:nvPr/>
          </p:nvSpPr>
          <p:spPr>
            <a:xfrm>
              <a:off x="1200" y="22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pic>
          <p:nvPicPr>
            <p:cNvPr id="12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0" y="2800"/>
              <a:ext cx="640" cy="640"/>
            </a:xfrm>
            <a:prstGeom prst="rect">
              <a:avLst/>
            </a:prstGeom>
          </p:spPr>
        </p:pic>
        <p:sp>
          <p:nvSpPr>
            <p:cNvPr id="13" name="AutoShape 6"/>
            <p:cNvSpPr/>
            <p:nvPr/>
          </p:nvSpPr>
          <p:spPr>
            <a:xfrm>
              <a:off x="2440" y="2800"/>
              <a:ext cx="3600" cy="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题目场景描述</a:t>
              </a:r>
              <a:endParaRPr lang="en-US" sz="1100"/>
            </a:p>
          </p:txBody>
        </p:sp>
        <p:cxnSp>
          <p:nvCxnSpPr>
            <p:cNvPr id="14" name="Connector 7"/>
            <p:cNvCxnSpPr/>
            <p:nvPr/>
          </p:nvCxnSpPr>
          <p:spPr>
            <a:xfrm rot="-15626">
              <a:off x="1600" y="379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AutoShape 8"/>
            <p:cNvSpPr/>
            <p:nvPr/>
          </p:nvSpPr>
          <p:spPr>
            <a:xfrm>
              <a:off x="1600" y="4200"/>
              <a:ext cx="4400" cy="5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某程序在优化前的总执行时间为120秒，经分析，其中40%的核心代码段可以通过算法改进加速到原来的5倍。请根据这一条件，计算程序优化后的实际执行时间以及系统的整体加速比。</a:t>
              </a:r>
              <a:endParaRPr lang="en-US" sz="1100"/>
            </a:p>
          </p:txBody>
        </p:sp>
        <p:sp>
          <p:nvSpPr>
            <p:cNvPr id="16" name="AutoShape 9"/>
            <p:cNvSpPr/>
            <p:nvPr/>
          </p:nvSpPr>
          <p:spPr>
            <a:xfrm>
              <a:off x="7000" y="2200"/>
              <a:ext cx="5200" cy="74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7" name="AutoShape 10"/>
            <p:cNvSpPr/>
            <p:nvPr/>
          </p:nvSpPr>
          <p:spPr>
            <a:xfrm>
              <a:off x="7000" y="22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pic>
          <p:nvPicPr>
            <p:cNvPr id="18" name="Picture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00" y="2800"/>
              <a:ext cx="640" cy="640"/>
            </a:xfrm>
            <a:prstGeom prst="rect">
              <a:avLst/>
            </a:prstGeom>
          </p:spPr>
        </p:pic>
        <p:sp>
          <p:nvSpPr>
            <p:cNvPr id="19" name="AutoShape 12"/>
            <p:cNvSpPr/>
            <p:nvPr/>
          </p:nvSpPr>
          <p:spPr>
            <a:xfrm>
              <a:off x="8240" y="2800"/>
              <a:ext cx="3600" cy="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计算结果分析</a:t>
              </a:r>
              <a:endParaRPr lang="en-US" sz="1100"/>
            </a:p>
          </p:txBody>
        </p:sp>
        <p:cxnSp>
          <p:nvCxnSpPr>
            <p:cNvPr id="20" name="Connector 13"/>
            <p:cNvCxnSpPr/>
            <p:nvPr/>
          </p:nvCxnSpPr>
          <p:spPr>
            <a:xfrm rot="-15626">
              <a:off x="7400" y="375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AutoShape 14"/>
            <p:cNvSpPr/>
            <p:nvPr/>
          </p:nvSpPr>
          <p:spPr>
            <a:xfrm>
              <a:off x="7400" y="4400"/>
              <a:ext cx="4400" cy="1966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600" y="3842"/>
              <a:ext cx="4000" cy="3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优化后总执行时间：</a:t>
              </a:r>
              <a:r>
                <a:rPr lang="en-US" sz="16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81.6秒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1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不可加速部分：120s × (1-40%) = 72s</a:t>
              </a:r>
              <a:endPara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1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可加速部分：120s × 40% / 5 = 9.6s</a:t>
              </a:r>
              <a:endPara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1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总时间：72s + 9.6s = 81.6s</a:t>
              </a:r>
              <a:endPara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3" name="AutoShape 16"/>
            <p:cNvSpPr/>
            <p:nvPr/>
          </p:nvSpPr>
          <p:spPr>
            <a:xfrm>
              <a:off x="7400" y="7326"/>
              <a:ext cx="4400" cy="16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4" name="AutoShape 17"/>
            <p:cNvSpPr/>
            <p:nvPr/>
          </p:nvSpPr>
          <p:spPr>
            <a:xfrm>
              <a:off x="7560" y="7204"/>
              <a:ext cx="4000" cy="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系统整体加速比 S：</a:t>
              </a:r>
              <a:r>
                <a:rPr lang="en-US" sz="16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≈ 1.47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1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加速比 = 优化前时间 / 优化后时间</a:t>
              </a:r>
              <a:endPara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1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• S = 120s / 81.6s ≈ 1.47</a:t>
              </a:r>
              <a:endPara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5" name="AutoShape 18"/>
            <p:cNvSpPr/>
            <p:nvPr/>
          </p:nvSpPr>
          <p:spPr>
            <a:xfrm>
              <a:off x="12800" y="2200"/>
              <a:ext cx="5200" cy="74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26" name="AutoShape 19"/>
            <p:cNvSpPr/>
            <p:nvPr/>
          </p:nvSpPr>
          <p:spPr>
            <a:xfrm>
              <a:off x="12800" y="2200"/>
              <a:ext cx="5200" cy="12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pic>
          <p:nvPicPr>
            <p:cNvPr id="27" name="Picture 2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200" y="2800"/>
              <a:ext cx="640" cy="640"/>
            </a:xfrm>
            <a:prstGeom prst="rect">
              <a:avLst/>
            </a:prstGeom>
          </p:spPr>
        </p:pic>
        <p:sp>
          <p:nvSpPr>
            <p:cNvPr id="28" name="AutoShape 21"/>
            <p:cNvSpPr/>
            <p:nvPr/>
          </p:nvSpPr>
          <p:spPr>
            <a:xfrm>
              <a:off x="14040" y="2800"/>
              <a:ext cx="3600" cy="64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核心公式原理</a:t>
              </a:r>
              <a:endParaRPr lang="en-US" sz="1100"/>
            </a:p>
          </p:txBody>
        </p:sp>
        <p:cxnSp>
          <p:nvCxnSpPr>
            <p:cNvPr id="30" name="Connector 22"/>
            <p:cNvCxnSpPr/>
            <p:nvPr/>
          </p:nvCxnSpPr>
          <p:spPr>
            <a:xfrm rot="-15626">
              <a:off x="13200" y="3790"/>
              <a:ext cx="4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" name="AutoShape 23"/>
            <p:cNvSpPr/>
            <p:nvPr/>
          </p:nvSpPr>
          <p:spPr>
            <a:xfrm>
              <a:off x="13200" y="4400"/>
              <a:ext cx="4400" cy="2600"/>
            </a:xfrm>
            <a:prstGeom prst="roundRect">
              <a:avLst>
                <a:gd name="adj" fmla="val 0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2" name="AutoShape 24"/>
            <p:cNvSpPr/>
            <p:nvPr/>
          </p:nvSpPr>
          <p:spPr>
            <a:xfrm>
              <a:off x="13400" y="4800"/>
              <a:ext cx="40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新执行时间 (T新)：</a:t>
              </a:r>
              <a:endParaRPr lang="en-US" sz="1100"/>
            </a:p>
            <a:p>
              <a:pPr marL="0" indent="0" algn="l">
                <a:lnSpc>
                  <a:spcPct val="117000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T原 × [(1 - f) + f / k]</a:t>
              </a:r>
              <a:endPara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33" name="AutoShape 25"/>
            <p:cNvSpPr/>
            <p:nvPr/>
          </p:nvSpPr>
          <p:spPr>
            <a:xfrm>
              <a:off x="13200" y="7200"/>
              <a:ext cx="4400" cy="2200"/>
            </a:xfrm>
            <a:prstGeom prst="roundRect">
              <a:avLst>
                <a:gd name="adj" fmla="val 0"/>
              </a:avLst>
            </a:prstGeom>
            <a:solidFill>
              <a:srgbClr val="F9FAF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4" name="AutoShape 26"/>
            <p:cNvSpPr/>
            <p:nvPr/>
          </p:nvSpPr>
          <p:spPr>
            <a:xfrm>
              <a:off x="13400" y="7500"/>
              <a:ext cx="40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加速比 (S)：</a:t>
              </a:r>
              <a:endParaRPr lang="en-US" sz="1100"/>
            </a:p>
            <a:p>
              <a:pPr marL="0" indent="0" algn="l">
                <a:lnSpc>
                  <a:spcPct val="117000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T原 / T新 （f为可加速比例，k为加速倍数）</a:t>
              </a:r>
              <a:endPara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第2题 - MIPS循环（求负数个数</a:t>
            </a:r>
            <a:r>
              <a:rPr lang="zh-CN" alt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3000" b="1" i="0" dirty="0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62000" y="180340"/>
            <a:ext cx="10668000" cy="5991860"/>
            <a:chOff x="1200" y="800"/>
            <a:chExt cx="16800" cy="9436"/>
          </a:xfrm>
        </p:grpSpPr>
        <p:sp>
          <p:nvSpPr>
            <p:cNvPr id="3" name="AutoShape 2"/>
            <p:cNvSpPr/>
            <p:nvPr/>
          </p:nvSpPr>
          <p:spPr>
            <a:xfrm>
              <a:off x="1200" y="80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sp>
          <p:nvSpPr>
            <p:cNvPr id="5" name="AutoShape 4"/>
            <p:cNvSpPr/>
            <p:nvPr/>
          </p:nvSpPr>
          <p:spPr>
            <a:xfrm>
              <a:off x="1200" y="2400"/>
              <a:ext cx="16800" cy="1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10B981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" name="AutoShape 5"/>
            <p:cNvSpPr/>
            <p:nvPr/>
          </p:nvSpPr>
          <p:spPr>
            <a:xfrm>
              <a:off x="1200" y="2400"/>
              <a:ext cx="120" cy="18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5" name="AutoShape 6"/>
            <p:cNvSpPr/>
            <p:nvPr/>
          </p:nvSpPr>
          <p:spPr>
            <a:xfrm>
              <a:off x="1700" y="2600"/>
              <a:ext cx="16000" cy="1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题目要求：</a:t>
              </a:r>
              <a:r>
                <a:rPr lang="en-US" sz="15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已知数组长度为1000，首地址为 Array，需通过MIPS汇编指令遍历数组，统计其中负数的个数，并将最终结果存入内存变量 Result 中。</a:t>
              </a:r>
              <a:endParaRPr lang="en-US" sz="1100"/>
            </a:p>
          </p:txBody>
        </p:sp>
        <p:sp>
          <p:nvSpPr>
            <p:cNvPr id="36" name="AutoShape 7"/>
            <p:cNvSpPr/>
            <p:nvPr/>
          </p:nvSpPr>
          <p:spPr>
            <a:xfrm>
              <a:off x="1200" y="4720"/>
              <a:ext cx="16800" cy="5516"/>
            </a:xfrm>
            <a:prstGeom prst="roundRect">
              <a:avLst>
                <a:gd name="adj" fmla="val 0"/>
              </a:avLst>
            </a:prstGeom>
            <a:solidFill>
              <a:srgbClr val="1E293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7" name="AutoShape 8"/>
            <p:cNvSpPr/>
            <p:nvPr/>
          </p:nvSpPr>
          <p:spPr>
            <a:xfrm>
              <a:off x="1200" y="4720"/>
              <a:ext cx="16800" cy="64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8" name="AutoShape 9"/>
            <p:cNvSpPr/>
            <p:nvPr/>
          </p:nvSpPr>
          <p:spPr>
            <a:xfrm>
              <a:off x="1600" y="4940"/>
              <a:ext cx="200" cy="200"/>
            </a:xfrm>
            <a:prstGeom prst="ellipse">
              <a:avLst/>
            </a:prstGeom>
            <a:solidFill>
              <a:srgbClr val="EF444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9" name="AutoShape 10"/>
            <p:cNvSpPr/>
            <p:nvPr/>
          </p:nvSpPr>
          <p:spPr>
            <a:xfrm>
              <a:off x="2000" y="4940"/>
              <a:ext cx="200" cy="200"/>
            </a:xfrm>
            <a:prstGeom prst="ellipse">
              <a:avLst/>
            </a:prstGeom>
            <a:solidFill>
              <a:srgbClr val="F59E0B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0" name="AutoShape 11"/>
            <p:cNvSpPr/>
            <p:nvPr/>
          </p:nvSpPr>
          <p:spPr>
            <a:xfrm>
              <a:off x="2400" y="4940"/>
              <a:ext cx="200" cy="200"/>
            </a:xfrm>
            <a:prstGeom prst="ellipse">
              <a:avLst/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1" name="AutoShape 12"/>
            <p:cNvSpPr/>
            <p:nvPr/>
          </p:nvSpPr>
          <p:spPr>
            <a:xfrm>
              <a:off x="3000" y="4840"/>
              <a:ext cx="12000" cy="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6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count_negatives.asm — MIPS Assembly</a:t>
              </a:r>
              <a:endParaRPr lang="en-US" sz="1100"/>
            </a:p>
          </p:txBody>
        </p:sp>
        <p:sp>
          <p:nvSpPr>
            <p:cNvPr id="42" name="AutoShape 13"/>
            <p:cNvSpPr/>
            <p:nvPr/>
          </p:nvSpPr>
          <p:spPr>
            <a:xfrm>
              <a:off x="2529" y="6210"/>
              <a:ext cx="6469" cy="3654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 $t0, Length # 加载长度变量地址</a:t>
              </a:r>
              <a:endParaRPr lang="en-US" sz="1100"/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 $t1, Array # 加载数组首地址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lw $t2, 0($t0) # 读取长度值到$t2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 $t3, 0 # 初始化计数器=0; 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 $t4, 0 # i=0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10B98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loop:</a:t>
              </a:r>
              <a:endParaRPr lang="en-US" sz="1400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bge $t4,$t2,end # i&gt;=len → end; 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lw $t5,0($t1) # 取当前元素; 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bgez $t5,next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 sz="1400" b="0" i="0" u="none" strike="noStrike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addi $t3,$t3,1 # 负数则计数器+1</a:t>
              </a: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endPara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8998" y="5915"/>
              <a:ext cx="6211" cy="2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10B98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next:</a:t>
              </a:r>
              <a:endParaRPr lang="en-US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addi $t1,$t1,4 # 指针+4; </a:t>
              </a:r>
              <a:endParaRPr lang="en-US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addi $t4,$t4,1; </a:t>
              </a:r>
              <a:endParaRPr lang="en-US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j loop # 回到循环开始</a:t>
              </a:r>
              <a:endParaRPr lang="en-US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10B98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end:</a:t>
              </a:r>
              <a:endParaRPr lang="en-US" b="0" i="0" u="none" strike="noStrike">
                <a:solidFill>
                  <a:srgbClr val="10B981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marL="0" indent="0" algn="l">
                <a:lnSpc>
                  <a:spcPct val="117000"/>
                </a:lnSpc>
              </a:pPr>
              <a:r>
                <a:rPr lang="en-US">
                  <a:solidFill>
                    <a:srgbClr val="FFFFFF">
                      <a:alpha val="80000"/>
                    </a:srgbClr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sw $t3, Result # 保存结果到内存</a:t>
              </a:r>
              <a:endParaRPr lang="en-US" b="0" i="0" u="none" strike="noStrike">
                <a:solidFill>
                  <a:srgbClr val="FFFFFF">
                    <a:alpha val="8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第3题 - IEEE 754浮点数除法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12800" y="0"/>
            <a:ext cx="10668000" cy="5842000"/>
            <a:chOff x="1200" y="800"/>
            <a:chExt cx="16800" cy="9200"/>
          </a:xfrm>
        </p:grpSpPr>
        <p:sp>
          <p:nvSpPr>
            <p:cNvPr id="3" name="AutoShape 2"/>
            <p:cNvSpPr/>
            <p:nvPr/>
          </p:nvSpPr>
          <p:spPr>
            <a:xfrm>
              <a:off x="1200" y="80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sp>
          <p:nvSpPr>
            <p:cNvPr id="5" name="AutoShape 4"/>
            <p:cNvSpPr/>
            <p:nvPr/>
          </p:nvSpPr>
          <p:spPr>
            <a:xfrm>
              <a:off x="1200" y="2800"/>
              <a:ext cx="7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/ 浮点数除法核心流程</a:t>
              </a:r>
              <a:endParaRPr lang="en-US" sz="1100"/>
            </a:p>
          </p:txBody>
        </p:sp>
        <p:sp>
          <p:nvSpPr>
            <p:cNvPr id="7" name="AutoShape 5"/>
            <p:cNvSpPr/>
            <p:nvPr/>
          </p:nvSpPr>
          <p:spPr>
            <a:xfrm>
              <a:off x="1200" y="3800"/>
              <a:ext cx="760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5" name="AutoShape 6"/>
            <p:cNvSpPr/>
            <p:nvPr/>
          </p:nvSpPr>
          <p:spPr>
            <a:xfrm>
              <a:off x="1200" y="3800"/>
              <a:ext cx="8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6" name="AutoShape 7"/>
            <p:cNvSpPr/>
            <p:nvPr/>
          </p:nvSpPr>
          <p:spPr>
            <a:xfrm>
              <a:off x="1600" y="4000"/>
              <a:ext cx="700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前期准备：判零与符号处理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首先检查操作数是否为零；结果符号位由两操作数符号位异或得到，阶码执行“被除数阶码 - 除数阶码 + 127”修正。</a:t>
              </a:r>
              <a:endParaRPr lang="en-US" sz="1100"/>
            </a:p>
          </p:txBody>
        </p:sp>
        <p:sp>
          <p:nvSpPr>
            <p:cNvPr id="37" name="AutoShape 8"/>
            <p:cNvSpPr/>
            <p:nvPr/>
          </p:nvSpPr>
          <p:spPr>
            <a:xfrm>
              <a:off x="1200" y="6000"/>
              <a:ext cx="760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38" name="AutoShape 9"/>
            <p:cNvSpPr/>
            <p:nvPr/>
          </p:nvSpPr>
          <p:spPr>
            <a:xfrm>
              <a:off x="1200" y="6000"/>
              <a:ext cx="8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39" name="AutoShape 10"/>
            <p:cNvSpPr/>
            <p:nvPr/>
          </p:nvSpPr>
          <p:spPr>
            <a:xfrm>
              <a:off x="1600" y="6200"/>
              <a:ext cx="700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核心计算：尾数相除与规格化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将尾数视为定点小数执行除法运算；将结果尾数调整为1.xx...x的标准形式，并同步调整阶码以保证数值大小不变。</a:t>
              </a:r>
              <a:endParaRPr lang="en-US" sz="1100"/>
            </a:p>
          </p:txBody>
        </p:sp>
        <p:sp>
          <p:nvSpPr>
            <p:cNvPr id="40" name="AutoShape 11"/>
            <p:cNvSpPr/>
            <p:nvPr/>
          </p:nvSpPr>
          <p:spPr>
            <a:xfrm>
              <a:off x="1200" y="8200"/>
              <a:ext cx="760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1" name="AutoShape 12"/>
            <p:cNvSpPr/>
            <p:nvPr/>
          </p:nvSpPr>
          <p:spPr>
            <a:xfrm>
              <a:off x="1200" y="8200"/>
              <a:ext cx="8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2" name="AutoShape 13"/>
            <p:cNvSpPr/>
            <p:nvPr/>
          </p:nvSpPr>
          <p:spPr>
            <a:xfrm>
              <a:off x="1600" y="8400"/>
              <a:ext cx="7000" cy="13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收尾处理：舍入与溢出判断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按指定规则对超出精度的位进行舍入；最后检查阶码是否超出表示范围，处理上溢或下溢情况。</a:t>
              </a:r>
              <a:endParaRPr lang="en-US" sz="1100"/>
            </a:p>
          </p:txBody>
        </p:sp>
        <p:cxnSp>
          <p:nvCxnSpPr>
            <p:cNvPr id="43" name="Connector 14"/>
            <p:cNvCxnSpPr/>
            <p:nvPr/>
          </p:nvCxnSpPr>
          <p:spPr>
            <a:xfrm rot="5390177">
              <a:off x="5900" y="64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D1D5D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4" name="AutoShape 15"/>
            <p:cNvSpPr/>
            <p:nvPr/>
          </p:nvSpPr>
          <p:spPr>
            <a:xfrm>
              <a:off x="9800" y="2800"/>
              <a:ext cx="76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/ 十进制转IEEE 754实例</a:t>
              </a:r>
              <a:r>
                <a:rPr lang="zh-CN" altLang="en-US" sz="18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（1 + 8 + 23 = 32 位）</a:t>
              </a:r>
              <a:endParaRPr lang="zh-CN" alt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45" name="AutoShape 16"/>
            <p:cNvSpPr/>
            <p:nvPr/>
          </p:nvSpPr>
          <p:spPr>
            <a:xfrm>
              <a:off x="9800" y="3800"/>
              <a:ext cx="7600" cy="29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6" name="AutoShape 17"/>
            <p:cNvSpPr/>
            <p:nvPr/>
          </p:nvSpPr>
          <p:spPr>
            <a:xfrm>
              <a:off x="10000" y="4000"/>
              <a:ext cx="7200" cy="2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案例一：十进制数 10.5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转换：1010.1B = 1.0101 × 2³ | 符号位=0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阶码：3+127=130(10000010B) | 尾数：0101000...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3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结果：0x41280000</a:t>
              </a:r>
              <a:endParaRPr lang="en-US" sz="1100"/>
            </a:p>
          </p:txBody>
        </p:sp>
        <p:sp>
          <p:nvSpPr>
            <p:cNvPr id="47" name="AutoShape 18"/>
            <p:cNvSpPr/>
            <p:nvPr/>
          </p:nvSpPr>
          <p:spPr>
            <a:xfrm>
              <a:off x="9800" y="7000"/>
              <a:ext cx="7600" cy="29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48" name="AutoShape 19"/>
            <p:cNvSpPr/>
            <p:nvPr/>
          </p:nvSpPr>
          <p:spPr>
            <a:xfrm>
              <a:off x="10000" y="7200"/>
              <a:ext cx="7200" cy="2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案例二：十进制数 2.5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转换：10.1B = 1.01 × 2¹ | 符号位=0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阶码：1+127=128(10000000B) | 尾数：0100000...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3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结果：0x40200000</a:t>
              </a:r>
              <a:endParaRPr lang="en-US" sz="1100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第4题 - Cache AMAT计算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62000" y="508000"/>
            <a:ext cx="10668000" cy="5842000"/>
            <a:chOff x="1200" y="800"/>
            <a:chExt cx="16800" cy="9200"/>
          </a:xfrm>
        </p:grpSpPr>
        <p:sp>
          <p:nvSpPr>
            <p:cNvPr id="2" name="AutoShape 2"/>
            <p:cNvSpPr/>
            <p:nvPr/>
          </p:nvSpPr>
          <p:spPr>
            <a:xfrm>
              <a:off x="1200" y="80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sp>
          <p:nvSpPr>
            <p:cNvPr id="3" name="AutoShape 3"/>
            <p:cNvSpPr/>
            <p:nvPr/>
          </p:nvSpPr>
          <p:spPr>
            <a:xfrm>
              <a:off x="1200" y="2000"/>
              <a:ext cx="16800" cy="17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0" y="2000"/>
              <a:ext cx="120" cy="17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1600" y="2160"/>
              <a:ext cx="16000" cy="1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已知条件：L1 Cache访问时间1ns，命中率90%；L2 Cache访问时间10ns，命中率95%；主存访问时间100ns。请计算该多级缓存系统的平均存储访问时间（AMAT），以及1秒内发生2×10⁹次访问时，需要访问主存的总次数。</a:t>
              </a:r>
              <a:endPara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17000"/>
                </a:lnSpc>
                <a:defRPr/>
              </a:pPr>
              <a:r>
                <a:rPr lang="zh-CN" alt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补充：至少给出两种优化方式, 并分析其对平均访问时间和命中率的影响</a:t>
              </a:r>
              <a:endPara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17000"/>
                </a:lnSpc>
                <a:defRPr/>
              </a:pPr>
              <a:r>
                <a:rPr lang="zh-CN" alt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写策略优化（写回 </a:t>
              </a:r>
              <a:r>
                <a:rPr lang="en-US" altLang="zh-CN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vs </a:t>
              </a:r>
              <a:r>
                <a:rPr lang="zh-CN" alt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写直达）</a:t>
              </a:r>
              <a:r>
                <a:rPr lang="en-US" altLang="zh-CN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   </a:t>
              </a:r>
              <a:r>
                <a:rPr lang="zh-CN" alt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增大 </a:t>
              </a:r>
              <a:r>
                <a:rPr lang="en-US" altLang="zh-CN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Cache </a:t>
              </a:r>
              <a:r>
                <a:rPr lang="zh-CN" altLang="en-US" sz="14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容量</a:t>
              </a:r>
              <a:endPara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7" name="AutoShape 6"/>
            <p:cNvSpPr/>
            <p:nvPr/>
          </p:nvSpPr>
          <p:spPr>
            <a:xfrm>
              <a:off x="1200" y="4400"/>
              <a:ext cx="8200" cy="506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9" name="AutoShape 7"/>
            <p:cNvSpPr/>
            <p:nvPr/>
          </p:nvSpPr>
          <p:spPr>
            <a:xfrm>
              <a:off x="1200" y="4400"/>
              <a:ext cx="120" cy="5069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0" name="AutoShape 8"/>
            <p:cNvSpPr/>
            <p:nvPr/>
          </p:nvSpPr>
          <p:spPr>
            <a:xfrm>
              <a:off x="1600" y="4800"/>
              <a:ext cx="7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01. 平均存储访问时间 (AMAT) 计算</a:t>
              </a:r>
              <a:endParaRPr lang="en-US" sz="1100"/>
            </a:p>
          </p:txBody>
        </p:sp>
        <p:cxnSp>
          <p:nvCxnSpPr>
            <p:cNvPr id="11" name="Connector 9"/>
            <p:cNvCxnSpPr/>
            <p:nvPr/>
          </p:nvCxnSpPr>
          <p:spPr>
            <a:xfrm rot="-9291">
              <a:off x="1600" y="5990"/>
              <a:ext cx="7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2" name="AutoShape 10"/>
            <p:cNvSpPr/>
            <p:nvPr/>
          </p:nvSpPr>
          <p:spPr>
            <a:xfrm>
              <a:off x="1600" y="6400"/>
              <a:ext cx="7400" cy="3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33000"/>
                </a:lnSpc>
                <a:defRPr/>
              </a:pPr>
              <a:r>
                <a:rPr lang="en-US" sz="16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公式：AMAT = T_L1 + (1-H₁)×T_L2 + (1-H₁)(1-H₂)×T_MEM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6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计算：1 + 0.1×10 + 0.1×0.05×100 = 1 + 1 + 0.5 =</a:t>
              </a:r>
              <a:r>
                <a:rPr lang="en-US" sz="2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2.5 ns</a:t>
              </a:r>
              <a:endParaRPr lang="en-US" sz="1100"/>
            </a:p>
          </p:txBody>
        </p:sp>
        <p:sp>
          <p:nvSpPr>
            <p:cNvPr id="13" name="AutoShape 11"/>
            <p:cNvSpPr/>
            <p:nvPr/>
          </p:nvSpPr>
          <p:spPr>
            <a:xfrm>
              <a:off x="9800" y="4400"/>
              <a:ext cx="8200" cy="506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4" name="AutoShape 12"/>
            <p:cNvSpPr/>
            <p:nvPr/>
          </p:nvSpPr>
          <p:spPr>
            <a:xfrm>
              <a:off x="9800" y="4400"/>
              <a:ext cx="120" cy="5069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5" name="AutoShape 13"/>
            <p:cNvSpPr/>
            <p:nvPr/>
          </p:nvSpPr>
          <p:spPr>
            <a:xfrm>
              <a:off x="10200" y="4800"/>
              <a:ext cx="7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02. 主存访问次数计算</a:t>
              </a:r>
              <a:endParaRPr lang="en-US" sz="1100"/>
            </a:p>
          </p:txBody>
        </p:sp>
        <p:cxnSp>
          <p:nvCxnSpPr>
            <p:cNvPr id="17" name="Connector 14"/>
            <p:cNvCxnSpPr/>
            <p:nvPr/>
          </p:nvCxnSpPr>
          <p:spPr>
            <a:xfrm rot="-9291">
              <a:off x="10200" y="5990"/>
              <a:ext cx="74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8" name="AutoShape 15"/>
            <p:cNvSpPr/>
            <p:nvPr/>
          </p:nvSpPr>
          <p:spPr>
            <a:xfrm>
              <a:off x="10200" y="6400"/>
              <a:ext cx="7400" cy="3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33000"/>
                </a:lnSpc>
                <a:defRPr/>
              </a:pPr>
              <a:r>
                <a:rPr lang="en-US" sz="16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主存访问率 = (1-H₁) × (1-H₂) = 0.1 × 0.05 = 0.005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</a:br>
              <a:r>
                <a:rPr lang="en-US" sz="16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总次数 = 2×10⁹ × 0.005 =</a:t>
              </a:r>
              <a:r>
                <a:rPr lang="en-US" sz="2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1×10⁷ 次</a:t>
              </a:r>
              <a:endParaRPr lang="en-US" sz="1100"/>
            </a:p>
          </p:txBody>
        </p:sp>
      </p:grpSp>
      <p:sp>
        <p:nvSpPr>
          <p:cNvPr id="19" name="AutoShape 3"/>
          <p:cNvSpPr/>
          <p:nvPr/>
        </p:nvSpPr>
        <p:spPr>
          <a:xfrm>
            <a:off x="762000" y="6135370"/>
            <a:ext cx="10668000" cy="64706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4"/>
          <p:cNvSpPr/>
          <p:nvPr/>
        </p:nvSpPr>
        <p:spPr>
          <a:xfrm>
            <a:off x="762000" y="6135370"/>
            <a:ext cx="76200" cy="6477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5"/>
          <p:cNvSpPr/>
          <p:nvPr/>
        </p:nvSpPr>
        <p:spPr>
          <a:xfrm>
            <a:off x="1016000" y="602107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补充：至少给出两种优化方式, 并分析其对平均访问时间和命中率的影响</a:t>
            </a:r>
            <a:endParaRPr lang="zh-CN" alt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写策略优化（写回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写直达）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增大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Cache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</a:t>
            </a:r>
            <a:endParaRPr lang="zh-CN" alt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第5题 - 流水线冒险与nop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79475" y="86360"/>
            <a:ext cx="10668000" cy="6530340"/>
            <a:chOff x="1200" y="579"/>
            <a:chExt cx="16800" cy="10284"/>
          </a:xfrm>
        </p:grpSpPr>
        <p:grpSp>
          <p:nvGrpSpPr>
            <p:cNvPr id="23" name="组合 22"/>
            <p:cNvGrpSpPr/>
            <p:nvPr>
              <p:custDataLst>
                <p:tags r:id="rId2"/>
              </p:custDataLst>
            </p:nvPr>
          </p:nvGrpSpPr>
          <p:grpSpPr>
            <a:xfrm>
              <a:off x="1200" y="7207"/>
              <a:ext cx="16800" cy="3657"/>
              <a:chOff x="1200" y="5200"/>
              <a:chExt cx="16800" cy="3657"/>
            </a:xfrm>
          </p:grpSpPr>
          <p:sp>
            <p:nvSpPr>
              <p:cNvPr id="24" name="AutoShape 6"/>
              <p:cNvSpPr/>
              <p:nvPr>
                <p:custDataLst>
                  <p:tags r:id="rId3"/>
                </p:custDataLst>
              </p:nvPr>
            </p:nvSpPr>
            <p:spPr>
              <a:xfrm>
                <a:off x="1200" y="5200"/>
                <a:ext cx="8000" cy="318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E5E7EB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algn="ctr">
                  <a:defRPr/>
                </a:pPr>
              </a:p>
            </p:txBody>
          </p:sp>
          <p:pic>
            <p:nvPicPr>
              <p:cNvPr id="25" name="Picture 7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500" y="5500"/>
                <a:ext cx="480" cy="480"/>
              </a:xfrm>
              <a:prstGeom prst="rect">
                <a:avLst/>
              </a:prstGeom>
            </p:spPr>
          </p:pic>
          <p:sp>
            <p:nvSpPr>
              <p:cNvPr id="26" name="AutoShape 8"/>
              <p:cNvSpPr/>
              <p:nvPr>
                <p:custDataLst>
                  <p:tags r:id="rId7"/>
                </p:custDataLst>
              </p:nvPr>
            </p:nvSpPr>
            <p:spPr>
              <a:xfrm>
                <a:off x="2200" y="5460"/>
                <a:ext cx="6500" cy="56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无旁路：需插2个NOP</a:t>
                </a:r>
                <a:endParaRPr lang="en-US" sz="1100"/>
              </a:p>
            </p:txBody>
          </p:sp>
          <p:cxnSp>
            <p:nvCxnSpPr>
              <p:cNvPr id="27" name="Connector 9"/>
              <p:cNvCxnSpPr/>
              <p:nvPr>
                <p:custDataLst>
                  <p:tags r:id="rId8"/>
                </p:custDataLst>
              </p:nvPr>
            </p:nvCxnSpPr>
            <p:spPr>
              <a:xfrm rot="-9291">
                <a:off x="1500" y="6290"/>
                <a:ext cx="7400" cy="2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F3F4F6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" name="AutoShape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500" y="5857"/>
                <a:ext cx="7400" cy="3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lw指令需在WB阶段才能将数据写入寄存器。无旁路时，后续指令必须等待数据就绪，需插入2个nop以避免流水线阻塞。</a:t>
                </a:r>
                <a:endParaRPr lang="en-US" sz="1100"/>
              </a:p>
              <a:p>
                <a:pPr marL="0" indent="0"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lw $t0... ｜ nop ｜ nop ｜ add...</a:t>
                </a:r>
                <a:endParaRPr lang="en-US" sz="1200" b="0" i="0" u="none" strike="noStrike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  <p:sp>
            <p:nvSpPr>
              <p:cNvPr id="29" name="AutoShape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000" y="5200"/>
                <a:ext cx="8000" cy="3181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E5E7EB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algn="ctr">
                  <a:defRPr/>
                </a:pPr>
              </a:p>
            </p:txBody>
          </p:sp>
          <p:pic>
            <p:nvPicPr>
              <p:cNvPr id="30" name="Picture 12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300" y="5500"/>
                <a:ext cx="480" cy="480"/>
              </a:xfrm>
              <a:prstGeom prst="rect">
                <a:avLst/>
              </a:prstGeom>
            </p:spPr>
          </p:pic>
          <p:sp>
            <p:nvSpPr>
              <p:cNvPr id="31" name="AutoShape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11000" y="5460"/>
                <a:ext cx="6500" cy="56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有旁路：仅插1个NOP</a:t>
                </a:r>
                <a:endParaRPr lang="en-US" sz="1100"/>
              </a:p>
            </p:txBody>
          </p:sp>
          <p:cxnSp>
            <p:nvCxnSpPr>
              <p:cNvPr id="32" name="Connector 14"/>
              <p:cNvCxnSpPr/>
              <p:nvPr>
                <p:custDataLst>
                  <p:tags r:id="rId15"/>
                </p:custDataLst>
              </p:nvPr>
            </p:nvCxnSpPr>
            <p:spPr>
              <a:xfrm rot="-9291">
                <a:off x="10300" y="6290"/>
                <a:ext cx="7400" cy="2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F3F4F6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" name="AutoShape 15"/>
              <p:cNvSpPr/>
              <p:nvPr>
                <p:custDataLst>
                  <p:tags r:id="rId16"/>
                </p:custDataLst>
              </p:nvPr>
            </p:nvSpPr>
            <p:spPr>
              <a:xfrm>
                <a:off x="10300" y="5857"/>
                <a:ext cx="7400" cy="3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Load-use冒险是特殊场景，即便有旁路技术，lw指令的加载结果也无法即时转发，仍需插入1个nop来对齐流水线节拍。</a:t>
                </a:r>
                <a:endParaRPr lang="en-US" sz="1100"/>
              </a:p>
              <a:p>
                <a:pPr marL="0" indent="0" algn="l">
                  <a:lnSpc>
                    <a:spcPct val="117000"/>
                  </a:lnSpc>
                </a:pPr>
                <a:r>
                  <a:rPr lang="en-US" sz="1200" b="0" i="0" u="none" strike="noStrike">
                    <a:solidFill>
                      <a:srgbClr val="6B7280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lw $t0... ｜ nop ｜ add... ｜ sw...</a:t>
                </a:r>
                <a:endParaRPr lang="en-US" sz="1200" b="0" i="0" u="none" strike="noStrike">
                  <a:solidFill>
                    <a:srgbClr val="6B7280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200" y="579"/>
              <a:ext cx="16800" cy="6450"/>
              <a:chOff x="1200" y="579"/>
              <a:chExt cx="16800" cy="6450"/>
            </a:xfrm>
          </p:grpSpPr>
          <p:sp>
            <p:nvSpPr>
              <p:cNvPr id="35" name="AutoShape 2"/>
              <p:cNvSpPr/>
              <p:nvPr/>
            </p:nvSpPr>
            <p:spPr>
              <a:xfrm>
                <a:off x="1200" y="800"/>
                <a:ext cx="16800" cy="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endParaRPr lang="en-US" sz="1100"/>
              </a:p>
            </p:txBody>
          </p:sp>
          <p:sp>
            <p:nvSpPr>
              <p:cNvPr id="36" name="AutoShape 3"/>
              <p:cNvSpPr/>
              <p:nvPr/>
            </p:nvSpPr>
            <p:spPr>
              <a:xfrm>
                <a:off x="1200" y="2400"/>
                <a:ext cx="8000" cy="4264"/>
              </a:xfrm>
              <a:prstGeom prst="roundRect">
                <a:avLst>
                  <a:gd name="adj" fmla="val 0"/>
                </a:avLst>
              </a:prstGeom>
              <a:solidFill>
                <a:srgbClr val="10B981">
                  <a:alpha val="10000"/>
                </a:srgbClr>
              </a:solidFill>
              <a:ln cap="flat" cmpd="sng">
                <a:solidFill>
                  <a:srgbClr val="00A06B">
                    <a:alpha val="10000"/>
                  </a:srgbClr>
                </a:solidFill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algn="ctr">
                  <a:defRPr/>
                </a:pPr>
              </a:p>
            </p:txBody>
          </p:sp>
          <p:sp>
            <p:nvSpPr>
              <p:cNvPr id="37" name="AutoShape 4"/>
              <p:cNvSpPr/>
              <p:nvPr/>
            </p:nvSpPr>
            <p:spPr>
              <a:xfrm>
                <a:off x="1200" y="2400"/>
                <a:ext cx="120" cy="4264"/>
              </a:xfrm>
              <a:prstGeom prst="roundRect">
                <a:avLst>
                  <a:gd name="adj" fmla="val 0"/>
                </a:avLst>
              </a:prstGeom>
              <a:solidFill>
                <a:srgbClr val="10B981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38" name="AutoShape 5"/>
              <p:cNvSpPr/>
              <p:nvPr/>
            </p:nvSpPr>
            <p:spPr>
              <a:xfrm>
                <a:off x="1531" y="3611"/>
                <a:ext cx="5743" cy="18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zh-CN" altLang="en-US" sz="120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分析以下指令序列中的数据冒险，并分别说明在有无旁路（</a:t>
                </a:r>
                <a:r>
                  <a:rPr lang="en-US" altLang="zh-CN" sz="120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Forwarding）</a:t>
                </a:r>
                <a:r>
                  <a:rPr lang="zh-CN" altLang="en-US" sz="120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技术的情况下，需要插入多少个</a:t>
                </a:r>
                <a:r>
                  <a:rPr lang="en-US" altLang="zh-CN" sz="120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nop</a:t>
                </a:r>
                <a:r>
                  <a:rPr lang="zh-CN" altLang="en-US" sz="1200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来消除冒险。</a:t>
                </a:r>
                <a:endParaRPr lang="en-US" sz="1200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600" b="1" i="0" u="none" strike="noStrike">
                    <a:solidFill>
                      <a:srgbClr val="1F2937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关键指令序列与数据依赖：</a:t>
                </a:r>
                <a:endParaRPr lang="en-US" sz="1100"/>
              </a:p>
              <a:p>
                <a:pPr marL="0" indent="0" algn="l">
                  <a:lnSpc>
                    <a:spcPct val="108000"/>
                  </a:lnSpc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1: lw $t0, 0($s1) </a:t>
                </a:r>
                <a:endParaRPr lang="en-US" sz="1300" b="0" i="0" u="none" strike="noStrike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indent="0" algn="l">
                  <a:lnSpc>
                    <a:spcPct val="108000"/>
                  </a:lnSpc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2: add $t1, $t0, $t2 </a:t>
                </a:r>
                <a:endParaRPr lang="en-US" sz="1300" b="0" i="0" u="none" strike="noStrike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indent="0" algn="l">
                  <a:lnSpc>
                    <a:spcPct val="108000"/>
                  </a:lnSpc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3: sw $t0, 4($s1) </a:t>
                </a:r>
                <a:endParaRPr lang="en-US" sz="1300" b="0" i="0" u="none" strike="noStrike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indent="0" algn="l">
                  <a:lnSpc>
                    <a:spcPct val="108000"/>
                  </a:lnSpc>
                </a:pPr>
                <a:r>
                  <a:rPr lang="en-US" sz="1300" b="0" i="0" u="none" strike="noStrike">
                    <a:solidFill>
                      <a:srgbClr val="374151"/>
                    </a:solidFill>
                    <a:latin typeface="Roboto Mono"/>
                    <a:ea typeface="Roboto Mono"/>
                    <a:cs typeface="Roboto Mono"/>
                    <a:sym typeface="Roboto Mono"/>
                  </a:rPr>
                  <a:t>4: sub $t2, $t2, $t0</a:t>
                </a:r>
                <a:endParaRPr lang="en-US" sz="1300" b="0" i="0" u="none" strike="noStrike">
                  <a:solidFill>
                    <a:srgbClr val="374151"/>
                  </a:solidFill>
                  <a:latin typeface="Roboto Mono"/>
                  <a:ea typeface="Roboto Mono"/>
                  <a:cs typeface="Roboto Mono"/>
                  <a:sym typeface="Roboto Mono"/>
                </a:endParaRPr>
              </a:p>
              <a:p>
                <a:pPr marL="0" indent="0" algn="l">
                  <a:lnSpc>
                    <a:spcPct val="108000"/>
                  </a:lnSpc>
                </a:pPr>
                <a:r>
                  <a:rPr lang="en-US" sz="1300" b="0" i="0" u="none" strike="noStrike">
                    <a:solidFill>
                      <a:srgbClr val="4B5563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指令1写寄存器$t0，指令2、3、4均读取$t0，形成典型的写后读（RAW）数据冒险链。</a:t>
                </a:r>
                <a:endPara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  <p:pic>
            <p:nvPicPr>
              <p:cNvPr id="39" name="图片 38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55" y="579"/>
                <a:ext cx="8245" cy="645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第6题 - 分支预测与CPI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541020" y="508000"/>
            <a:ext cx="10888980" cy="5969635"/>
            <a:chOff x="852" y="800"/>
            <a:chExt cx="17148" cy="9401"/>
          </a:xfrm>
        </p:grpSpPr>
        <p:sp>
          <p:nvSpPr>
            <p:cNvPr id="2" name="AutoShape 2"/>
            <p:cNvSpPr/>
            <p:nvPr/>
          </p:nvSpPr>
          <p:spPr>
            <a:xfrm>
              <a:off x="1200" y="800"/>
              <a:ext cx="168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cxnSp>
          <p:nvCxnSpPr>
            <p:cNvPr id="3" name="Connector 3"/>
            <p:cNvCxnSpPr/>
            <p:nvPr/>
          </p:nvCxnSpPr>
          <p:spPr>
            <a:xfrm rot="-4092">
              <a:off x="1200" y="1990"/>
              <a:ext cx="16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0B981">
                  <a:alpha val="3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sp>
          <p:nvSpPr>
            <p:cNvPr id="4" name="AutoShape 4"/>
            <p:cNvSpPr/>
            <p:nvPr/>
          </p:nvSpPr>
          <p:spPr>
            <a:xfrm>
              <a:off x="9867" y="2681"/>
              <a:ext cx="8000" cy="34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9867" y="2681"/>
              <a:ext cx="120" cy="34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7" name="AutoShape 6"/>
            <p:cNvSpPr/>
            <p:nvPr/>
          </p:nvSpPr>
          <p:spPr>
            <a:xfrm>
              <a:off x="10267" y="2881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01. 分支预测过程与正确率统计</a:t>
              </a:r>
              <a:endParaRPr lang="en-US" sz="1100"/>
            </a:p>
          </p:txBody>
        </p:sp>
        <p:cxnSp>
          <p:nvCxnSpPr>
            <p:cNvPr id="9" name="Connector 7"/>
            <p:cNvCxnSpPr/>
            <p:nvPr/>
          </p:nvCxnSpPr>
          <p:spPr>
            <a:xfrm rot="-9549">
              <a:off x="10267" y="3571"/>
              <a:ext cx="72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0" name="AutoShape 8"/>
            <p:cNvSpPr/>
            <p:nvPr/>
          </p:nvSpPr>
          <p:spPr>
            <a:xfrm>
              <a:off x="10267" y="3781"/>
              <a:ext cx="7200" cy="2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初始状态弱不转移(01)，对序列 [T,T,N,T,T,N,T,T,T,N] 逐次追踪：</a:t>
              </a:r>
              <a:endParaRPr lang="en-US" sz="1100"/>
            </a:p>
            <a:p>
              <a:pPr marL="0"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1.T(N→11)     </a:t>
              </a:r>
              <a:r>
                <a:rPr lang="en-US" sz="10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6.N(T→10) 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2.T(T→11)    </a:t>
              </a:r>
              <a:r>
                <a:rPr lang="en-US" sz="10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7.T(T→11)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3.N(T→10)     </a:t>
              </a:r>
              <a:r>
                <a:rPr lang="en-US" sz="10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8.T(T→11)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4.T(T→11) </a:t>
              </a:r>
              <a:r>
                <a:rPr lang="en-US" sz="1000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   9.T(T→11) 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5.T(T→11)     10.N(T→10)。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0000"/>
                </a:lnSpc>
              </a:pPr>
              <a:r>
                <a:rPr lang="en-US" sz="1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正确预测：</a:t>
              </a:r>
              <a:r>
                <a:rPr lang="en-US" sz="10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第2、4、5、7、8、9次，共6次。正确率 = 6/10 = 60%。</a:t>
              </a:r>
              <a:endPara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1" name="AutoShape 9"/>
            <p:cNvSpPr/>
            <p:nvPr/>
          </p:nvSpPr>
          <p:spPr>
            <a:xfrm>
              <a:off x="9867" y="6401"/>
              <a:ext cx="8000" cy="38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2" name="AutoShape 10"/>
            <p:cNvSpPr/>
            <p:nvPr/>
          </p:nvSpPr>
          <p:spPr>
            <a:xfrm>
              <a:off x="9867" y="6401"/>
              <a:ext cx="120" cy="38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3" name="AutoShape 11"/>
            <p:cNvSpPr/>
            <p:nvPr/>
          </p:nvSpPr>
          <p:spPr>
            <a:xfrm>
              <a:off x="10267" y="6601"/>
              <a:ext cx="7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02. CPI 性能量化计算</a:t>
              </a:r>
              <a:endParaRPr lang="en-US" sz="1100"/>
            </a:p>
          </p:txBody>
        </p:sp>
        <p:cxnSp>
          <p:nvCxnSpPr>
            <p:cNvPr id="14" name="Connector 12"/>
            <p:cNvCxnSpPr/>
            <p:nvPr/>
          </p:nvCxnSpPr>
          <p:spPr>
            <a:xfrm rot="-9549">
              <a:off x="10267" y="7291"/>
              <a:ext cx="72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5" name="AutoShape 13"/>
            <p:cNvSpPr/>
            <p:nvPr/>
          </p:nvSpPr>
          <p:spPr>
            <a:xfrm>
              <a:off x="10267" y="7501"/>
              <a:ext cx="4800" cy="24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已知：进行预测需要阻塞两个周期, 有20%的指令为分支指令, 但是预测错误的惩罚有5个周期的惩罚, 预测正确率为80%, 请计算其对CPI的影响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公式：CPI = 1 + 分支占比 × (阻塞周期 + 错误率×惩罚周期)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marL="0" indent="0" algn="l">
                <a:lnSpc>
                  <a:spcPct val="108000"/>
                </a:lnSpc>
              </a:pPr>
              <a:r>
                <a:rPr lang="en-US" sz="10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计算：1 + 20% × (2 + 20% × 5) = 1 + 0.2 × 3 = 1.6。</a:t>
              </a:r>
              <a:endPara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6" name="AutoShape 14"/>
            <p:cNvSpPr/>
            <p:nvPr/>
          </p:nvSpPr>
          <p:spPr>
            <a:xfrm>
              <a:off x="15267" y="7701"/>
              <a:ext cx="2200" cy="20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defRPr/>
              </a:pPr>
            </a:p>
          </p:txBody>
        </p:sp>
        <p:sp>
          <p:nvSpPr>
            <p:cNvPr id="18" name="AutoShape 15"/>
            <p:cNvSpPr/>
            <p:nvPr/>
          </p:nvSpPr>
          <p:spPr>
            <a:xfrm>
              <a:off x="15367" y="7801"/>
              <a:ext cx="20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100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最终 CPI 结果</a:t>
              </a:r>
              <a:endParaRPr lang="en-US" sz="1100"/>
            </a:p>
            <a:p>
              <a:pPr marL="0" indent="0" algn="ctr">
                <a:lnSpc>
                  <a:spcPct val="125000"/>
                </a:lnSpc>
              </a:pPr>
              <a:r>
                <a:rPr lang="en-US" sz="2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1.6</a:t>
              </a:r>
              <a:endPara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pic>
          <p:nvPicPr>
            <p:cNvPr id="19" name="Picture 16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852" y="3541"/>
              <a:ext cx="8442" cy="5118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New pictur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424800" y="338400"/>
            <a:ext cx="619200" cy="313200"/>
          </a:xfrm>
          <a:prstGeom prst="rect">
            <a:avLst/>
          </a:prstGeom>
          <a:ln>
            <a:noFill/>
          </a:ln>
        </p:spPr>
      </p:pic>
      <p:sp>
        <p:nvSpPr>
          <p:cNvPr id="8" name="New shape"/>
          <p:cNvSpPr/>
          <p:nvPr/>
        </p:nvSpPr>
        <p:spPr>
          <a:xfrm>
            <a:off x="982800" y="103204"/>
            <a:ext cx="9369360" cy="783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总结与回顾</a:t>
            </a:r>
            <a:endParaRPr sz="3000" b="1" i="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62000" y="508000"/>
            <a:ext cx="10922000" cy="5905500"/>
            <a:chOff x="1200" y="800"/>
            <a:chExt cx="17200" cy="9300"/>
          </a:xfrm>
        </p:grpSpPr>
        <p:sp>
          <p:nvSpPr>
            <p:cNvPr id="2" name="AutoShape 2"/>
            <p:cNvSpPr/>
            <p:nvPr/>
          </p:nvSpPr>
          <p:spPr>
            <a:xfrm>
              <a:off x="1200" y="800"/>
              <a:ext cx="16800" cy="9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endParaRPr lang="en-US" sz="1100"/>
            </a:p>
          </p:txBody>
        </p:sp>
        <p:cxnSp>
          <p:nvCxnSpPr>
            <p:cNvPr id="3" name="Connector 3"/>
            <p:cNvCxnSpPr/>
            <p:nvPr/>
          </p:nvCxnSpPr>
          <p:spPr>
            <a:xfrm rot="-4092">
              <a:off x="1200" y="1990"/>
              <a:ext cx="168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10B981">
                  <a:alpha val="3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" name="AutoShape 4"/>
            <p:cNvSpPr/>
            <p:nvPr/>
          </p:nvSpPr>
          <p:spPr>
            <a:xfrm>
              <a:off x="1200" y="2400"/>
              <a:ext cx="8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必背核心公式</a:t>
              </a:r>
              <a:endParaRPr lang="en-US" sz="110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00" y="3400"/>
              <a:ext cx="8200" cy="19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6"/>
            <p:cNvSpPr/>
            <p:nvPr/>
          </p:nvSpPr>
          <p:spPr>
            <a:xfrm>
              <a:off x="1200" y="3400"/>
              <a:ext cx="120" cy="19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9" name="AutoShape 7"/>
            <p:cNvSpPr/>
            <p:nvPr/>
          </p:nvSpPr>
          <p:spPr>
            <a:xfrm>
              <a:off x="1600" y="3560"/>
              <a:ext cx="7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加速比 (Amdahl定律)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加速比 S = T原 / T新；T新 = T原 × [(1-f) + f/k]。核心在于量化并行计算对系统性能的提升上限，f为可并行比例，k为并行倍数。</a:t>
              </a:r>
              <a:endPara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0" name="AutoShape 8"/>
            <p:cNvSpPr/>
            <p:nvPr/>
          </p:nvSpPr>
          <p:spPr>
            <a:xfrm>
              <a:off x="1200" y="5600"/>
              <a:ext cx="8200" cy="19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1" name="AutoShape 9"/>
            <p:cNvSpPr/>
            <p:nvPr/>
          </p:nvSpPr>
          <p:spPr>
            <a:xfrm>
              <a:off x="1200" y="5600"/>
              <a:ext cx="120" cy="19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2" name="AutoShape 10"/>
            <p:cNvSpPr/>
            <p:nvPr/>
          </p:nvSpPr>
          <p:spPr>
            <a:xfrm>
              <a:off x="1600" y="5760"/>
              <a:ext cx="7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AMAT (平均存储访问时间)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AMAT = T_L1 + (1-H1)×T_L2 + (1-H1)(1-H2)×T_MEM。串联多级缓存的访问时间计算，需逐层考虑缓存未命中率的影响。</a:t>
              </a:r>
              <a:endPara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3" name="AutoShape 11"/>
            <p:cNvSpPr/>
            <p:nvPr/>
          </p:nvSpPr>
          <p:spPr>
            <a:xfrm>
              <a:off x="1200" y="7800"/>
              <a:ext cx="8200" cy="19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4" name="AutoShape 12"/>
            <p:cNvSpPr/>
            <p:nvPr/>
          </p:nvSpPr>
          <p:spPr>
            <a:xfrm>
              <a:off x="1200" y="7800"/>
              <a:ext cx="120" cy="1900"/>
            </a:xfrm>
            <a:prstGeom prst="roundRect">
              <a:avLst>
                <a:gd name="adj" fmla="val 0"/>
              </a:avLst>
            </a:prstGeom>
            <a:solidFill>
              <a:srgbClr val="10B981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5" name="AutoShape 13"/>
            <p:cNvSpPr/>
            <p:nvPr/>
          </p:nvSpPr>
          <p:spPr>
            <a:xfrm>
              <a:off x="1600" y="7960"/>
              <a:ext cx="7400" cy="1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CPI (实际执行周期)</a:t>
              </a:r>
              <a:endParaRPr lang="en-US" sz="1100"/>
            </a:p>
            <a:p>
              <a:pPr marL="0" indent="0" algn="l">
                <a:lnSpc>
                  <a:spcPct val="108000"/>
                </a:lnSpc>
              </a:pPr>
              <a:r>
                <a:rPr lang="en-US" sz="13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CPI实际 = 1 + 分支占比 × 错误率 × 惩罚周期。该公式量化了分支预测错误对流水线性能的实际损耗，是评估处理器效率的关键。</a:t>
              </a:r>
              <a:endPara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cxnSp>
          <p:nvCxnSpPr>
            <p:cNvPr id="16" name="Connector 14"/>
            <p:cNvCxnSpPr/>
            <p:nvPr/>
          </p:nvCxnSpPr>
          <p:spPr>
            <a:xfrm rot="5390177">
              <a:off x="6400" y="6290"/>
              <a:ext cx="700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9CA3AF">
                  <a:alpha val="40000"/>
                </a:srgbClr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7" name="AutoShape 15"/>
            <p:cNvSpPr/>
            <p:nvPr/>
          </p:nvSpPr>
          <p:spPr>
            <a:xfrm>
              <a:off x="10200" y="2400"/>
              <a:ext cx="8200" cy="6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10B98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核心技能掌握</a:t>
              </a:r>
              <a:endParaRPr lang="en-US" sz="1100"/>
            </a:p>
          </p:txBody>
        </p:sp>
        <p:sp>
          <p:nvSpPr>
            <p:cNvPr id="18" name="AutoShape 16"/>
            <p:cNvSpPr/>
            <p:nvPr>
              <p:custDataLst>
                <p:tags r:id="rId2"/>
              </p:custDataLst>
            </p:nvPr>
          </p:nvSpPr>
          <p:spPr>
            <a:xfrm>
              <a:off x="10200" y="3400"/>
              <a:ext cx="3960" cy="31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9" name="Picture 1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40" y="3640"/>
              <a:ext cx="480" cy="480"/>
            </a:xfrm>
            <a:prstGeom prst="rect">
              <a:avLst/>
            </a:prstGeom>
          </p:spPr>
        </p:pic>
        <p:sp>
          <p:nvSpPr>
            <p:cNvPr id="20" name="AutoShape 18"/>
            <p:cNvSpPr/>
            <p:nvPr>
              <p:custDataLst>
                <p:tags r:id="rId6"/>
              </p:custDataLst>
            </p:nvPr>
          </p:nvSpPr>
          <p:spPr>
            <a:xfrm>
              <a:off x="11080" y="3600"/>
              <a:ext cx="288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MIPS汇编编程</a:t>
              </a:r>
              <a:endParaRPr lang="en-US" sz="1100"/>
            </a:p>
          </p:txBody>
        </p:sp>
        <p:cxnSp>
          <p:nvCxnSpPr>
            <p:cNvPr id="21" name="Connector 19"/>
            <p:cNvCxnSpPr/>
            <p:nvPr>
              <p:custDataLst>
                <p:tags r:id="rId7"/>
              </p:custDataLst>
            </p:nvPr>
          </p:nvCxnSpPr>
          <p:spPr>
            <a:xfrm rot="-19532">
              <a:off x="10440" y="4390"/>
              <a:ext cx="35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AutoShape 20"/>
            <p:cNvSpPr/>
            <p:nvPr>
              <p:custDataLst>
                <p:tags r:id="rId8"/>
              </p:custDataLst>
            </p:nvPr>
          </p:nvSpPr>
          <p:spPr>
            <a:xfrm>
              <a:off x="10440" y="4600"/>
              <a:ext cx="348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熟练编写基础的循环结构、分支判断程序，理解寄存器使用规范与指令执行流程，是底层硬件编程的核心基础。</a:t>
              </a:r>
              <a:endParaRPr lang="en-US" sz="1100"/>
            </a:p>
          </p:txBody>
        </p:sp>
        <p:sp>
          <p:nvSpPr>
            <p:cNvPr id="23" name="AutoShape 21"/>
            <p:cNvSpPr/>
            <p:nvPr>
              <p:custDataLst>
                <p:tags r:id="rId9"/>
              </p:custDataLst>
            </p:nvPr>
          </p:nvSpPr>
          <p:spPr>
            <a:xfrm>
              <a:off x="14440" y="3400"/>
              <a:ext cx="3960" cy="31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4" name="Picture 2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680" y="3640"/>
              <a:ext cx="480" cy="480"/>
            </a:xfrm>
            <a:prstGeom prst="rect">
              <a:avLst/>
            </a:prstGeom>
          </p:spPr>
        </p:pic>
        <p:sp>
          <p:nvSpPr>
            <p:cNvPr id="25" name="AutoShape 23"/>
            <p:cNvSpPr/>
            <p:nvPr>
              <p:custDataLst>
                <p:tags r:id="rId13"/>
              </p:custDataLst>
            </p:nvPr>
          </p:nvSpPr>
          <p:spPr>
            <a:xfrm>
              <a:off x="15320" y="3600"/>
              <a:ext cx="288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IEEE 754转换</a:t>
              </a:r>
              <a:endParaRPr lang="en-US" sz="1100"/>
            </a:p>
          </p:txBody>
        </p:sp>
        <p:cxnSp>
          <p:nvCxnSpPr>
            <p:cNvPr id="26" name="Connector 24"/>
            <p:cNvCxnSpPr/>
            <p:nvPr>
              <p:custDataLst>
                <p:tags r:id="rId14"/>
              </p:custDataLst>
            </p:nvPr>
          </p:nvCxnSpPr>
          <p:spPr>
            <a:xfrm rot="-19532">
              <a:off x="14680" y="4390"/>
              <a:ext cx="35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AutoShape 25"/>
            <p:cNvSpPr/>
            <p:nvPr>
              <p:custDataLst>
                <p:tags r:id="rId15"/>
              </p:custDataLst>
            </p:nvPr>
          </p:nvSpPr>
          <p:spPr>
            <a:xfrm>
              <a:off x="14680" y="4600"/>
              <a:ext cx="348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精准进行十进制数与32位单精度浮点数的相互转换，掌握符号位、指数位与尾数位的编码规则和偏移量计算。</a:t>
              </a:r>
              <a:endParaRPr lang="en-US" sz="1100"/>
            </a:p>
          </p:txBody>
        </p:sp>
        <p:sp>
          <p:nvSpPr>
            <p:cNvPr id="28" name="AutoShape 26"/>
            <p:cNvSpPr/>
            <p:nvPr>
              <p:custDataLst>
                <p:tags r:id="rId16"/>
              </p:custDataLst>
            </p:nvPr>
          </p:nvSpPr>
          <p:spPr>
            <a:xfrm>
              <a:off x="10200" y="7000"/>
              <a:ext cx="3960" cy="31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29" name="Picture 2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0440" y="7240"/>
              <a:ext cx="480" cy="480"/>
            </a:xfrm>
            <a:prstGeom prst="rect">
              <a:avLst/>
            </a:prstGeom>
          </p:spPr>
        </p:pic>
        <p:sp>
          <p:nvSpPr>
            <p:cNvPr id="30" name="AutoShape 28"/>
            <p:cNvSpPr/>
            <p:nvPr>
              <p:custDataLst>
                <p:tags r:id="rId20"/>
              </p:custDataLst>
            </p:nvPr>
          </p:nvSpPr>
          <p:spPr>
            <a:xfrm>
              <a:off x="11080" y="7200"/>
              <a:ext cx="288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流水线冒险分析</a:t>
              </a:r>
              <a:endParaRPr lang="en-US" sz="1100"/>
            </a:p>
          </p:txBody>
        </p:sp>
        <p:cxnSp>
          <p:nvCxnSpPr>
            <p:cNvPr id="31" name="Connector 29"/>
            <p:cNvCxnSpPr/>
            <p:nvPr>
              <p:custDataLst>
                <p:tags r:id="rId21"/>
              </p:custDataLst>
            </p:nvPr>
          </p:nvCxnSpPr>
          <p:spPr>
            <a:xfrm rot="-19532">
              <a:off x="10440" y="7990"/>
              <a:ext cx="35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AutoShape 30"/>
            <p:cNvSpPr/>
            <p:nvPr>
              <p:custDataLst>
                <p:tags r:id="rId22"/>
              </p:custDataLst>
            </p:nvPr>
          </p:nvSpPr>
          <p:spPr>
            <a:xfrm>
              <a:off x="10440" y="8200"/>
              <a:ext cx="348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快速识别RAW、WAR、WAW三类数据冒险，能够通过插入NOP指令或数据前推技术，消除流水线中的停顿与冲突。</a:t>
              </a:r>
              <a:endParaRPr lang="en-US" sz="1100"/>
            </a:p>
          </p:txBody>
        </p:sp>
        <p:sp>
          <p:nvSpPr>
            <p:cNvPr id="33" name="AutoShape 31"/>
            <p:cNvSpPr/>
            <p:nvPr>
              <p:custDataLst>
                <p:tags r:id="rId23"/>
              </p:custDataLst>
            </p:nvPr>
          </p:nvSpPr>
          <p:spPr>
            <a:xfrm>
              <a:off x="14440" y="7000"/>
              <a:ext cx="3960" cy="31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34" name="Picture 3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680" y="7240"/>
              <a:ext cx="480" cy="480"/>
            </a:xfrm>
            <a:prstGeom prst="rect">
              <a:avLst/>
            </a:prstGeom>
          </p:spPr>
        </p:pic>
        <p:sp>
          <p:nvSpPr>
            <p:cNvPr id="35" name="AutoShape 33"/>
            <p:cNvSpPr/>
            <p:nvPr>
              <p:custDataLst>
                <p:tags r:id="rId27"/>
              </p:custDataLst>
            </p:nvPr>
          </p:nvSpPr>
          <p:spPr>
            <a:xfrm>
              <a:off x="15320" y="7200"/>
              <a:ext cx="2880" cy="56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分支预测机制</a:t>
              </a:r>
              <a:endParaRPr lang="en-US" sz="1100"/>
            </a:p>
          </p:txBody>
        </p:sp>
        <p:cxnSp>
          <p:nvCxnSpPr>
            <p:cNvPr id="36" name="Connector 34"/>
            <p:cNvCxnSpPr/>
            <p:nvPr>
              <p:custDataLst>
                <p:tags r:id="rId28"/>
              </p:custDataLst>
            </p:nvPr>
          </p:nvCxnSpPr>
          <p:spPr>
            <a:xfrm rot="-19532">
              <a:off x="14680" y="7990"/>
              <a:ext cx="3520" cy="2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AutoShape 35"/>
            <p:cNvSpPr/>
            <p:nvPr>
              <p:custDataLst>
                <p:tags r:id="rId29"/>
              </p:custDataLst>
            </p:nvPr>
          </p:nvSpPr>
          <p:spPr>
            <a:xfrm>
              <a:off x="14680" y="8200"/>
              <a:ext cx="3480" cy="17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17000"/>
                </a:lnSpc>
                <a:defRPr/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深入理解两位饱和预测器的状态转移过程，掌握预测成功与失败时的状态更新逻辑，提升流水线执行效率。</a:t>
              </a:r>
              <a:endParaRPr lang="en-US" sz="1100"/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2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3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4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5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6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7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8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9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10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11.xml><?xml version="1.0" encoding="utf-8"?>
<p:tagLst xmlns:p="http://schemas.openxmlformats.org/presentationml/2006/main">
  <p:tag name="KSO_WM_DIAGRAM_VIRTUALLY_FRAME" val="{&quot;height&quot;:283.2,&quot;left&quot;:60,&quot;top&quot;:260,&quot;width&quot;:840}"/>
</p:tagLst>
</file>

<file path=ppt/tags/tag12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3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4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5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6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7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8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19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0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1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2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3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4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5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6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7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8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29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30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31.xml><?xml version="1.0" encoding="utf-8"?>
<p:tagLst xmlns:p="http://schemas.openxmlformats.org/presentationml/2006/main">
  <p:tag name="KSO_WM_DIAGRAM_VIRTUALLY_FRAME" val="{&quot;height&quot;:335,&quot;left&quot;:510,&quot;top&quot;:170,&quot;width&quot;:410}"/>
</p:tagLst>
</file>

<file path=ppt/tags/tag32.xml><?xml version="1.0" encoding="utf-8"?>
<p:tagLst xmlns:p="http://schemas.openxmlformats.org/presentationml/2006/main">
  <p:tag name="AS_NET" val="Unix 5.4 unknown"/>
  <p:tag name="AS_OS" val="Unix 5.4 unknown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3054</Words>
  <Application>WPS 演示</Application>
  <PresentationFormat>宽屏</PresentationFormat>
  <Paragraphs>162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Noto Sans SC</vt:lpstr>
      <vt:lpstr>Roboto Mono</vt:lpstr>
      <vt:lpstr>Segoe Print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方信源</cp:lastModifiedBy>
  <cp:revision>25</cp:revision>
  <dcterms:created xsi:type="dcterms:W3CDTF">2024-05-12T02:38:00Z</dcterms:created>
  <dcterms:modified xsi:type="dcterms:W3CDTF">2026-06-11T11:01:18Z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D9BF743387484C0A85154654E394D55A_12</vt:lpwstr>
  </property>
  <property fmtid="{D5CDD505-2E9C-101B-9397-08002B2CF9AE}" pid="3" name="KSOProductBuildVer">
    <vt:lpwstr>2052-12.1.0.26895</vt:lpwstr>
  </property>
</Properties>
</file>